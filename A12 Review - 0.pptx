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14"/>
  </p:notesMasterIdLst>
  <p:sldIdLst>
    <p:sldId id="256" r:id="rId2"/>
    <p:sldId id="258" r:id="rId3"/>
    <p:sldId id="257" r:id="rId4"/>
    <p:sldId id="259" r:id="rId5"/>
    <p:sldId id="267" r:id="rId6"/>
    <p:sldId id="260" r:id="rId7"/>
    <p:sldId id="261" r:id="rId8"/>
    <p:sldId id="266" r:id="rId9"/>
    <p:sldId id="262" r:id="rId10"/>
    <p:sldId id="263" r:id="rId11"/>
    <p:sldId id="264" r:id="rId12"/>
    <p:sldId id="265" r:id="rId13"/>
  </p:sldIdLst>
  <p:sldSz cx="12192000" cy="6858000"/>
  <p:notesSz cx="12192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6C65F8-C0BF-4FCC-803B-7EA1B5098099}">
  <a:tblStyle styleId="{F26C65F8-C0BF-4FCC-803B-7EA1B5098099}"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19"/>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5283200" cy="344488"/>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 name="Google Shape;4;n"/>
          <p:cNvSpPr txBox="1">
            <a:spLocks noGrp="1"/>
          </p:cNvSpPr>
          <p:nvPr>
            <p:ph type="dt" idx="10"/>
          </p:nvPr>
        </p:nvSpPr>
        <p:spPr>
          <a:xfrm>
            <a:off x="6905625" y="0"/>
            <a:ext cx="5283200" cy="344488"/>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 name="Google Shape;5;n"/>
          <p:cNvSpPr>
            <a:spLocks noGrp="1" noRot="1" noChangeAspect="1"/>
          </p:cNvSpPr>
          <p:nvPr>
            <p:ph type="sldImg" idx="3"/>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5283200" cy="3444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1200"/>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n"/>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t>‹#›</a:t>
            </a:fld>
            <a:endParaRPr sz="120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1: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 name="Google Shape;51;p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3: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2: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6: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9: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9: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0: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1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
          <p:cNvSpPr txBox="1">
            <a:spLocks noGrp="1"/>
          </p:cNvSpPr>
          <p:nvPr>
            <p:ph type="title"/>
          </p:nvPr>
        </p:nvSpPr>
        <p:spPr>
          <a:xfrm>
            <a:off x="73025" y="-50596"/>
            <a:ext cx="3888104" cy="6959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
          <p:cNvSpPr txBox="1">
            <a:spLocks noGrp="1"/>
          </p:cNvSpPr>
          <p:nvPr>
            <p:ph type="body" idx="1"/>
          </p:nvPr>
        </p:nvSpPr>
        <p:spPr>
          <a:xfrm>
            <a:off x="609600" y="1577340"/>
            <a:ext cx="1097280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4" name="Google Shape;24;p2"/>
          <p:cNvSpPr txBox="1">
            <a:spLocks noGrp="1"/>
          </p:cNvSpPr>
          <p:nvPr>
            <p:ph type="ftr" idx="11"/>
          </p:nvPr>
        </p:nvSpPr>
        <p:spPr>
          <a:xfrm>
            <a:off x="141783" y="6629792"/>
            <a:ext cx="544830" cy="25082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
          <p:cNvSpPr txBox="1">
            <a:spLocks noGrp="1"/>
          </p:cNvSpPr>
          <p:nvPr>
            <p:ph type="dt" idx="10"/>
          </p:nvPr>
        </p:nvSpPr>
        <p:spPr>
          <a:xfrm>
            <a:off x="1123125" y="6629792"/>
            <a:ext cx="4962525" cy="25082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2"/>
          <p:cNvSpPr txBox="1">
            <a:spLocks noGrp="1"/>
          </p:cNvSpPr>
          <p:nvPr>
            <p:ph type="sldNum" idx="12"/>
          </p:nvPr>
        </p:nvSpPr>
        <p:spPr>
          <a:xfrm>
            <a:off x="11858823" y="6629309"/>
            <a:ext cx="228600" cy="250825"/>
          </a:xfrm>
          <a:prstGeom prst="rect">
            <a:avLst/>
          </a:prstGeom>
          <a:noFill/>
          <a:ln>
            <a:noFill/>
          </a:ln>
        </p:spPr>
        <p:txBody>
          <a:bodyPr spcFirstLastPara="1" wrap="square" lIns="0" tIns="0" rIns="0" bIns="0" anchor="t" anchorCtr="0">
            <a:spAutoFit/>
          </a:bodyPr>
          <a:lstStyle>
            <a:lvl1pPr marL="12700" lvl="0" indent="0">
              <a:lnSpc>
                <a:spcPct val="115312"/>
              </a:lnSpc>
              <a:spcBef>
                <a:spcPts val="0"/>
              </a:spcBef>
              <a:buNone/>
              <a:defRPr sz="1600" b="1" i="0">
                <a:solidFill>
                  <a:srgbClr val="002060"/>
                </a:solidFill>
                <a:latin typeface="Times New Roman"/>
                <a:ea typeface="Times New Roman"/>
                <a:cs typeface="Times New Roman"/>
                <a:sym typeface="Times New Roman"/>
              </a:defRPr>
            </a:lvl1pPr>
            <a:lvl2pPr marL="12700" lvl="1" indent="0">
              <a:lnSpc>
                <a:spcPct val="115312"/>
              </a:lnSpc>
              <a:spcBef>
                <a:spcPts val="0"/>
              </a:spcBef>
              <a:buNone/>
              <a:defRPr sz="1600" b="1" i="0">
                <a:solidFill>
                  <a:srgbClr val="002060"/>
                </a:solidFill>
                <a:latin typeface="Times New Roman"/>
                <a:ea typeface="Times New Roman"/>
                <a:cs typeface="Times New Roman"/>
                <a:sym typeface="Times New Roman"/>
              </a:defRPr>
            </a:lvl2pPr>
            <a:lvl3pPr marL="12700" lvl="2" indent="0">
              <a:lnSpc>
                <a:spcPct val="115312"/>
              </a:lnSpc>
              <a:spcBef>
                <a:spcPts val="0"/>
              </a:spcBef>
              <a:buNone/>
              <a:defRPr sz="1600" b="1" i="0">
                <a:solidFill>
                  <a:srgbClr val="002060"/>
                </a:solidFill>
                <a:latin typeface="Times New Roman"/>
                <a:ea typeface="Times New Roman"/>
                <a:cs typeface="Times New Roman"/>
                <a:sym typeface="Times New Roman"/>
              </a:defRPr>
            </a:lvl3pPr>
            <a:lvl4pPr marL="12700" lvl="3" indent="0">
              <a:lnSpc>
                <a:spcPct val="115312"/>
              </a:lnSpc>
              <a:spcBef>
                <a:spcPts val="0"/>
              </a:spcBef>
              <a:buNone/>
              <a:defRPr sz="1600" b="1" i="0">
                <a:solidFill>
                  <a:srgbClr val="002060"/>
                </a:solidFill>
                <a:latin typeface="Times New Roman"/>
                <a:ea typeface="Times New Roman"/>
                <a:cs typeface="Times New Roman"/>
                <a:sym typeface="Times New Roman"/>
              </a:defRPr>
            </a:lvl4pPr>
            <a:lvl5pPr marL="12700" lvl="4" indent="0">
              <a:lnSpc>
                <a:spcPct val="115312"/>
              </a:lnSpc>
              <a:spcBef>
                <a:spcPts val="0"/>
              </a:spcBef>
              <a:buNone/>
              <a:defRPr sz="1600" b="1" i="0">
                <a:solidFill>
                  <a:srgbClr val="002060"/>
                </a:solidFill>
                <a:latin typeface="Times New Roman"/>
                <a:ea typeface="Times New Roman"/>
                <a:cs typeface="Times New Roman"/>
                <a:sym typeface="Times New Roman"/>
              </a:defRPr>
            </a:lvl5pPr>
            <a:lvl6pPr marL="12700" lvl="5" indent="0">
              <a:lnSpc>
                <a:spcPct val="115312"/>
              </a:lnSpc>
              <a:spcBef>
                <a:spcPts val="0"/>
              </a:spcBef>
              <a:buNone/>
              <a:defRPr sz="1600" b="1" i="0">
                <a:solidFill>
                  <a:srgbClr val="002060"/>
                </a:solidFill>
                <a:latin typeface="Times New Roman"/>
                <a:ea typeface="Times New Roman"/>
                <a:cs typeface="Times New Roman"/>
                <a:sym typeface="Times New Roman"/>
              </a:defRPr>
            </a:lvl6pPr>
            <a:lvl7pPr marL="12700" lvl="6" indent="0">
              <a:lnSpc>
                <a:spcPct val="115312"/>
              </a:lnSpc>
              <a:spcBef>
                <a:spcPts val="0"/>
              </a:spcBef>
              <a:buNone/>
              <a:defRPr sz="1600" b="1" i="0">
                <a:solidFill>
                  <a:srgbClr val="002060"/>
                </a:solidFill>
                <a:latin typeface="Times New Roman"/>
                <a:ea typeface="Times New Roman"/>
                <a:cs typeface="Times New Roman"/>
                <a:sym typeface="Times New Roman"/>
              </a:defRPr>
            </a:lvl7pPr>
            <a:lvl8pPr marL="12700" lvl="7" indent="0">
              <a:lnSpc>
                <a:spcPct val="115312"/>
              </a:lnSpc>
              <a:spcBef>
                <a:spcPts val="0"/>
              </a:spcBef>
              <a:buNone/>
              <a:defRPr sz="1600" b="1" i="0">
                <a:solidFill>
                  <a:srgbClr val="002060"/>
                </a:solidFill>
                <a:latin typeface="Times New Roman"/>
                <a:ea typeface="Times New Roman"/>
                <a:cs typeface="Times New Roman"/>
                <a:sym typeface="Times New Roman"/>
              </a:defRPr>
            </a:lvl8pPr>
            <a:lvl9pPr marL="12700" lvl="8" indent="0">
              <a:lnSpc>
                <a:spcPct val="115312"/>
              </a:lnSpc>
              <a:spcBef>
                <a:spcPts val="0"/>
              </a:spcBef>
              <a:buNone/>
              <a:defRPr sz="1600" b="1" i="0">
                <a:solidFill>
                  <a:srgbClr val="002060"/>
                </a:solidFill>
                <a:latin typeface="Times New Roman"/>
                <a:ea typeface="Times New Roman"/>
                <a:cs typeface="Times New Roman"/>
                <a:sym typeface="Times New Roman"/>
              </a:defRPr>
            </a:lvl9pPr>
          </a:lstStyle>
          <a:p>
            <a:pPr marL="127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7"/>
        <p:cNvGrpSpPr/>
        <p:nvPr/>
      </p:nvGrpSpPr>
      <p:grpSpPr>
        <a:xfrm>
          <a:off x="0" y="0"/>
          <a:ext cx="0" cy="0"/>
          <a:chOff x="0" y="0"/>
          <a:chExt cx="0" cy="0"/>
        </a:xfrm>
      </p:grpSpPr>
      <p:sp>
        <p:nvSpPr>
          <p:cNvPr id="28" name="Google Shape;28;p3"/>
          <p:cNvSpPr txBox="1">
            <a:spLocks noGrp="1"/>
          </p:cNvSpPr>
          <p:nvPr>
            <p:ph type="title"/>
          </p:nvPr>
        </p:nvSpPr>
        <p:spPr>
          <a:xfrm>
            <a:off x="73025" y="-50596"/>
            <a:ext cx="3888104" cy="6959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
          <p:cNvSpPr txBox="1">
            <a:spLocks noGrp="1"/>
          </p:cNvSpPr>
          <p:nvPr>
            <p:ph type="ftr" idx="11"/>
          </p:nvPr>
        </p:nvSpPr>
        <p:spPr>
          <a:xfrm>
            <a:off x="141783" y="6629792"/>
            <a:ext cx="544830" cy="25082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3"/>
          <p:cNvSpPr txBox="1">
            <a:spLocks noGrp="1"/>
          </p:cNvSpPr>
          <p:nvPr>
            <p:ph type="dt" idx="10"/>
          </p:nvPr>
        </p:nvSpPr>
        <p:spPr>
          <a:xfrm>
            <a:off x="1123125" y="6629792"/>
            <a:ext cx="4962525" cy="25082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3"/>
          <p:cNvSpPr txBox="1">
            <a:spLocks noGrp="1"/>
          </p:cNvSpPr>
          <p:nvPr>
            <p:ph type="sldNum" idx="12"/>
          </p:nvPr>
        </p:nvSpPr>
        <p:spPr>
          <a:xfrm>
            <a:off x="11858823" y="6629309"/>
            <a:ext cx="228600" cy="250825"/>
          </a:xfrm>
          <a:prstGeom prst="rect">
            <a:avLst/>
          </a:prstGeom>
          <a:noFill/>
          <a:ln>
            <a:noFill/>
          </a:ln>
        </p:spPr>
        <p:txBody>
          <a:bodyPr spcFirstLastPara="1" wrap="square" lIns="0" tIns="0" rIns="0" bIns="0" anchor="t" anchorCtr="0">
            <a:spAutoFit/>
          </a:bodyPr>
          <a:lstStyle>
            <a:lvl1pPr marL="12700" lvl="0" indent="0">
              <a:lnSpc>
                <a:spcPct val="115312"/>
              </a:lnSpc>
              <a:spcBef>
                <a:spcPts val="0"/>
              </a:spcBef>
              <a:buNone/>
              <a:defRPr sz="1600" b="1" i="0">
                <a:solidFill>
                  <a:srgbClr val="002060"/>
                </a:solidFill>
                <a:latin typeface="Times New Roman"/>
                <a:ea typeface="Times New Roman"/>
                <a:cs typeface="Times New Roman"/>
                <a:sym typeface="Times New Roman"/>
              </a:defRPr>
            </a:lvl1pPr>
            <a:lvl2pPr marL="12700" lvl="1" indent="0">
              <a:lnSpc>
                <a:spcPct val="115312"/>
              </a:lnSpc>
              <a:spcBef>
                <a:spcPts val="0"/>
              </a:spcBef>
              <a:buNone/>
              <a:defRPr sz="1600" b="1" i="0">
                <a:solidFill>
                  <a:srgbClr val="002060"/>
                </a:solidFill>
                <a:latin typeface="Times New Roman"/>
                <a:ea typeface="Times New Roman"/>
                <a:cs typeface="Times New Roman"/>
                <a:sym typeface="Times New Roman"/>
              </a:defRPr>
            </a:lvl2pPr>
            <a:lvl3pPr marL="12700" lvl="2" indent="0">
              <a:lnSpc>
                <a:spcPct val="115312"/>
              </a:lnSpc>
              <a:spcBef>
                <a:spcPts val="0"/>
              </a:spcBef>
              <a:buNone/>
              <a:defRPr sz="1600" b="1" i="0">
                <a:solidFill>
                  <a:srgbClr val="002060"/>
                </a:solidFill>
                <a:latin typeface="Times New Roman"/>
                <a:ea typeface="Times New Roman"/>
                <a:cs typeface="Times New Roman"/>
                <a:sym typeface="Times New Roman"/>
              </a:defRPr>
            </a:lvl3pPr>
            <a:lvl4pPr marL="12700" lvl="3" indent="0">
              <a:lnSpc>
                <a:spcPct val="115312"/>
              </a:lnSpc>
              <a:spcBef>
                <a:spcPts val="0"/>
              </a:spcBef>
              <a:buNone/>
              <a:defRPr sz="1600" b="1" i="0">
                <a:solidFill>
                  <a:srgbClr val="002060"/>
                </a:solidFill>
                <a:latin typeface="Times New Roman"/>
                <a:ea typeface="Times New Roman"/>
                <a:cs typeface="Times New Roman"/>
                <a:sym typeface="Times New Roman"/>
              </a:defRPr>
            </a:lvl4pPr>
            <a:lvl5pPr marL="12700" lvl="4" indent="0">
              <a:lnSpc>
                <a:spcPct val="115312"/>
              </a:lnSpc>
              <a:spcBef>
                <a:spcPts val="0"/>
              </a:spcBef>
              <a:buNone/>
              <a:defRPr sz="1600" b="1" i="0">
                <a:solidFill>
                  <a:srgbClr val="002060"/>
                </a:solidFill>
                <a:latin typeface="Times New Roman"/>
                <a:ea typeface="Times New Roman"/>
                <a:cs typeface="Times New Roman"/>
                <a:sym typeface="Times New Roman"/>
              </a:defRPr>
            </a:lvl5pPr>
            <a:lvl6pPr marL="12700" lvl="5" indent="0">
              <a:lnSpc>
                <a:spcPct val="115312"/>
              </a:lnSpc>
              <a:spcBef>
                <a:spcPts val="0"/>
              </a:spcBef>
              <a:buNone/>
              <a:defRPr sz="1600" b="1" i="0">
                <a:solidFill>
                  <a:srgbClr val="002060"/>
                </a:solidFill>
                <a:latin typeface="Times New Roman"/>
                <a:ea typeface="Times New Roman"/>
                <a:cs typeface="Times New Roman"/>
                <a:sym typeface="Times New Roman"/>
              </a:defRPr>
            </a:lvl6pPr>
            <a:lvl7pPr marL="12700" lvl="6" indent="0">
              <a:lnSpc>
                <a:spcPct val="115312"/>
              </a:lnSpc>
              <a:spcBef>
                <a:spcPts val="0"/>
              </a:spcBef>
              <a:buNone/>
              <a:defRPr sz="1600" b="1" i="0">
                <a:solidFill>
                  <a:srgbClr val="002060"/>
                </a:solidFill>
                <a:latin typeface="Times New Roman"/>
                <a:ea typeface="Times New Roman"/>
                <a:cs typeface="Times New Roman"/>
                <a:sym typeface="Times New Roman"/>
              </a:defRPr>
            </a:lvl7pPr>
            <a:lvl8pPr marL="12700" lvl="7" indent="0">
              <a:lnSpc>
                <a:spcPct val="115312"/>
              </a:lnSpc>
              <a:spcBef>
                <a:spcPts val="0"/>
              </a:spcBef>
              <a:buNone/>
              <a:defRPr sz="1600" b="1" i="0">
                <a:solidFill>
                  <a:srgbClr val="002060"/>
                </a:solidFill>
                <a:latin typeface="Times New Roman"/>
                <a:ea typeface="Times New Roman"/>
                <a:cs typeface="Times New Roman"/>
                <a:sym typeface="Times New Roman"/>
              </a:defRPr>
            </a:lvl8pPr>
            <a:lvl9pPr marL="12700" lvl="8" indent="0">
              <a:lnSpc>
                <a:spcPct val="115312"/>
              </a:lnSpc>
              <a:spcBef>
                <a:spcPts val="0"/>
              </a:spcBef>
              <a:buNone/>
              <a:defRPr sz="1600" b="1" i="0">
                <a:solidFill>
                  <a:srgbClr val="002060"/>
                </a:solidFill>
                <a:latin typeface="Times New Roman"/>
                <a:ea typeface="Times New Roman"/>
                <a:cs typeface="Times New Roman"/>
                <a:sym typeface="Times New Roman"/>
              </a:defRPr>
            </a:lvl9pPr>
          </a:lstStyle>
          <a:p>
            <a:pPr marL="127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2"/>
        <p:cNvGrpSpPr/>
        <p:nvPr/>
      </p:nvGrpSpPr>
      <p:grpSpPr>
        <a:xfrm>
          <a:off x="0" y="0"/>
          <a:ext cx="0" cy="0"/>
          <a:chOff x="0" y="0"/>
          <a:chExt cx="0" cy="0"/>
        </a:xfrm>
      </p:grpSpPr>
      <p:sp>
        <p:nvSpPr>
          <p:cNvPr id="33" name="Google Shape;33;p4"/>
          <p:cNvSpPr txBox="1">
            <a:spLocks noGrp="1"/>
          </p:cNvSpPr>
          <p:nvPr>
            <p:ph type="ctrTitle"/>
          </p:nvPr>
        </p:nvSpPr>
        <p:spPr>
          <a:xfrm>
            <a:off x="914400" y="2125980"/>
            <a:ext cx="10363200" cy="1440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4"/>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ftr" idx="11"/>
          </p:nvPr>
        </p:nvSpPr>
        <p:spPr>
          <a:xfrm>
            <a:off x="141783" y="6629792"/>
            <a:ext cx="544830" cy="25082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4"/>
          <p:cNvSpPr txBox="1">
            <a:spLocks noGrp="1"/>
          </p:cNvSpPr>
          <p:nvPr>
            <p:ph type="dt" idx="10"/>
          </p:nvPr>
        </p:nvSpPr>
        <p:spPr>
          <a:xfrm>
            <a:off x="1123125" y="6629792"/>
            <a:ext cx="4962525" cy="25082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4"/>
          <p:cNvSpPr txBox="1">
            <a:spLocks noGrp="1"/>
          </p:cNvSpPr>
          <p:nvPr>
            <p:ph type="sldNum" idx="12"/>
          </p:nvPr>
        </p:nvSpPr>
        <p:spPr>
          <a:xfrm>
            <a:off x="11858823" y="6629309"/>
            <a:ext cx="228600" cy="250825"/>
          </a:xfrm>
          <a:prstGeom prst="rect">
            <a:avLst/>
          </a:prstGeom>
          <a:noFill/>
          <a:ln>
            <a:noFill/>
          </a:ln>
        </p:spPr>
        <p:txBody>
          <a:bodyPr spcFirstLastPara="1" wrap="square" lIns="0" tIns="0" rIns="0" bIns="0" anchor="t" anchorCtr="0">
            <a:spAutoFit/>
          </a:bodyPr>
          <a:lstStyle>
            <a:lvl1pPr marL="12700" lvl="0" indent="0">
              <a:lnSpc>
                <a:spcPct val="115312"/>
              </a:lnSpc>
              <a:spcBef>
                <a:spcPts val="0"/>
              </a:spcBef>
              <a:buNone/>
              <a:defRPr sz="1600" b="1" i="0">
                <a:solidFill>
                  <a:srgbClr val="002060"/>
                </a:solidFill>
                <a:latin typeface="Times New Roman"/>
                <a:ea typeface="Times New Roman"/>
                <a:cs typeface="Times New Roman"/>
                <a:sym typeface="Times New Roman"/>
              </a:defRPr>
            </a:lvl1pPr>
            <a:lvl2pPr marL="12700" lvl="1" indent="0">
              <a:lnSpc>
                <a:spcPct val="115312"/>
              </a:lnSpc>
              <a:spcBef>
                <a:spcPts val="0"/>
              </a:spcBef>
              <a:buNone/>
              <a:defRPr sz="1600" b="1" i="0">
                <a:solidFill>
                  <a:srgbClr val="002060"/>
                </a:solidFill>
                <a:latin typeface="Times New Roman"/>
                <a:ea typeface="Times New Roman"/>
                <a:cs typeface="Times New Roman"/>
                <a:sym typeface="Times New Roman"/>
              </a:defRPr>
            </a:lvl2pPr>
            <a:lvl3pPr marL="12700" lvl="2" indent="0">
              <a:lnSpc>
                <a:spcPct val="115312"/>
              </a:lnSpc>
              <a:spcBef>
                <a:spcPts val="0"/>
              </a:spcBef>
              <a:buNone/>
              <a:defRPr sz="1600" b="1" i="0">
                <a:solidFill>
                  <a:srgbClr val="002060"/>
                </a:solidFill>
                <a:latin typeface="Times New Roman"/>
                <a:ea typeface="Times New Roman"/>
                <a:cs typeface="Times New Roman"/>
                <a:sym typeface="Times New Roman"/>
              </a:defRPr>
            </a:lvl3pPr>
            <a:lvl4pPr marL="12700" lvl="3" indent="0">
              <a:lnSpc>
                <a:spcPct val="115312"/>
              </a:lnSpc>
              <a:spcBef>
                <a:spcPts val="0"/>
              </a:spcBef>
              <a:buNone/>
              <a:defRPr sz="1600" b="1" i="0">
                <a:solidFill>
                  <a:srgbClr val="002060"/>
                </a:solidFill>
                <a:latin typeface="Times New Roman"/>
                <a:ea typeface="Times New Roman"/>
                <a:cs typeface="Times New Roman"/>
                <a:sym typeface="Times New Roman"/>
              </a:defRPr>
            </a:lvl4pPr>
            <a:lvl5pPr marL="12700" lvl="4" indent="0">
              <a:lnSpc>
                <a:spcPct val="115312"/>
              </a:lnSpc>
              <a:spcBef>
                <a:spcPts val="0"/>
              </a:spcBef>
              <a:buNone/>
              <a:defRPr sz="1600" b="1" i="0">
                <a:solidFill>
                  <a:srgbClr val="002060"/>
                </a:solidFill>
                <a:latin typeface="Times New Roman"/>
                <a:ea typeface="Times New Roman"/>
                <a:cs typeface="Times New Roman"/>
                <a:sym typeface="Times New Roman"/>
              </a:defRPr>
            </a:lvl5pPr>
            <a:lvl6pPr marL="12700" lvl="5" indent="0">
              <a:lnSpc>
                <a:spcPct val="115312"/>
              </a:lnSpc>
              <a:spcBef>
                <a:spcPts val="0"/>
              </a:spcBef>
              <a:buNone/>
              <a:defRPr sz="1600" b="1" i="0">
                <a:solidFill>
                  <a:srgbClr val="002060"/>
                </a:solidFill>
                <a:latin typeface="Times New Roman"/>
                <a:ea typeface="Times New Roman"/>
                <a:cs typeface="Times New Roman"/>
                <a:sym typeface="Times New Roman"/>
              </a:defRPr>
            </a:lvl6pPr>
            <a:lvl7pPr marL="12700" lvl="6" indent="0">
              <a:lnSpc>
                <a:spcPct val="115312"/>
              </a:lnSpc>
              <a:spcBef>
                <a:spcPts val="0"/>
              </a:spcBef>
              <a:buNone/>
              <a:defRPr sz="1600" b="1" i="0">
                <a:solidFill>
                  <a:srgbClr val="002060"/>
                </a:solidFill>
                <a:latin typeface="Times New Roman"/>
                <a:ea typeface="Times New Roman"/>
                <a:cs typeface="Times New Roman"/>
                <a:sym typeface="Times New Roman"/>
              </a:defRPr>
            </a:lvl7pPr>
            <a:lvl8pPr marL="12700" lvl="7" indent="0">
              <a:lnSpc>
                <a:spcPct val="115312"/>
              </a:lnSpc>
              <a:spcBef>
                <a:spcPts val="0"/>
              </a:spcBef>
              <a:buNone/>
              <a:defRPr sz="1600" b="1" i="0">
                <a:solidFill>
                  <a:srgbClr val="002060"/>
                </a:solidFill>
                <a:latin typeface="Times New Roman"/>
                <a:ea typeface="Times New Roman"/>
                <a:cs typeface="Times New Roman"/>
                <a:sym typeface="Times New Roman"/>
              </a:defRPr>
            </a:lvl8pPr>
            <a:lvl9pPr marL="12700" lvl="8" indent="0">
              <a:lnSpc>
                <a:spcPct val="115312"/>
              </a:lnSpc>
              <a:spcBef>
                <a:spcPts val="0"/>
              </a:spcBef>
              <a:buNone/>
              <a:defRPr sz="1600" b="1" i="0">
                <a:solidFill>
                  <a:srgbClr val="002060"/>
                </a:solidFill>
                <a:latin typeface="Times New Roman"/>
                <a:ea typeface="Times New Roman"/>
                <a:cs typeface="Times New Roman"/>
                <a:sym typeface="Times New Roman"/>
              </a:defRPr>
            </a:lvl9pPr>
          </a:lstStyle>
          <a:p>
            <a:pPr marL="127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73025" y="-50596"/>
            <a:ext cx="3888104" cy="69596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44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5"/>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1" name="Google Shape;41;p5"/>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2" name="Google Shape;42;p5"/>
          <p:cNvSpPr txBox="1">
            <a:spLocks noGrp="1"/>
          </p:cNvSpPr>
          <p:nvPr>
            <p:ph type="ftr" idx="11"/>
          </p:nvPr>
        </p:nvSpPr>
        <p:spPr>
          <a:xfrm>
            <a:off x="141783" y="6629792"/>
            <a:ext cx="544830" cy="25082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5"/>
          <p:cNvSpPr txBox="1">
            <a:spLocks noGrp="1"/>
          </p:cNvSpPr>
          <p:nvPr>
            <p:ph type="dt" idx="10"/>
          </p:nvPr>
        </p:nvSpPr>
        <p:spPr>
          <a:xfrm>
            <a:off x="1123125" y="6629792"/>
            <a:ext cx="4962525" cy="25082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5"/>
          <p:cNvSpPr txBox="1">
            <a:spLocks noGrp="1"/>
          </p:cNvSpPr>
          <p:nvPr>
            <p:ph type="sldNum" idx="12"/>
          </p:nvPr>
        </p:nvSpPr>
        <p:spPr>
          <a:xfrm>
            <a:off x="11858823" y="6629309"/>
            <a:ext cx="228600" cy="250825"/>
          </a:xfrm>
          <a:prstGeom prst="rect">
            <a:avLst/>
          </a:prstGeom>
          <a:noFill/>
          <a:ln>
            <a:noFill/>
          </a:ln>
        </p:spPr>
        <p:txBody>
          <a:bodyPr spcFirstLastPara="1" wrap="square" lIns="0" tIns="0" rIns="0" bIns="0" anchor="t" anchorCtr="0">
            <a:spAutoFit/>
          </a:bodyPr>
          <a:lstStyle>
            <a:lvl1pPr marL="12700" lvl="0" indent="0">
              <a:lnSpc>
                <a:spcPct val="115312"/>
              </a:lnSpc>
              <a:spcBef>
                <a:spcPts val="0"/>
              </a:spcBef>
              <a:buNone/>
              <a:defRPr sz="1600" b="1" i="0">
                <a:solidFill>
                  <a:srgbClr val="002060"/>
                </a:solidFill>
                <a:latin typeface="Times New Roman"/>
                <a:ea typeface="Times New Roman"/>
                <a:cs typeface="Times New Roman"/>
                <a:sym typeface="Times New Roman"/>
              </a:defRPr>
            </a:lvl1pPr>
            <a:lvl2pPr marL="12700" lvl="1" indent="0">
              <a:lnSpc>
                <a:spcPct val="115312"/>
              </a:lnSpc>
              <a:spcBef>
                <a:spcPts val="0"/>
              </a:spcBef>
              <a:buNone/>
              <a:defRPr sz="1600" b="1" i="0">
                <a:solidFill>
                  <a:srgbClr val="002060"/>
                </a:solidFill>
                <a:latin typeface="Times New Roman"/>
                <a:ea typeface="Times New Roman"/>
                <a:cs typeface="Times New Roman"/>
                <a:sym typeface="Times New Roman"/>
              </a:defRPr>
            </a:lvl2pPr>
            <a:lvl3pPr marL="12700" lvl="2" indent="0">
              <a:lnSpc>
                <a:spcPct val="115312"/>
              </a:lnSpc>
              <a:spcBef>
                <a:spcPts val="0"/>
              </a:spcBef>
              <a:buNone/>
              <a:defRPr sz="1600" b="1" i="0">
                <a:solidFill>
                  <a:srgbClr val="002060"/>
                </a:solidFill>
                <a:latin typeface="Times New Roman"/>
                <a:ea typeface="Times New Roman"/>
                <a:cs typeface="Times New Roman"/>
                <a:sym typeface="Times New Roman"/>
              </a:defRPr>
            </a:lvl3pPr>
            <a:lvl4pPr marL="12700" lvl="3" indent="0">
              <a:lnSpc>
                <a:spcPct val="115312"/>
              </a:lnSpc>
              <a:spcBef>
                <a:spcPts val="0"/>
              </a:spcBef>
              <a:buNone/>
              <a:defRPr sz="1600" b="1" i="0">
                <a:solidFill>
                  <a:srgbClr val="002060"/>
                </a:solidFill>
                <a:latin typeface="Times New Roman"/>
                <a:ea typeface="Times New Roman"/>
                <a:cs typeface="Times New Roman"/>
                <a:sym typeface="Times New Roman"/>
              </a:defRPr>
            </a:lvl4pPr>
            <a:lvl5pPr marL="12700" lvl="4" indent="0">
              <a:lnSpc>
                <a:spcPct val="115312"/>
              </a:lnSpc>
              <a:spcBef>
                <a:spcPts val="0"/>
              </a:spcBef>
              <a:buNone/>
              <a:defRPr sz="1600" b="1" i="0">
                <a:solidFill>
                  <a:srgbClr val="002060"/>
                </a:solidFill>
                <a:latin typeface="Times New Roman"/>
                <a:ea typeface="Times New Roman"/>
                <a:cs typeface="Times New Roman"/>
                <a:sym typeface="Times New Roman"/>
              </a:defRPr>
            </a:lvl5pPr>
            <a:lvl6pPr marL="12700" lvl="5" indent="0">
              <a:lnSpc>
                <a:spcPct val="115312"/>
              </a:lnSpc>
              <a:spcBef>
                <a:spcPts val="0"/>
              </a:spcBef>
              <a:buNone/>
              <a:defRPr sz="1600" b="1" i="0">
                <a:solidFill>
                  <a:srgbClr val="002060"/>
                </a:solidFill>
                <a:latin typeface="Times New Roman"/>
                <a:ea typeface="Times New Roman"/>
                <a:cs typeface="Times New Roman"/>
                <a:sym typeface="Times New Roman"/>
              </a:defRPr>
            </a:lvl6pPr>
            <a:lvl7pPr marL="12700" lvl="6" indent="0">
              <a:lnSpc>
                <a:spcPct val="115312"/>
              </a:lnSpc>
              <a:spcBef>
                <a:spcPts val="0"/>
              </a:spcBef>
              <a:buNone/>
              <a:defRPr sz="1600" b="1" i="0">
                <a:solidFill>
                  <a:srgbClr val="002060"/>
                </a:solidFill>
                <a:latin typeface="Times New Roman"/>
                <a:ea typeface="Times New Roman"/>
                <a:cs typeface="Times New Roman"/>
                <a:sym typeface="Times New Roman"/>
              </a:defRPr>
            </a:lvl7pPr>
            <a:lvl8pPr marL="12700" lvl="7" indent="0">
              <a:lnSpc>
                <a:spcPct val="115312"/>
              </a:lnSpc>
              <a:spcBef>
                <a:spcPts val="0"/>
              </a:spcBef>
              <a:buNone/>
              <a:defRPr sz="1600" b="1" i="0">
                <a:solidFill>
                  <a:srgbClr val="002060"/>
                </a:solidFill>
                <a:latin typeface="Times New Roman"/>
                <a:ea typeface="Times New Roman"/>
                <a:cs typeface="Times New Roman"/>
                <a:sym typeface="Times New Roman"/>
              </a:defRPr>
            </a:lvl8pPr>
            <a:lvl9pPr marL="12700" lvl="8" indent="0">
              <a:lnSpc>
                <a:spcPct val="115312"/>
              </a:lnSpc>
              <a:spcBef>
                <a:spcPts val="0"/>
              </a:spcBef>
              <a:buNone/>
              <a:defRPr sz="1600" b="1" i="0">
                <a:solidFill>
                  <a:srgbClr val="002060"/>
                </a:solidFill>
                <a:latin typeface="Times New Roman"/>
                <a:ea typeface="Times New Roman"/>
                <a:cs typeface="Times New Roman"/>
                <a:sym typeface="Times New Roman"/>
              </a:defRPr>
            </a:lvl9pPr>
          </a:lstStyle>
          <a:p>
            <a:pPr marL="127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5"/>
        <p:cNvGrpSpPr/>
        <p:nvPr/>
      </p:nvGrpSpPr>
      <p:grpSpPr>
        <a:xfrm>
          <a:off x="0" y="0"/>
          <a:ext cx="0" cy="0"/>
          <a:chOff x="0" y="0"/>
          <a:chExt cx="0" cy="0"/>
        </a:xfrm>
      </p:grpSpPr>
      <p:sp>
        <p:nvSpPr>
          <p:cNvPr id="46" name="Google Shape;46;p6"/>
          <p:cNvSpPr txBox="1">
            <a:spLocks noGrp="1"/>
          </p:cNvSpPr>
          <p:nvPr>
            <p:ph type="ftr" idx="11"/>
          </p:nvPr>
        </p:nvSpPr>
        <p:spPr>
          <a:xfrm>
            <a:off x="141783" y="6629792"/>
            <a:ext cx="544830" cy="25082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6"/>
          <p:cNvSpPr txBox="1">
            <a:spLocks noGrp="1"/>
          </p:cNvSpPr>
          <p:nvPr>
            <p:ph type="dt" idx="10"/>
          </p:nvPr>
        </p:nvSpPr>
        <p:spPr>
          <a:xfrm>
            <a:off x="1123125" y="6629792"/>
            <a:ext cx="4962525" cy="25082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11858823" y="6629309"/>
            <a:ext cx="228600" cy="250825"/>
          </a:xfrm>
          <a:prstGeom prst="rect">
            <a:avLst/>
          </a:prstGeom>
          <a:noFill/>
          <a:ln>
            <a:noFill/>
          </a:ln>
        </p:spPr>
        <p:txBody>
          <a:bodyPr spcFirstLastPara="1" wrap="square" lIns="0" tIns="0" rIns="0" bIns="0" anchor="t" anchorCtr="0">
            <a:spAutoFit/>
          </a:bodyPr>
          <a:lstStyle>
            <a:lvl1pPr marL="12700" lvl="0" indent="0">
              <a:lnSpc>
                <a:spcPct val="115312"/>
              </a:lnSpc>
              <a:spcBef>
                <a:spcPts val="0"/>
              </a:spcBef>
              <a:buNone/>
              <a:defRPr sz="1600" b="1" i="0">
                <a:solidFill>
                  <a:srgbClr val="002060"/>
                </a:solidFill>
                <a:latin typeface="Times New Roman"/>
                <a:ea typeface="Times New Roman"/>
                <a:cs typeface="Times New Roman"/>
                <a:sym typeface="Times New Roman"/>
              </a:defRPr>
            </a:lvl1pPr>
            <a:lvl2pPr marL="12700" lvl="1" indent="0">
              <a:lnSpc>
                <a:spcPct val="115312"/>
              </a:lnSpc>
              <a:spcBef>
                <a:spcPts val="0"/>
              </a:spcBef>
              <a:buNone/>
              <a:defRPr sz="1600" b="1" i="0">
                <a:solidFill>
                  <a:srgbClr val="002060"/>
                </a:solidFill>
                <a:latin typeface="Times New Roman"/>
                <a:ea typeface="Times New Roman"/>
                <a:cs typeface="Times New Roman"/>
                <a:sym typeface="Times New Roman"/>
              </a:defRPr>
            </a:lvl2pPr>
            <a:lvl3pPr marL="12700" lvl="2" indent="0">
              <a:lnSpc>
                <a:spcPct val="115312"/>
              </a:lnSpc>
              <a:spcBef>
                <a:spcPts val="0"/>
              </a:spcBef>
              <a:buNone/>
              <a:defRPr sz="1600" b="1" i="0">
                <a:solidFill>
                  <a:srgbClr val="002060"/>
                </a:solidFill>
                <a:latin typeface="Times New Roman"/>
                <a:ea typeface="Times New Roman"/>
                <a:cs typeface="Times New Roman"/>
                <a:sym typeface="Times New Roman"/>
              </a:defRPr>
            </a:lvl3pPr>
            <a:lvl4pPr marL="12700" lvl="3" indent="0">
              <a:lnSpc>
                <a:spcPct val="115312"/>
              </a:lnSpc>
              <a:spcBef>
                <a:spcPts val="0"/>
              </a:spcBef>
              <a:buNone/>
              <a:defRPr sz="1600" b="1" i="0">
                <a:solidFill>
                  <a:srgbClr val="002060"/>
                </a:solidFill>
                <a:latin typeface="Times New Roman"/>
                <a:ea typeface="Times New Roman"/>
                <a:cs typeface="Times New Roman"/>
                <a:sym typeface="Times New Roman"/>
              </a:defRPr>
            </a:lvl4pPr>
            <a:lvl5pPr marL="12700" lvl="4" indent="0">
              <a:lnSpc>
                <a:spcPct val="115312"/>
              </a:lnSpc>
              <a:spcBef>
                <a:spcPts val="0"/>
              </a:spcBef>
              <a:buNone/>
              <a:defRPr sz="1600" b="1" i="0">
                <a:solidFill>
                  <a:srgbClr val="002060"/>
                </a:solidFill>
                <a:latin typeface="Times New Roman"/>
                <a:ea typeface="Times New Roman"/>
                <a:cs typeface="Times New Roman"/>
                <a:sym typeface="Times New Roman"/>
              </a:defRPr>
            </a:lvl5pPr>
            <a:lvl6pPr marL="12700" lvl="5" indent="0">
              <a:lnSpc>
                <a:spcPct val="115312"/>
              </a:lnSpc>
              <a:spcBef>
                <a:spcPts val="0"/>
              </a:spcBef>
              <a:buNone/>
              <a:defRPr sz="1600" b="1" i="0">
                <a:solidFill>
                  <a:srgbClr val="002060"/>
                </a:solidFill>
                <a:latin typeface="Times New Roman"/>
                <a:ea typeface="Times New Roman"/>
                <a:cs typeface="Times New Roman"/>
                <a:sym typeface="Times New Roman"/>
              </a:defRPr>
            </a:lvl6pPr>
            <a:lvl7pPr marL="12700" lvl="6" indent="0">
              <a:lnSpc>
                <a:spcPct val="115312"/>
              </a:lnSpc>
              <a:spcBef>
                <a:spcPts val="0"/>
              </a:spcBef>
              <a:buNone/>
              <a:defRPr sz="1600" b="1" i="0">
                <a:solidFill>
                  <a:srgbClr val="002060"/>
                </a:solidFill>
                <a:latin typeface="Times New Roman"/>
                <a:ea typeface="Times New Roman"/>
                <a:cs typeface="Times New Roman"/>
                <a:sym typeface="Times New Roman"/>
              </a:defRPr>
            </a:lvl7pPr>
            <a:lvl8pPr marL="12700" lvl="7" indent="0">
              <a:lnSpc>
                <a:spcPct val="115312"/>
              </a:lnSpc>
              <a:spcBef>
                <a:spcPts val="0"/>
              </a:spcBef>
              <a:buNone/>
              <a:defRPr sz="1600" b="1" i="0">
                <a:solidFill>
                  <a:srgbClr val="002060"/>
                </a:solidFill>
                <a:latin typeface="Times New Roman"/>
                <a:ea typeface="Times New Roman"/>
                <a:cs typeface="Times New Roman"/>
                <a:sym typeface="Times New Roman"/>
              </a:defRPr>
            </a:lvl8pPr>
            <a:lvl9pPr marL="12700" lvl="8" indent="0">
              <a:lnSpc>
                <a:spcPct val="115312"/>
              </a:lnSpc>
              <a:spcBef>
                <a:spcPts val="0"/>
              </a:spcBef>
              <a:buNone/>
              <a:defRPr sz="1600" b="1" i="0">
                <a:solidFill>
                  <a:srgbClr val="002060"/>
                </a:solidFill>
                <a:latin typeface="Times New Roman"/>
                <a:ea typeface="Times New Roman"/>
                <a:cs typeface="Times New Roman"/>
                <a:sym typeface="Times New Roman"/>
              </a:defRPr>
            </a:lvl9pPr>
          </a:lstStyle>
          <a:p>
            <a:pPr marL="127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777238" y="6642827"/>
            <a:ext cx="5654040" cy="215265"/>
          </a:xfrm>
          <a:custGeom>
            <a:avLst/>
            <a:gdLst/>
            <a:ahLst/>
            <a:cxnLst/>
            <a:rect l="l" t="t" r="r" b="b"/>
            <a:pathLst>
              <a:path w="5654040" h="215265" extrusionOk="0">
                <a:moveTo>
                  <a:pt x="5654038" y="215171"/>
                </a:moveTo>
                <a:lnTo>
                  <a:pt x="0" y="215171"/>
                </a:lnTo>
                <a:lnTo>
                  <a:pt x="0" y="0"/>
                </a:lnTo>
                <a:lnTo>
                  <a:pt x="5654038" y="0"/>
                </a:lnTo>
                <a:lnTo>
                  <a:pt x="5654038" y="215171"/>
                </a:lnTo>
                <a:close/>
              </a:path>
            </a:pathLst>
          </a:custGeom>
          <a:solidFill>
            <a:srgbClr val="00206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1" name="Google Shape;11;p1"/>
          <p:cNvSpPr/>
          <p:nvPr/>
        </p:nvSpPr>
        <p:spPr>
          <a:xfrm>
            <a:off x="6431277" y="6641865"/>
            <a:ext cx="5323205" cy="216535"/>
          </a:xfrm>
          <a:custGeom>
            <a:avLst/>
            <a:gdLst/>
            <a:ahLst/>
            <a:cxnLst/>
            <a:rect l="l" t="t" r="r" b="b"/>
            <a:pathLst>
              <a:path w="5323205" h="216534" extrusionOk="0">
                <a:moveTo>
                  <a:pt x="5322916" y="216133"/>
                </a:moveTo>
                <a:lnTo>
                  <a:pt x="0" y="216133"/>
                </a:lnTo>
                <a:lnTo>
                  <a:pt x="0" y="0"/>
                </a:lnTo>
                <a:lnTo>
                  <a:pt x="5322916" y="0"/>
                </a:lnTo>
                <a:lnTo>
                  <a:pt x="5322916" y="216133"/>
                </a:lnTo>
                <a:close/>
              </a:path>
            </a:pathLst>
          </a:custGeom>
          <a:solidFill>
            <a:srgbClr val="00808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2" name="Google Shape;12;p1"/>
          <p:cNvSpPr/>
          <p:nvPr/>
        </p:nvSpPr>
        <p:spPr>
          <a:xfrm>
            <a:off x="11754195" y="6641864"/>
            <a:ext cx="438150" cy="216535"/>
          </a:xfrm>
          <a:custGeom>
            <a:avLst/>
            <a:gdLst/>
            <a:ahLst/>
            <a:cxnLst/>
            <a:rect l="l" t="t" r="r" b="b"/>
            <a:pathLst>
              <a:path w="438150" h="216534" extrusionOk="0">
                <a:moveTo>
                  <a:pt x="437803" y="216132"/>
                </a:moveTo>
                <a:lnTo>
                  <a:pt x="0" y="216132"/>
                </a:lnTo>
                <a:lnTo>
                  <a:pt x="0" y="0"/>
                </a:lnTo>
                <a:lnTo>
                  <a:pt x="437803" y="0"/>
                </a:lnTo>
                <a:lnTo>
                  <a:pt x="437803" y="216132"/>
                </a:lnTo>
                <a:close/>
              </a:path>
            </a:pathLst>
          </a:custGeom>
          <a:solidFill>
            <a:srgbClr val="FFC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3" name="Google Shape;13;p1"/>
          <p:cNvPicPr preferRelativeResize="0"/>
          <p:nvPr/>
        </p:nvPicPr>
        <p:blipFill rotWithShape="1">
          <a:blip r:embed="rId7">
            <a:alphaModFix/>
          </a:blip>
          <a:srcRect/>
          <a:stretch/>
        </p:blipFill>
        <p:spPr>
          <a:xfrm>
            <a:off x="11506200" y="5956065"/>
            <a:ext cx="685799" cy="681643"/>
          </a:xfrm>
          <a:prstGeom prst="rect">
            <a:avLst/>
          </a:prstGeom>
          <a:noFill/>
          <a:ln>
            <a:noFill/>
          </a:ln>
        </p:spPr>
      </p:pic>
      <p:sp>
        <p:nvSpPr>
          <p:cNvPr id="14" name="Google Shape;14;p1"/>
          <p:cNvSpPr/>
          <p:nvPr/>
        </p:nvSpPr>
        <p:spPr>
          <a:xfrm>
            <a:off x="0" y="6642827"/>
            <a:ext cx="777240" cy="215265"/>
          </a:xfrm>
          <a:custGeom>
            <a:avLst/>
            <a:gdLst/>
            <a:ahLst/>
            <a:cxnLst/>
            <a:rect l="l" t="t" r="r" b="b"/>
            <a:pathLst>
              <a:path w="777240" h="215265" extrusionOk="0">
                <a:moveTo>
                  <a:pt x="777238" y="215171"/>
                </a:moveTo>
                <a:lnTo>
                  <a:pt x="0" y="215171"/>
                </a:lnTo>
                <a:lnTo>
                  <a:pt x="0" y="0"/>
                </a:lnTo>
                <a:lnTo>
                  <a:pt x="777238" y="0"/>
                </a:lnTo>
                <a:lnTo>
                  <a:pt x="777238" y="215171"/>
                </a:lnTo>
                <a:close/>
              </a:path>
            </a:pathLst>
          </a:custGeom>
          <a:solidFill>
            <a:srgbClr val="C55A1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5" name="Google Shape;15;p1"/>
          <p:cNvSpPr/>
          <p:nvPr/>
        </p:nvSpPr>
        <p:spPr>
          <a:xfrm>
            <a:off x="-1" y="0"/>
            <a:ext cx="12192000" cy="233045"/>
          </a:xfrm>
          <a:custGeom>
            <a:avLst/>
            <a:gdLst/>
            <a:ahLst/>
            <a:cxnLst/>
            <a:rect l="l" t="t" r="r" b="b"/>
            <a:pathLst>
              <a:path w="12192000" h="233045" extrusionOk="0">
                <a:moveTo>
                  <a:pt x="12191998" y="232758"/>
                </a:moveTo>
                <a:lnTo>
                  <a:pt x="0" y="232758"/>
                </a:lnTo>
                <a:lnTo>
                  <a:pt x="0" y="0"/>
                </a:lnTo>
                <a:lnTo>
                  <a:pt x="12191998" y="0"/>
                </a:lnTo>
                <a:lnTo>
                  <a:pt x="12191998" y="232758"/>
                </a:lnTo>
                <a:close/>
              </a:path>
            </a:pathLst>
          </a:custGeom>
          <a:solidFill>
            <a:srgbClr val="00666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16" name="Google Shape;16;p1"/>
          <p:cNvSpPr txBox="1">
            <a:spLocks noGrp="1"/>
          </p:cNvSpPr>
          <p:nvPr>
            <p:ph type="title"/>
          </p:nvPr>
        </p:nvSpPr>
        <p:spPr>
          <a:xfrm>
            <a:off x="73025" y="-50596"/>
            <a:ext cx="3888104" cy="69596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4400" b="0" i="0" u="none" strike="noStrike"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1"/>
          <p:cNvSpPr txBox="1">
            <a:spLocks noGrp="1"/>
          </p:cNvSpPr>
          <p:nvPr>
            <p:ph type="body" idx="1"/>
          </p:nvPr>
        </p:nvSpPr>
        <p:spPr>
          <a:xfrm>
            <a:off x="609600" y="1577340"/>
            <a:ext cx="10972800" cy="452628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8" name="Google Shape;18;p1"/>
          <p:cNvSpPr txBox="1">
            <a:spLocks noGrp="1"/>
          </p:cNvSpPr>
          <p:nvPr>
            <p:ph type="ftr" idx="11"/>
          </p:nvPr>
        </p:nvSpPr>
        <p:spPr>
          <a:xfrm>
            <a:off x="141783" y="6629792"/>
            <a:ext cx="544830" cy="25082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 name="Google Shape;19;p1"/>
          <p:cNvSpPr txBox="1">
            <a:spLocks noGrp="1"/>
          </p:cNvSpPr>
          <p:nvPr>
            <p:ph type="dt" idx="10"/>
          </p:nvPr>
        </p:nvSpPr>
        <p:spPr>
          <a:xfrm>
            <a:off x="1123125" y="6629792"/>
            <a:ext cx="4962525" cy="250825"/>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1600" b="0"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 name="Google Shape;20;p1"/>
          <p:cNvSpPr txBox="1">
            <a:spLocks noGrp="1"/>
          </p:cNvSpPr>
          <p:nvPr>
            <p:ph type="sldNum" idx="12"/>
          </p:nvPr>
        </p:nvSpPr>
        <p:spPr>
          <a:xfrm>
            <a:off x="11858823" y="6629309"/>
            <a:ext cx="228600" cy="250825"/>
          </a:xfrm>
          <a:prstGeom prst="rect">
            <a:avLst/>
          </a:prstGeom>
          <a:noFill/>
          <a:ln>
            <a:noFill/>
          </a:ln>
        </p:spPr>
        <p:txBody>
          <a:bodyPr spcFirstLastPara="1" wrap="square" lIns="0" tIns="0" rIns="0" bIns="0" anchor="t" anchorCtr="0">
            <a:spAutoFit/>
          </a:bodyPr>
          <a:lstStyle>
            <a:lvl1pPr marL="12700" lvl="0" indent="0">
              <a:lnSpc>
                <a:spcPct val="115312"/>
              </a:lnSpc>
              <a:spcBef>
                <a:spcPts val="0"/>
              </a:spcBef>
              <a:buNone/>
              <a:defRPr sz="1600" b="1" i="0">
                <a:solidFill>
                  <a:srgbClr val="002060"/>
                </a:solidFill>
                <a:latin typeface="Times New Roman"/>
                <a:ea typeface="Times New Roman"/>
                <a:cs typeface="Times New Roman"/>
                <a:sym typeface="Times New Roman"/>
              </a:defRPr>
            </a:lvl1pPr>
            <a:lvl2pPr marL="12700" lvl="1" indent="0">
              <a:lnSpc>
                <a:spcPct val="115312"/>
              </a:lnSpc>
              <a:spcBef>
                <a:spcPts val="0"/>
              </a:spcBef>
              <a:buNone/>
              <a:defRPr sz="1600" b="1" i="0">
                <a:solidFill>
                  <a:srgbClr val="002060"/>
                </a:solidFill>
                <a:latin typeface="Times New Roman"/>
                <a:ea typeface="Times New Roman"/>
                <a:cs typeface="Times New Roman"/>
                <a:sym typeface="Times New Roman"/>
              </a:defRPr>
            </a:lvl2pPr>
            <a:lvl3pPr marL="12700" lvl="2" indent="0">
              <a:lnSpc>
                <a:spcPct val="115312"/>
              </a:lnSpc>
              <a:spcBef>
                <a:spcPts val="0"/>
              </a:spcBef>
              <a:buNone/>
              <a:defRPr sz="1600" b="1" i="0">
                <a:solidFill>
                  <a:srgbClr val="002060"/>
                </a:solidFill>
                <a:latin typeface="Times New Roman"/>
                <a:ea typeface="Times New Roman"/>
                <a:cs typeface="Times New Roman"/>
                <a:sym typeface="Times New Roman"/>
              </a:defRPr>
            </a:lvl3pPr>
            <a:lvl4pPr marL="12700" lvl="3" indent="0">
              <a:lnSpc>
                <a:spcPct val="115312"/>
              </a:lnSpc>
              <a:spcBef>
                <a:spcPts val="0"/>
              </a:spcBef>
              <a:buNone/>
              <a:defRPr sz="1600" b="1" i="0">
                <a:solidFill>
                  <a:srgbClr val="002060"/>
                </a:solidFill>
                <a:latin typeface="Times New Roman"/>
                <a:ea typeface="Times New Roman"/>
                <a:cs typeface="Times New Roman"/>
                <a:sym typeface="Times New Roman"/>
              </a:defRPr>
            </a:lvl4pPr>
            <a:lvl5pPr marL="12700" lvl="4" indent="0">
              <a:lnSpc>
                <a:spcPct val="115312"/>
              </a:lnSpc>
              <a:spcBef>
                <a:spcPts val="0"/>
              </a:spcBef>
              <a:buNone/>
              <a:defRPr sz="1600" b="1" i="0">
                <a:solidFill>
                  <a:srgbClr val="002060"/>
                </a:solidFill>
                <a:latin typeface="Times New Roman"/>
                <a:ea typeface="Times New Roman"/>
                <a:cs typeface="Times New Roman"/>
                <a:sym typeface="Times New Roman"/>
              </a:defRPr>
            </a:lvl5pPr>
            <a:lvl6pPr marL="12700" lvl="5" indent="0">
              <a:lnSpc>
                <a:spcPct val="115312"/>
              </a:lnSpc>
              <a:spcBef>
                <a:spcPts val="0"/>
              </a:spcBef>
              <a:buNone/>
              <a:defRPr sz="1600" b="1" i="0">
                <a:solidFill>
                  <a:srgbClr val="002060"/>
                </a:solidFill>
                <a:latin typeface="Times New Roman"/>
                <a:ea typeface="Times New Roman"/>
                <a:cs typeface="Times New Roman"/>
                <a:sym typeface="Times New Roman"/>
              </a:defRPr>
            </a:lvl6pPr>
            <a:lvl7pPr marL="12700" lvl="6" indent="0">
              <a:lnSpc>
                <a:spcPct val="115312"/>
              </a:lnSpc>
              <a:spcBef>
                <a:spcPts val="0"/>
              </a:spcBef>
              <a:buNone/>
              <a:defRPr sz="1600" b="1" i="0">
                <a:solidFill>
                  <a:srgbClr val="002060"/>
                </a:solidFill>
                <a:latin typeface="Times New Roman"/>
                <a:ea typeface="Times New Roman"/>
                <a:cs typeface="Times New Roman"/>
                <a:sym typeface="Times New Roman"/>
              </a:defRPr>
            </a:lvl7pPr>
            <a:lvl8pPr marL="12700" lvl="7" indent="0">
              <a:lnSpc>
                <a:spcPct val="115312"/>
              </a:lnSpc>
              <a:spcBef>
                <a:spcPts val="0"/>
              </a:spcBef>
              <a:buNone/>
              <a:defRPr sz="1600" b="1" i="0">
                <a:solidFill>
                  <a:srgbClr val="002060"/>
                </a:solidFill>
                <a:latin typeface="Times New Roman"/>
                <a:ea typeface="Times New Roman"/>
                <a:cs typeface="Times New Roman"/>
                <a:sym typeface="Times New Roman"/>
              </a:defRPr>
            </a:lvl8pPr>
            <a:lvl9pPr marL="12700" lvl="8" indent="0">
              <a:lnSpc>
                <a:spcPct val="115312"/>
              </a:lnSpc>
              <a:spcBef>
                <a:spcPts val="0"/>
              </a:spcBef>
              <a:buNone/>
              <a:defRPr sz="1600" b="1" i="0">
                <a:solidFill>
                  <a:srgbClr val="002060"/>
                </a:solidFill>
                <a:latin typeface="Times New Roman"/>
                <a:ea typeface="Times New Roman"/>
                <a:cs typeface="Times New Roman"/>
                <a:sym typeface="Times New Roman"/>
              </a:defRPr>
            </a:lvl9pPr>
          </a:lstStyle>
          <a:p>
            <a:pPr marL="1270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ieeexplore.ieee.org/document/10818658"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52"/>
        <p:cNvGrpSpPr/>
        <p:nvPr/>
      </p:nvGrpSpPr>
      <p:grpSpPr>
        <a:xfrm>
          <a:off x="0" y="0"/>
          <a:ext cx="0" cy="0"/>
          <a:chOff x="0" y="0"/>
          <a:chExt cx="0" cy="0"/>
        </a:xfrm>
      </p:grpSpPr>
      <p:grpSp>
        <p:nvGrpSpPr>
          <p:cNvPr id="53" name="Google Shape;53;p7"/>
          <p:cNvGrpSpPr/>
          <p:nvPr/>
        </p:nvGrpSpPr>
        <p:grpSpPr>
          <a:xfrm>
            <a:off x="777238" y="6634572"/>
            <a:ext cx="11415108" cy="223427"/>
            <a:chOff x="777238" y="6634572"/>
            <a:chExt cx="11415108" cy="223427"/>
          </a:xfrm>
        </p:grpSpPr>
        <p:sp>
          <p:nvSpPr>
            <p:cNvPr id="54" name="Google Shape;54;p7"/>
            <p:cNvSpPr/>
            <p:nvPr/>
          </p:nvSpPr>
          <p:spPr>
            <a:xfrm>
              <a:off x="777238" y="6634572"/>
              <a:ext cx="5782310" cy="220979"/>
            </a:xfrm>
            <a:custGeom>
              <a:avLst/>
              <a:gdLst/>
              <a:ahLst/>
              <a:cxnLst/>
              <a:rect l="l" t="t" r="r" b="b"/>
              <a:pathLst>
                <a:path w="5782309" h="220979" extrusionOk="0">
                  <a:moveTo>
                    <a:pt x="5781821" y="220979"/>
                  </a:moveTo>
                  <a:lnTo>
                    <a:pt x="0" y="220979"/>
                  </a:lnTo>
                  <a:lnTo>
                    <a:pt x="0" y="0"/>
                  </a:lnTo>
                  <a:lnTo>
                    <a:pt x="5781821" y="0"/>
                  </a:lnTo>
                  <a:lnTo>
                    <a:pt x="5781821" y="220979"/>
                  </a:lnTo>
                  <a:close/>
                </a:path>
              </a:pathLst>
            </a:custGeom>
            <a:solidFill>
              <a:srgbClr val="00206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5" name="Google Shape;55;p7"/>
            <p:cNvSpPr/>
            <p:nvPr/>
          </p:nvSpPr>
          <p:spPr>
            <a:xfrm>
              <a:off x="6559061" y="6634572"/>
              <a:ext cx="5195570" cy="220979"/>
            </a:xfrm>
            <a:custGeom>
              <a:avLst/>
              <a:gdLst/>
              <a:ahLst/>
              <a:cxnLst/>
              <a:rect l="l" t="t" r="r" b="b"/>
              <a:pathLst>
                <a:path w="5195570" h="220979" extrusionOk="0">
                  <a:moveTo>
                    <a:pt x="5195133" y="220979"/>
                  </a:moveTo>
                  <a:lnTo>
                    <a:pt x="0" y="220979"/>
                  </a:lnTo>
                  <a:lnTo>
                    <a:pt x="0" y="0"/>
                  </a:lnTo>
                  <a:lnTo>
                    <a:pt x="5195133" y="0"/>
                  </a:lnTo>
                  <a:lnTo>
                    <a:pt x="5195133" y="220979"/>
                  </a:lnTo>
                  <a:close/>
                </a:path>
              </a:pathLst>
            </a:custGeom>
            <a:solidFill>
              <a:srgbClr val="00808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6" name="Google Shape;56;p7"/>
            <p:cNvSpPr/>
            <p:nvPr/>
          </p:nvSpPr>
          <p:spPr>
            <a:xfrm>
              <a:off x="11754196" y="6637020"/>
              <a:ext cx="438150" cy="220979"/>
            </a:xfrm>
            <a:custGeom>
              <a:avLst/>
              <a:gdLst/>
              <a:ahLst/>
              <a:cxnLst/>
              <a:rect l="l" t="t" r="r" b="b"/>
              <a:pathLst>
                <a:path w="438150" h="220979" extrusionOk="0">
                  <a:moveTo>
                    <a:pt x="437803" y="220979"/>
                  </a:moveTo>
                  <a:lnTo>
                    <a:pt x="0" y="220979"/>
                  </a:lnTo>
                  <a:lnTo>
                    <a:pt x="0" y="0"/>
                  </a:lnTo>
                  <a:lnTo>
                    <a:pt x="437803" y="0"/>
                  </a:lnTo>
                  <a:lnTo>
                    <a:pt x="437803" y="220979"/>
                  </a:lnTo>
                  <a:close/>
                </a:path>
              </a:pathLst>
            </a:custGeom>
            <a:solidFill>
              <a:srgbClr val="FFC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57" name="Google Shape;57;p7"/>
          <p:cNvSpPr/>
          <p:nvPr/>
        </p:nvSpPr>
        <p:spPr>
          <a:xfrm>
            <a:off x="-1" y="-1"/>
            <a:ext cx="12192000" cy="233045"/>
          </a:xfrm>
          <a:custGeom>
            <a:avLst/>
            <a:gdLst/>
            <a:ahLst/>
            <a:cxnLst/>
            <a:rect l="l" t="t" r="r" b="b"/>
            <a:pathLst>
              <a:path w="12192000" h="233045" extrusionOk="0">
                <a:moveTo>
                  <a:pt x="12191998" y="232758"/>
                </a:moveTo>
                <a:lnTo>
                  <a:pt x="0" y="232758"/>
                </a:lnTo>
                <a:lnTo>
                  <a:pt x="0" y="0"/>
                </a:lnTo>
                <a:lnTo>
                  <a:pt x="12191998" y="0"/>
                </a:lnTo>
                <a:lnTo>
                  <a:pt x="12191998" y="232758"/>
                </a:lnTo>
                <a:close/>
              </a:path>
            </a:pathLst>
          </a:custGeom>
          <a:solidFill>
            <a:srgbClr val="00666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8" name="Google Shape;58;p7"/>
          <p:cNvSpPr/>
          <p:nvPr/>
        </p:nvSpPr>
        <p:spPr>
          <a:xfrm>
            <a:off x="0" y="6634572"/>
            <a:ext cx="777240" cy="221615"/>
          </a:xfrm>
          <a:custGeom>
            <a:avLst/>
            <a:gdLst/>
            <a:ahLst/>
            <a:cxnLst/>
            <a:rect l="l" t="t" r="r" b="b"/>
            <a:pathLst>
              <a:path w="777240" h="221615" extrusionOk="0">
                <a:moveTo>
                  <a:pt x="777238" y="221522"/>
                </a:moveTo>
                <a:lnTo>
                  <a:pt x="0" y="221522"/>
                </a:lnTo>
                <a:lnTo>
                  <a:pt x="0" y="0"/>
                </a:lnTo>
                <a:lnTo>
                  <a:pt x="777238" y="0"/>
                </a:lnTo>
                <a:lnTo>
                  <a:pt x="777238" y="221522"/>
                </a:lnTo>
                <a:close/>
              </a:path>
            </a:pathLst>
          </a:custGeom>
          <a:solidFill>
            <a:srgbClr val="C55A1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9" name="Google Shape;59;p7"/>
          <p:cNvSpPr txBox="1"/>
          <p:nvPr/>
        </p:nvSpPr>
        <p:spPr>
          <a:xfrm>
            <a:off x="6290867" y="1737539"/>
            <a:ext cx="1990725" cy="564515"/>
          </a:xfrm>
          <a:prstGeom prst="rect">
            <a:avLst/>
          </a:prstGeom>
          <a:noFill/>
          <a:ln>
            <a:noFill/>
          </a:ln>
        </p:spPr>
        <p:txBody>
          <a:bodyPr spcFirstLastPara="1" wrap="square" lIns="0" tIns="13325" rIns="0" bIns="0" anchor="t" anchorCtr="0">
            <a:spAutoFit/>
          </a:bodyPr>
          <a:lstStyle/>
          <a:p>
            <a:pPr marL="0" lvl="0" indent="0" algn="ctr" rtl="0">
              <a:lnSpc>
                <a:spcPct val="100000"/>
              </a:lnSpc>
              <a:spcBef>
                <a:spcPts val="0"/>
              </a:spcBef>
              <a:spcAft>
                <a:spcPts val="0"/>
              </a:spcAft>
              <a:buNone/>
            </a:pPr>
            <a:r>
              <a:rPr lang="en-US" sz="2400" dirty="0">
                <a:latin typeface="Times New Roman"/>
                <a:ea typeface="Times New Roman"/>
                <a:cs typeface="Times New Roman"/>
                <a:sym typeface="Times New Roman"/>
              </a:rPr>
              <a:t>Om Pradeep P</a:t>
            </a:r>
            <a:endParaRPr sz="2400" dirty="0">
              <a:latin typeface="Times New Roman"/>
              <a:ea typeface="Times New Roman"/>
              <a:cs typeface="Times New Roman"/>
              <a:sym typeface="Times New Roman"/>
            </a:endParaRPr>
          </a:p>
          <a:p>
            <a:pPr marL="1905" lvl="0" algn="ctr">
              <a:spcBef>
                <a:spcPts val="35"/>
              </a:spcBef>
            </a:pPr>
            <a:r>
              <a:rPr lang="en-US" sz="1100" dirty="0">
                <a:latin typeface="Times New Roman"/>
                <a:ea typeface="Times New Roman"/>
                <a:cs typeface="Times New Roman"/>
                <a:sym typeface="Times New Roman"/>
              </a:rPr>
              <a:t>Roll No. 224G1A3365</a:t>
            </a:r>
            <a:endParaRPr sz="1100" dirty="0">
              <a:latin typeface="Times New Roman"/>
              <a:ea typeface="Times New Roman"/>
              <a:cs typeface="Times New Roman"/>
              <a:sym typeface="Times New Roman"/>
            </a:endParaRPr>
          </a:p>
        </p:txBody>
      </p:sp>
      <p:sp>
        <p:nvSpPr>
          <p:cNvPr id="60" name="Google Shape;60;p7"/>
          <p:cNvSpPr txBox="1"/>
          <p:nvPr/>
        </p:nvSpPr>
        <p:spPr>
          <a:xfrm>
            <a:off x="4650603" y="2415627"/>
            <a:ext cx="3280528" cy="759818"/>
          </a:xfrm>
          <a:prstGeom prst="rect">
            <a:avLst/>
          </a:prstGeom>
          <a:noFill/>
          <a:ln>
            <a:noFill/>
          </a:ln>
        </p:spPr>
        <p:txBody>
          <a:bodyPr spcFirstLastPara="1" wrap="square" lIns="0" tIns="71750" rIns="0" bIns="0" anchor="t" anchorCtr="0">
            <a:spAutoFit/>
          </a:bodyPr>
          <a:lstStyle/>
          <a:p>
            <a:pPr marL="0" lvl="0" indent="0" algn="ctr" rtl="0">
              <a:lnSpc>
                <a:spcPct val="100000"/>
              </a:lnSpc>
              <a:spcBef>
                <a:spcPts val="0"/>
              </a:spcBef>
              <a:spcAft>
                <a:spcPts val="0"/>
              </a:spcAft>
              <a:buNone/>
            </a:pPr>
            <a:r>
              <a:rPr lang="en-US" sz="1400" i="1" dirty="0">
                <a:latin typeface="Times New Roman"/>
                <a:ea typeface="Times New Roman"/>
                <a:cs typeface="Times New Roman"/>
                <a:sym typeface="Times New Roman"/>
              </a:rPr>
              <a:t>Under the guidance of</a:t>
            </a:r>
            <a:endParaRPr sz="1400" dirty="0">
              <a:latin typeface="Times New Roman"/>
              <a:ea typeface="Times New Roman"/>
              <a:cs typeface="Times New Roman"/>
              <a:sym typeface="Times New Roman"/>
            </a:endParaRPr>
          </a:p>
          <a:p>
            <a:pPr marL="0" lvl="0" indent="0" algn="ctr" rtl="0">
              <a:lnSpc>
                <a:spcPct val="100000"/>
              </a:lnSpc>
              <a:spcBef>
                <a:spcPts val="795"/>
              </a:spcBef>
              <a:spcAft>
                <a:spcPts val="0"/>
              </a:spcAft>
              <a:buNone/>
            </a:pPr>
            <a:r>
              <a:rPr lang="en-US" sz="3600" baseline="30000" dirty="0">
                <a:latin typeface="Times New Roman"/>
                <a:ea typeface="Times New Roman"/>
                <a:cs typeface="Times New Roman"/>
                <a:sym typeface="Times New Roman"/>
              </a:rPr>
              <a:t>Mr. A. Kiran </a:t>
            </a:r>
            <a:r>
              <a:rPr lang="en-US" sz="3600" baseline="30000" dirty="0" err="1">
                <a:latin typeface="Times New Roman"/>
                <a:ea typeface="Times New Roman"/>
                <a:cs typeface="Times New Roman"/>
                <a:sym typeface="Times New Roman"/>
              </a:rPr>
              <a:t>Kumar</a:t>
            </a:r>
            <a:r>
              <a:rPr lang="en-US" sz="1600" dirty="0" err="1">
                <a:latin typeface="Times New Roman"/>
                <a:ea typeface="Times New Roman"/>
                <a:cs typeface="Times New Roman"/>
                <a:sym typeface="Times New Roman"/>
              </a:rPr>
              <a:t>M</a:t>
            </a:r>
            <a:r>
              <a:rPr lang="en-US" sz="1600" dirty="0">
                <a:latin typeface="Times New Roman"/>
                <a:ea typeface="Times New Roman"/>
                <a:cs typeface="Times New Roman"/>
                <a:sym typeface="Times New Roman"/>
              </a:rPr>
              <a:t>. Tech.</a:t>
            </a:r>
            <a:endParaRPr sz="1600" dirty="0">
              <a:latin typeface="Times New Roman"/>
              <a:ea typeface="Times New Roman"/>
              <a:cs typeface="Times New Roman"/>
              <a:sym typeface="Times New Roman"/>
            </a:endParaRPr>
          </a:p>
        </p:txBody>
      </p:sp>
      <p:sp>
        <p:nvSpPr>
          <p:cNvPr id="61" name="Google Shape;61;p7"/>
          <p:cNvSpPr txBox="1"/>
          <p:nvPr/>
        </p:nvSpPr>
        <p:spPr>
          <a:xfrm>
            <a:off x="5397142" y="3124712"/>
            <a:ext cx="1392555" cy="2387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400" dirty="0">
                <a:latin typeface="Times New Roman"/>
                <a:ea typeface="Times New Roman"/>
                <a:cs typeface="Times New Roman"/>
                <a:sym typeface="Times New Roman"/>
              </a:rPr>
              <a:t>Assistant Professor</a:t>
            </a:r>
            <a:endParaRPr sz="1400" dirty="0">
              <a:latin typeface="Times New Roman"/>
              <a:ea typeface="Times New Roman"/>
              <a:cs typeface="Times New Roman"/>
              <a:sym typeface="Times New Roman"/>
            </a:endParaRPr>
          </a:p>
        </p:txBody>
      </p:sp>
      <p:sp>
        <p:nvSpPr>
          <p:cNvPr id="62" name="Google Shape;62;p7"/>
          <p:cNvSpPr txBox="1"/>
          <p:nvPr/>
        </p:nvSpPr>
        <p:spPr>
          <a:xfrm>
            <a:off x="2709823" y="5109203"/>
            <a:ext cx="6767195" cy="1220470"/>
          </a:xfrm>
          <a:prstGeom prst="rect">
            <a:avLst/>
          </a:prstGeom>
          <a:noFill/>
          <a:ln>
            <a:noFill/>
          </a:ln>
        </p:spPr>
        <p:txBody>
          <a:bodyPr spcFirstLastPara="1" wrap="square" lIns="0" tIns="17775" rIns="0" bIns="0" anchor="t" anchorCtr="0">
            <a:spAutoFit/>
          </a:bodyPr>
          <a:lstStyle/>
          <a:p>
            <a:pPr marL="4445" lvl="0" indent="0" algn="ctr" rtl="0">
              <a:lnSpc>
                <a:spcPct val="106756"/>
              </a:lnSpc>
              <a:spcBef>
                <a:spcPts val="0"/>
              </a:spcBef>
              <a:spcAft>
                <a:spcPts val="0"/>
              </a:spcAft>
              <a:buNone/>
            </a:pPr>
            <a:r>
              <a:rPr lang="en-US" sz="1850">
                <a:latin typeface="Times New Roman"/>
                <a:ea typeface="Times New Roman"/>
                <a:cs typeface="Times New Roman"/>
                <a:sym typeface="Times New Roman"/>
              </a:rPr>
              <a:t>Department of Computer Science and Engineering (AI &amp; ML)</a:t>
            </a:r>
            <a:endParaRPr sz="1850">
              <a:latin typeface="Times New Roman"/>
              <a:ea typeface="Times New Roman"/>
              <a:cs typeface="Times New Roman"/>
              <a:sym typeface="Times New Roman"/>
            </a:endParaRPr>
          </a:p>
          <a:p>
            <a:pPr marL="0" lvl="0" indent="0" algn="ctr" rtl="0">
              <a:lnSpc>
                <a:spcPct val="109827"/>
              </a:lnSpc>
              <a:spcBef>
                <a:spcPts val="0"/>
              </a:spcBef>
              <a:spcAft>
                <a:spcPts val="0"/>
              </a:spcAft>
              <a:buNone/>
            </a:pPr>
            <a:r>
              <a:rPr lang="en-US" sz="2900">
                <a:solidFill>
                  <a:srgbClr val="FF0000"/>
                </a:solidFill>
                <a:latin typeface="Times New Roman"/>
                <a:ea typeface="Times New Roman"/>
                <a:cs typeface="Times New Roman"/>
                <a:sym typeface="Times New Roman"/>
              </a:rPr>
              <a:t>Srinivasa Ramanujan Institute of Technology</a:t>
            </a:r>
            <a:endParaRPr sz="2900">
              <a:latin typeface="Times New Roman"/>
              <a:ea typeface="Times New Roman"/>
              <a:cs typeface="Times New Roman"/>
              <a:sym typeface="Times New Roman"/>
            </a:endParaRPr>
          </a:p>
          <a:p>
            <a:pPr marL="6985" lvl="0" indent="0" algn="ctr" rtl="0">
              <a:lnSpc>
                <a:spcPct val="112631"/>
              </a:lnSpc>
              <a:spcBef>
                <a:spcPts val="0"/>
              </a:spcBef>
              <a:spcAft>
                <a:spcPts val="0"/>
              </a:spcAft>
              <a:buNone/>
            </a:pPr>
            <a:r>
              <a:rPr lang="en-US" sz="950" b="1">
                <a:latin typeface="Times New Roman"/>
                <a:ea typeface="Times New Roman"/>
                <a:cs typeface="Times New Roman"/>
                <a:sym typeface="Times New Roman"/>
              </a:rPr>
              <a:t>(Affiliated to JNTUA &amp; Approved by AICTE) (Accredited by NAAC with ‘A’ Grade &amp; Accredited by NBA (EEE, ECE &amp; CSE)</a:t>
            </a:r>
            <a:endParaRPr sz="950">
              <a:latin typeface="Times New Roman"/>
              <a:ea typeface="Times New Roman"/>
              <a:cs typeface="Times New Roman"/>
              <a:sym typeface="Times New Roman"/>
            </a:endParaRPr>
          </a:p>
          <a:p>
            <a:pPr marL="5715" lvl="0" indent="0" algn="ctr" rtl="0">
              <a:lnSpc>
                <a:spcPct val="117999"/>
              </a:lnSpc>
              <a:spcBef>
                <a:spcPts val="0"/>
              </a:spcBef>
              <a:spcAft>
                <a:spcPts val="0"/>
              </a:spcAft>
              <a:buNone/>
            </a:pPr>
            <a:r>
              <a:rPr lang="en-US" sz="1000" b="1">
                <a:latin typeface="Times New Roman"/>
                <a:ea typeface="Times New Roman"/>
                <a:cs typeface="Times New Roman"/>
                <a:sym typeface="Times New Roman"/>
              </a:rPr>
              <a:t>Rotarypuram Village, B K Samudram Mandal, Ananthapuramu – 515701.</a:t>
            </a:r>
            <a:endParaRPr sz="1000">
              <a:latin typeface="Times New Roman"/>
              <a:ea typeface="Times New Roman"/>
              <a:cs typeface="Times New Roman"/>
              <a:sym typeface="Times New Roman"/>
            </a:endParaRPr>
          </a:p>
          <a:p>
            <a:pPr marL="5080" lvl="0" indent="0" algn="ctr" rtl="0">
              <a:lnSpc>
                <a:spcPct val="100000"/>
              </a:lnSpc>
              <a:spcBef>
                <a:spcPts val="630"/>
              </a:spcBef>
              <a:spcAft>
                <a:spcPts val="0"/>
              </a:spcAft>
              <a:buNone/>
            </a:pPr>
            <a:r>
              <a:rPr lang="en-US" sz="1100" b="1">
                <a:solidFill>
                  <a:srgbClr val="1E4E78"/>
                </a:solidFill>
                <a:latin typeface="Times New Roman"/>
                <a:ea typeface="Times New Roman"/>
                <a:cs typeface="Times New Roman"/>
                <a:sym typeface="Times New Roman"/>
              </a:rPr>
              <a:t>2025 - 2026</a:t>
            </a:r>
            <a:endParaRPr sz="1100">
              <a:latin typeface="Times New Roman"/>
              <a:ea typeface="Times New Roman"/>
              <a:cs typeface="Times New Roman"/>
              <a:sym typeface="Times New Roman"/>
            </a:endParaRPr>
          </a:p>
        </p:txBody>
      </p:sp>
      <p:sp>
        <p:nvSpPr>
          <p:cNvPr id="63" name="Google Shape;63;p7"/>
          <p:cNvSpPr txBox="1"/>
          <p:nvPr/>
        </p:nvSpPr>
        <p:spPr>
          <a:xfrm>
            <a:off x="3769260" y="1737539"/>
            <a:ext cx="1990725" cy="564515"/>
          </a:xfrm>
          <a:prstGeom prst="rect">
            <a:avLst/>
          </a:prstGeom>
          <a:noFill/>
          <a:ln>
            <a:noFill/>
          </a:ln>
        </p:spPr>
        <p:txBody>
          <a:bodyPr spcFirstLastPara="1" wrap="square" lIns="0" tIns="13325" rIns="0" bIns="0" anchor="t" anchorCtr="0">
            <a:spAutoFit/>
          </a:bodyPr>
          <a:lstStyle/>
          <a:p>
            <a:pPr marL="0" lvl="0" indent="0" algn="ctr" rtl="0">
              <a:lnSpc>
                <a:spcPct val="100000"/>
              </a:lnSpc>
              <a:spcBef>
                <a:spcPts val="0"/>
              </a:spcBef>
              <a:spcAft>
                <a:spcPts val="0"/>
              </a:spcAft>
              <a:buNone/>
            </a:pPr>
            <a:r>
              <a:rPr lang="en-US" sz="2400" dirty="0">
                <a:latin typeface="Times New Roman"/>
                <a:ea typeface="Times New Roman"/>
                <a:cs typeface="Times New Roman"/>
                <a:sym typeface="Times New Roman"/>
              </a:rPr>
              <a:t>Shaik Aliya</a:t>
            </a:r>
            <a:endParaRPr sz="2400" dirty="0">
              <a:latin typeface="Times New Roman"/>
              <a:ea typeface="Times New Roman"/>
              <a:cs typeface="Times New Roman"/>
              <a:sym typeface="Times New Roman"/>
            </a:endParaRPr>
          </a:p>
          <a:p>
            <a:pPr marL="1905" lvl="0" algn="ctr">
              <a:spcBef>
                <a:spcPts val="35"/>
              </a:spcBef>
            </a:pPr>
            <a:r>
              <a:rPr lang="en-US" sz="1100" dirty="0">
                <a:latin typeface="Times New Roman"/>
                <a:ea typeface="Times New Roman"/>
                <a:cs typeface="Times New Roman"/>
                <a:sym typeface="Times New Roman"/>
              </a:rPr>
              <a:t>Roll No. 224G1A3303</a:t>
            </a:r>
            <a:endParaRPr sz="1100" dirty="0">
              <a:latin typeface="Times New Roman"/>
              <a:ea typeface="Times New Roman"/>
              <a:cs typeface="Times New Roman"/>
              <a:sym typeface="Times New Roman"/>
            </a:endParaRPr>
          </a:p>
        </p:txBody>
      </p:sp>
      <p:sp>
        <p:nvSpPr>
          <p:cNvPr id="64" name="Google Shape;64;p7"/>
          <p:cNvSpPr txBox="1"/>
          <p:nvPr/>
        </p:nvSpPr>
        <p:spPr>
          <a:xfrm>
            <a:off x="8812474" y="1737539"/>
            <a:ext cx="1990725" cy="564515"/>
          </a:xfrm>
          <a:prstGeom prst="rect">
            <a:avLst/>
          </a:prstGeom>
          <a:noFill/>
          <a:ln>
            <a:noFill/>
          </a:ln>
        </p:spPr>
        <p:txBody>
          <a:bodyPr spcFirstLastPara="1" wrap="square" lIns="0" tIns="13325" rIns="0" bIns="0" anchor="t" anchorCtr="0">
            <a:spAutoFit/>
          </a:bodyPr>
          <a:lstStyle/>
          <a:p>
            <a:pPr marL="0" lvl="0" indent="0" algn="ctr" rtl="0">
              <a:lnSpc>
                <a:spcPct val="100000"/>
              </a:lnSpc>
              <a:spcBef>
                <a:spcPts val="0"/>
              </a:spcBef>
              <a:spcAft>
                <a:spcPts val="0"/>
              </a:spcAft>
              <a:buNone/>
            </a:pPr>
            <a:r>
              <a:rPr lang="en-US" sz="2400" dirty="0">
                <a:latin typeface="Times New Roman"/>
                <a:ea typeface="Times New Roman"/>
                <a:cs typeface="Times New Roman"/>
                <a:sym typeface="Times New Roman"/>
              </a:rPr>
              <a:t>Neeraj G</a:t>
            </a:r>
            <a:endParaRPr sz="2400" dirty="0">
              <a:latin typeface="Times New Roman"/>
              <a:ea typeface="Times New Roman"/>
              <a:cs typeface="Times New Roman"/>
              <a:sym typeface="Times New Roman"/>
            </a:endParaRPr>
          </a:p>
          <a:p>
            <a:pPr marL="1905" lvl="0" algn="ctr">
              <a:spcBef>
                <a:spcPts val="35"/>
              </a:spcBef>
            </a:pPr>
            <a:r>
              <a:rPr lang="en-US" sz="1100" dirty="0">
                <a:latin typeface="Times New Roman"/>
                <a:ea typeface="Times New Roman"/>
                <a:cs typeface="Times New Roman"/>
                <a:sym typeface="Times New Roman"/>
              </a:rPr>
              <a:t>Roll No. 224G1A3362</a:t>
            </a:r>
            <a:endParaRPr sz="1100" dirty="0">
              <a:latin typeface="Times New Roman"/>
              <a:ea typeface="Times New Roman"/>
              <a:cs typeface="Times New Roman"/>
              <a:sym typeface="Times New Roman"/>
            </a:endParaRPr>
          </a:p>
        </p:txBody>
      </p:sp>
      <p:sp>
        <p:nvSpPr>
          <p:cNvPr id="65" name="Google Shape;65;p7"/>
          <p:cNvSpPr txBox="1"/>
          <p:nvPr/>
        </p:nvSpPr>
        <p:spPr>
          <a:xfrm>
            <a:off x="1386336" y="1737539"/>
            <a:ext cx="1990725" cy="552064"/>
          </a:xfrm>
          <a:prstGeom prst="rect">
            <a:avLst/>
          </a:prstGeom>
          <a:noFill/>
          <a:ln>
            <a:noFill/>
          </a:ln>
        </p:spPr>
        <p:txBody>
          <a:bodyPr spcFirstLastPara="1" wrap="square" lIns="0" tIns="13325" rIns="0" bIns="0" anchor="t" anchorCtr="0">
            <a:spAutoFit/>
          </a:bodyPr>
          <a:lstStyle/>
          <a:p>
            <a:pPr marL="0" lvl="0" indent="0" algn="ctr" rtl="0">
              <a:lnSpc>
                <a:spcPct val="100000"/>
              </a:lnSpc>
              <a:spcBef>
                <a:spcPts val="0"/>
              </a:spcBef>
              <a:spcAft>
                <a:spcPts val="0"/>
              </a:spcAft>
              <a:buNone/>
            </a:pPr>
            <a:r>
              <a:rPr lang="en-US" sz="2400" dirty="0">
                <a:latin typeface="Times New Roman"/>
                <a:ea typeface="Times New Roman"/>
                <a:cs typeface="Times New Roman"/>
                <a:sym typeface="Times New Roman"/>
              </a:rPr>
              <a:t>Harshith Raj P</a:t>
            </a:r>
            <a:endParaRPr sz="2400" dirty="0">
              <a:latin typeface="Times New Roman"/>
              <a:ea typeface="Times New Roman"/>
              <a:cs typeface="Times New Roman"/>
              <a:sym typeface="Times New Roman"/>
            </a:endParaRPr>
          </a:p>
          <a:p>
            <a:pPr marL="1905" lvl="0" indent="0" algn="ctr" rtl="0">
              <a:lnSpc>
                <a:spcPct val="100000"/>
              </a:lnSpc>
              <a:spcBef>
                <a:spcPts val="35"/>
              </a:spcBef>
              <a:spcAft>
                <a:spcPts val="0"/>
              </a:spcAft>
              <a:buNone/>
            </a:pPr>
            <a:r>
              <a:rPr lang="en-US" sz="1100" dirty="0">
                <a:latin typeface="Times New Roman"/>
                <a:ea typeface="Times New Roman"/>
                <a:cs typeface="Times New Roman"/>
                <a:sym typeface="Times New Roman"/>
              </a:rPr>
              <a:t>Roll No. 224G1A3327</a:t>
            </a:r>
            <a:endParaRPr sz="1100" dirty="0">
              <a:latin typeface="Times New Roman"/>
              <a:ea typeface="Times New Roman"/>
              <a:cs typeface="Times New Roman"/>
              <a:sym typeface="Times New Roman"/>
            </a:endParaRPr>
          </a:p>
        </p:txBody>
      </p:sp>
      <p:grpSp>
        <p:nvGrpSpPr>
          <p:cNvPr id="66" name="Google Shape;66;p7"/>
          <p:cNvGrpSpPr/>
          <p:nvPr/>
        </p:nvGrpSpPr>
        <p:grpSpPr>
          <a:xfrm>
            <a:off x="697859" y="297171"/>
            <a:ext cx="10642482" cy="972164"/>
            <a:chOff x="697859" y="297171"/>
            <a:chExt cx="10642482" cy="972164"/>
          </a:xfrm>
        </p:grpSpPr>
        <p:pic>
          <p:nvPicPr>
            <p:cNvPr id="67" name="Google Shape;67;p7"/>
            <p:cNvPicPr preferRelativeResize="0"/>
            <p:nvPr/>
          </p:nvPicPr>
          <p:blipFill rotWithShape="1">
            <a:blip r:embed="rId3">
              <a:alphaModFix/>
            </a:blip>
            <a:srcRect/>
            <a:stretch/>
          </p:blipFill>
          <p:spPr>
            <a:xfrm>
              <a:off x="697859" y="297171"/>
              <a:ext cx="10642482" cy="972164"/>
            </a:xfrm>
            <a:prstGeom prst="rect">
              <a:avLst/>
            </a:prstGeom>
            <a:noFill/>
            <a:ln>
              <a:noFill/>
            </a:ln>
          </p:spPr>
        </p:pic>
        <p:sp>
          <p:nvSpPr>
            <p:cNvPr id="68" name="Google Shape;68;p7"/>
            <p:cNvSpPr/>
            <p:nvPr/>
          </p:nvSpPr>
          <p:spPr>
            <a:xfrm>
              <a:off x="755008" y="335270"/>
              <a:ext cx="10528300" cy="857885"/>
            </a:xfrm>
            <a:custGeom>
              <a:avLst/>
              <a:gdLst/>
              <a:ahLst/>
              <a:cxnLst/>
              <a:rect l="l" t="t" r="r" b="b"/>
              <a:pathLst>
                <a:path w="10528300" h="857885" extrusionOk="0">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69" name="Google Shape;69;p7"/>
          <p:cNvSpPr txBox="1">
            <a:spLocks noGrp="1"/>
          </p:cNvSpPr>
          <p:nvPr>
            <p:ph type="title"/>
          </p:nvPr>
        </p:nvSpPr>
        <p:spPr>
          <a:xfrm>
            <a:off x="74885" y="595654"/>
            <a:ext cx="11888430" cy="397545"/>
          </a:xfrm>
          <a:prstGeom prst="rect">
            <a:avLst/>
          </a:prstGeom>
          <a:noFill/>
          <a:ln>
            <a:noFill/>
          </a:ln>
        </p:spPr>
        <p:txBody>
          <a:bodyPr spcFirstLastPara="1" wrap="square" lIns="0" tIns="12700" rIns="0" bIns="0" anchor="t" anchorCtr="0">
            <a:spAutoFit/>
          </a:bodyPr>
          <a:lstStyle/>
          <a:p>
            <a:pPr marL="12700" lvl="0" algn="ctr"/>
            <a:r>
              <a:rPr lang="en-IN" sz="2500" dirty="0"/>
              <a:t>Real-Time Pedestrian Detection in Autonomous Systems using Deep Learning</a:t>
            </a:r>
            <a:endParaRPr sz="2500" dirty="0"/>
          </a:p>
        </p:txBody>
      </p:sp>
      <p:sp>
        <p:nvSpPr>
          <p:cNvPr id="70" name="Google Shape;70;p7"/>
          <p:cNvSpPr txBox="1"/>
          <p:nvPr/>
        </p:nvSpPr>
        <p:spPr>
          <a:xfrm>
            <a:off x="5987420" y="1278968"/>
            <a:ext cx="217170" cy="2692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600" i="1">
                <a:latin typeface="Times New Roman"/>
                <a:ea typeface="Times New Roman"/>
                <a:cs typeface="Times New Roman"/>
                <a:sym typeface="Times New Roman"/>
              </a:rPr>
              <a:t>by</a:t>
            </a:r>
            <a:endParaRPr sz="1600">
              <a:latin typeface="Times New Roman"/>
              <a:ea typeface="Times New Roman"/>
              <a:cs typeface="Times New Roman"/>
              <a:sym typeface="Times New Roman"/>
            </a:endParaRPr>
          </a:p>
        </p:txBody>
      </p:sp>
      <p:pic>
        <p:nvPicPr>
          <p:cNvPr id="71" name="Google Shape;71;p7"/>
          <p:cNvPicPr preferRelativeResize="0"/>
          <p:nvPr/>
        </p:nvPicPr>
        <p:blipFill rotWithShape="1">
          <a:blip r:embed="rId4">
            <a:alphaModFix/>
          </a:blip>
          <a:srcRect/>
          <a:stretch/>
        </p:blipFill>
        <p:spPr>
          <a:xfrm>
            <a:off x="5342105" y="3477045"/>
            <a:ext cx="1843672" cy="1685486"/>
          </a:xfrm>
          <a:prstGeom prst="rect">
            <a:avLst/>
          </a:prstGeom>
          <a:noFill/>
          <a:ln>
            <a:noFill/>
          </a:ln>
        </p:spPr>
      </p:pic>
      <p:sp>
        <p:nvSpPr>
          <p:cNvPr id="72" name="Google Shape;72;p7"/>
          <p:cNvSpPr txBox="1">
            <a:spLocks noGrp="1"/>
          </p:cNvSpPr>
          <p:nvPr>
            <p:ph type="dt" idx="10"/>
          </p:nvPr>
        </p:nvSpPr>
        <p:spPr>
          <a:xfrm>
            <a:off x="1367425" y="6611359"/>
            <a:ext cx="5277675"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cap="small" dirty="0"/>
              <a:t>Dept. of Computer Science and Engineering </a:t>
            </a:r>
            <a:r>
              <a:rPr lang="en-US" cap="small"/>
              <a:t>(AI&amp;ML</a:t>
            </a:r>
            <a:r>
              <a:rPr lang="en-US" cap="small" dirty="0"/>
              <a:t>)</a:t>
            </a:r>
            <a:endParaRPr dirty="0"/>
          </a:p>
        </p:txBody>
      </p:sp>
      <p:sp>
        <p:nvSpPr>
          <p:cNvPr id="73" name="Google Shape;73;p7"/>
          <p:cNvSpPr txBox="1"/>
          <p:nvPr/>
        </p:nvSpPr>
        <p:spPr>
          <a:xfrm>
            <a:off x="6645100" y="6571348"/>
            <a:ext cx="6190180" cy="323165"/>
          </a:xfrm>
          <a:prstGeom prst="rect">
            <a:avLst/>
          </a:prstGeom>
          <a:noFill/>
          <a:ln>
            <a:noFill/>
          </a:ln>
        </p:spPr>
        <p:txBody>
          <a:bodyPr spcFirstLastPara="1" wrap="square" lIns="91425" tIns="45700" rIns="91425" bIns="45700" anchor="t" anchorCtr="0">
            <a:spAutoFit/>
          </a:bodyPr>
          <a:lstStyle/>
          <a:p>
            <a:pPr marL="12700" lvl="0" indent="0" algn="l" rtl="0">
              <a:lnSpc>
                <a:spcPct val="102500"/>
              </a:lnSpc>
              <a:spcBef>
                <a:spcPts val="0"/>
              </a:spcBef>
              <a:spcAft>
                <a:spcPts val="0"/>
              </a:spcAft>
              <a:buNone/>
            </a:pPr>
            <a:r>
              <a:rPr lang="en-US" sz="1800" cap="small">
                <a:solidFill>
                  <a:srgbClr val="FFFFFF"/>
                </a:solidFill>
                <a:latin typeface="Times New Roman"/>
                <a:ea typeface="Times New Roman"/>
                <a:cs typeface="Times New Roman"/>
                <a:sym typeface="Times New Roman"/>
              </a:rPr>
              <a:t>Srinivasa Ramanujan Institute of Technology</a:t>
            </a:r>
            <a:endParaRPr sz="18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9"/>
          <p:cNvSpPr txBox="1"/>
          <p:nvPr/>
        </p:nvSpPr>
        <p:spPr>
          <a:xfrm>
            <a:off x="2825755" y="-30231"/>
            <a:ext cx="6540485" cy="2436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IN" sz="1500" b="1" i="1" dirty="0">
                <a:solidFill>
                  <a:srgbClr val="FFFFFF"/>
                </a:solidFill>
                <a:latin typeface="Times New Roman"/>
                <a:ea typeface="Times New Roman"/>
                <a:cs typeface="Times New Roman"/>
                <a:sym typeface="Times New Roman"/>
              </a:rPr>
              <a:t>Real-Time Pedestrian Detection in Autonomous Systems using Deep Learning</a:t>
            </a:r>
            <a:endParaRPr sz="1500" dirty="0">
              <a:latin typeface="Times New Roman"/>
              <a:ea typeface="Times New Roman"/>
              <a:cs typeface="Times New Roman"/>
              <a:sym typeface="Times New Roman"/>
            </a:endParaRPr>
          </a:p>
        </p:txBody>
      </p:sp>
      <p:grpSp>
        <p:nvGrpSpPr>
          <p:cNvPr id="93" name="Google Shape;93;p9"/>
          <p:cNvGrpSpPr/>
          <p:nvPr/>
        </p:nvGrpSpPr>
        <p:grpSpPr>
          <a:xfrm>
            <a:off x="-2" y="216249"/>
            <a:ext cx="12192002" cy="803792"/>
            <a:chOff x="-2" y="216249"/>
            <a:chExt cx="12192002" cy="803792"/>
          </a:xfrm>
        </p:grpSpPr>
        <p:pic>
          <p:nvPicPr>
            <p:cNvPr id="94" name="Google Shape;94;p9"/>
            <p:cNvPicPr preferRelativeResize="0"/>
            <p:nvPr/>
          </p:nvPicPr>
          <p:blipFill rotWithShape="1">
            <a:blip r:embed="rId3">
              <a:alphaModFix/>
            </a:blip>
            <a:srcRect/>
            <a:stretch/>
          </p:blipFill>
          <p:spPr>
            <a:xfrm>
              <a:off x="0" y="216249"/>
              <a:ext cx="12192000" cy="803792"/>
            </a:xfrm>
            <a:prstGeom prst="rect">
              <a:avLst/>
            </a:prstGeom>
            <a:noFill/>
            <a:ln>
              <a:noFill/>
            </a:ln>
          </p:spPr>
        </p:pic>
        <p:sp>
          <p:nvSpPr>
            <p:cNvPr id="95" name="Google Shape;95;p9"/>
            <p:cNvSpPr/>
            <p:nvPr/>
          </p:nvSpPr>
          <p:spPr>
            <a:xfrm>
              <a:off x="-2" y="232759"/>
              <a:ext cx="12192000" cy="715010"/>
            </a:xfrm>
            <a:custGeom>
              <a:avLst/>
              <a:gdLst/>
              <a:ahLst/>
              <a:cxnLst/>
              <a:rect l="l" t="t" r="r" b="b"/>
              <a:pathLst>
                <a:path w="12192000" h="715010" extrusionOk="0">
                  <a:moveTo>
                    <a:pt x="12191999" y="714891"/>
                  </a:moveTo>
                  <a:lnTo>
                    <a:pt x="0" y="714891"/>
                  </a:lnTo>
                  <a:lnTo>
                    <a:pt x="0" y="0"/>
                  </a:lnTo>
                  <a:lnTo>
                    <a:pt x="12191999" y="0"/>
                  </a:lnTo>
                  <a:lnTo>
                    <a:pt x="12191999" y="714891"/>
                  </a:lnTo>
                  <a:close/>
                </a:path>
              </a:pathLst>
            </a:custGeom>
            <a:solidFill>
              <a:srgbClr val="FF66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96" name="Google Shape;96;p9"/>
          <p:cNvSpPr txBox="1">
            <a:spLocks noGrp="1"/>
          </p:cNvSpPr>
          <p:nvPr>
            <p:ph type="title"/>
          </p:nvPr>
        </p:nvSpPr>
        <p:spPr>
          <a:xfrm>
            <a:off x="0" y="127835"/>
            <a:ext cx="3888104"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Contents</a:t>
            </a:r>
            <a:endParaRPr lang="en-US" dirty="0"/>
          </a:p>
        </p:txBody>
      </p:sp>
      <p:sp>
        <p:nvSpPr>
          <p:cNvPr id="97" name="Google Shape;97;p9"/>
          <p:cNvSpPr txBox="1">
            <a:spLocks noGrp="1"/>
          </p:cNvSpPr>
          <p:nvPr>
            <p:ph type="ftr" idx="11"/>
          </p:nvPr>
        </p:nvSpPr>
        <p:spPr>
          <a:xfrm>
            <a:off x="141783" y="6629792"/>
            <a:ext cx="544830"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a:t>A - 12</a:t>
            </a:r>
            <a:endParaRPr lang="en-US" dirty="0"/>
          </a:p>
        </p:txBody>
      </p:sp>
      <p:sp>
        <p:nvSpPr>
          <p:cNvPr id="98" name="Google Shape;98;p9"/>
          <p:cNvSpPr txBox="1">
            <a:spLocks noGrp="1"/>
          </p:cNvSpPr>
          <p:nvPr>
            <p:ph type="dt" idx="10"/>
          </p:nvPr>
        </p:nvSpPr>
        <p:spPr>
          <a:xfrm>
            <a:off x="1123125" y="6629792"/>
            <a:ext cx="4962525"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IN" cap="small"/>
              <a:t>Dept. of Computer Science and Engineering (AI&amp;ML)</a:t>
            </a:r>
            <a:endParaRPr lang="en-IN" dirty="0"/>
          </a:p>
        </p:txBody>
      </p:sp>
      <p:sp>
        <p:nvSpPr>
          <p:cNvPr id="99" name="Google Shape;99;p9"/>
          <p:cNvSpPr txBox="1"/>
          <p:nvPr/>
        </p:nvSpPr>
        <p:spPr>
          <a:xfrm>
            <a:off x="6948225" y="6623124"/>
            <a:ext cx="4434823" cy="228690"/>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sz="1600" cap="small" dirty="0">
                <a:solidFill>
                  <a:srgbClr val="FFFFFF"/>
                </a:solidFill>
                <a:latin typeface="Times New Roman"/>
                <a:ea typeface="Times New Roman"/>
                <a:cs typeface="Times New Roman"/>
                <a:sym typeface="Times New Roman"/>
              </a:rPr>
              <a:t>Srinivasa Ramanujan Institute of Technology</a:t>
            </a:r>
            <a:endParaRPr sz="1600" dirty="0">
              <a:latin typeface="Times New Roman"/>
              <a:ea typeface="Times New Roman"/>
              <a:cs typeface="Times New Roman"/>
              <a:sym typeface="Times New Roman"/>
            </a:endParaRPr>
          </a:p>
        </p:txBody>
      </p:sp>
      <p:sp>
        <p:nvSpPr>
          <p:cNvPr id="101" name="Google Shape;101;p9"/>
          <p:cNvSpPr txBox="1"/>
          <p:nvPr/>
        </p:nvSpPr>
        <p:spPr>
          <a:xfrm>
            <a:off x="325852" y="1108455"/>
            <a:ext cx="2870200" cy="5054600"/>
          </a:xfrm>
          <a:prstGeom prst="rect">
            <a:avLst/>
          </a:prstGeom>
          <a:noFill/>
          <a:ln>
            <a:noFill/>
          </a:ln>
        </p:spPr>
        <p:txBody>
          <a:bodyPr spcFirstLastPara="1" wrap="square" lIns="0" tIns="12700" rIns="0" bIns="0" anchor="t" anchorCtr="0">
            <a:spAutoFit/>
          </a:bodyPr>
          <a:lstStyle/>
          <a:p>
            <a:pPr marL="421005" lvl="0" indent="-408305" algn="l" rtl="0">
              <a:lnSpc>
                <a:spcPct val="100000"/>
              </a:lnSpc>
              <a:spcBef>
                <a:spcPts val="0"/>
              </a:spcBef>
              <a:spcAft>
                <a:spcPts val="0"/>
              </a:spcAft>
              <a:buSzPts val="2800"/>
              <a:buFont typeface="Times New Roman"/>
              <a:buChar char="•"/>
            </a:pPr>
            <a:r>
              <a:rPr lang="en-US" sz="2800" dirty="0">
                <a:latin typeface="Times New Roman"/>
                <a:ea typeface="Times New Roman"/>
                <a:cs typeface="Times New Roman"/>
                <a:sym typeface="Times New Roman"/>
              </a:rPr>
              <a:t>Abstract</a:t>
            </a:r>
            <a:endParaRPr sz="2800" dirty="0">
              <a:latin typeface="Times New Roman"/>
              <a:ea typeface="Times New Roman"/>
              <a:cs typeface="Times New Roman"/>
              <a:sym typeface="Times New Roman"/>
            </a:endParaRPr>
          </a:p>
          <a:p>
            <a:pPr marL="421005" lvl="0" indent="-408305" algn="l" rtl="0">
              <a:lnSpc>
                <a:spcPct val="100000"/>
              </a:lnSpc>
              <a:spcBef>
                <a:spcPts val="2680"/>
              </a:spcBef>
              <a:spcAft>
                <a:spcPts val="0"/>
              </a:spcAft>
              <a:buSzPts val="2800"/>
              <a:buFont typeface="Times New Roman"/>
              <a:buChar char="•"/>
            </a:pPr>
            <a:r>
              <a:rPr lang="en-US" sz="2800" dirty="0">
                <a:latin typeface="Times New Roman"/>
                <a:ea typeface="Times New Roman"/>
                <a:cs typeface="Times New Roman"/>
                <a:sym typeface="Times New Roman"/>
              </a:rPr>
              <a:t>Introduction</a:t>
            </a:r>
            <a:endParaRPr sz="2800" dirty="0">
              <a:latin typeface="Times New Roman"/>
              <a:ea typeface="Times New Roman"/>
              <a:cs typeface="Times New Roman"/>
              <a:sym typeface="Times New Roman"/>
            </a:endParaRPr>
          </a:p>
          <a:p>
            <a:pPr marL="421005" lvl="0" indent="-408305" algn="l" rtl="0">
              <a:lnSpc>
                <a:spcPct val="100000"/>
              </a:lnSpc>
              <a:spcBef>
                <a:spcPts val="2680"/>
              </a:spcBef>
              <a:spcAft>
                <a:spcPts val="0"/>
              </a:spcAft>
              <a:buSzPts val="2800"/>
              <a:buFont typeface="Times New Roman"/>
              <a:buChar char="•"/>
            </a:pPr>
            <a:r>
              <a:rPr lang="en-US" sz="2800" dirty="0">
                <a:latin typeface="Times New Roman"/>
                <a:ea typeface="Times New Roman"/>
                <a:cs typeface="Times New Roman"/>
                <a:sym typeface="Times New Roman"/>
              </a:rPr>
              <a:t>Literature survey</a:t>
            </a:r>
            <a:endParaRPr sz="2800" dirty="0">
              <a:latin typeface="Times New Roman"/>
              <a:ea typeface="Times New Roman"/>
              <a:cs typeface="Times New Roman"/>
              <a:sym typeface="Times New Roman"/>
            </a:endParaRPr>
          </a:p>
          <a:p>
            <a:pPr marL="421005" lvl="0" indent="-408305" algn="l" rtl="0">
              <a:lnSpc>
                <a:spcPct val="100000"/>
              </a:lnSpc>
              <a:spcBef>
                <a:spcPts val="2680"/>
              </a:spcBef>
              <a:spcAft>
                <a:spcPts val="0"/>
              </a:spcAft>
              <a:buSzPts val="2800"/>
              <a:buFont typeface="Times New Roman"/>
              <a:buChar char="•"/>
            </a:pPr>
            <a:r>
              <a:rPr lang="en-US" sz="2800" dirty="0">
                <a:latin typeface="Times New Roman"/>
                <a:ea typeface="Times New Roman"/>
                <a:cs typeface="Times New Roman"/>
                <a:sym typeface="Times New Roman"/>
              </a:rPr>
              <a:t>Proposed Work</a:t>
            </a:r>
            <a:endParaRPr sz="2800" dirty="0">
              <a:latin typeface="Times New Roman"/>
              <a:ea typeface="Times New Roman"/>
              <a:cs typeface="Times New Roman"/>
              <a:sym typeface="Times New Roman"/>
            </a:endParaRPr>
          </a:p>
          <a:p>
            <a:pPr marL="421005" lvl="0" indent="-408305" algn="l" rtl="0">
              <a:lnSpc>
                <a:spcPct val="100000"/>
              </a:lnSpc>
              <a:spcBef>
                <a:spcPts val="2680"/>
              </a:spcBef>
              <a:spcAft>
                <a:spcPts val="0"/>
              </a:spcAft>
              <a:buSzPts val="2800"/>
              <a:buFont typeface="Times New Roman"/>
              <a:buChar char="•"/>
            </a:pPr>
            <a:r>
              <a:rPr lang="en-US" sz="2800" dirty="0">
                <a:latin typeface="Times New Roman"/>
                <a:ea typeface="Times New Roman"/>
                <a:cs typeface="Times New Roman"/>
                <a:sym typeface="Times New Roman"/>
              </a:rPr>
              <a:t>References</a:t>
            </a:r>
            <a:endParaRPr sz="2800" dirty="0">
              <a:latin typeface="Times New Roman"/>
              <a:ea typeface="Times New Roman"/>
              <a:cs typeface="Times New Roman"/>
              <a:sym typeface="Times New Roman"/>
            </a:endParaRPr>
          </a:p>
          <a:p>
            <a:pPr marL="421005" lvl="0" indent="-408305" algn="l" rtl="0">
              <a:lnSpc>
                <a:spcPct val="100000"/>
              </a:lnSpc>
              <a:spcBef>
                <a:spcPts val="2680"/>
              </a:spcBef>
              <a:spcAft>
                <a:spcPts val="0"/>
              </a:spcAft>
              <a:buSzPts val="2800"/>
              <a:buFont typeface="Times New Roman"/>
              <a:buChar char="•"/>
            </a:pPr>
            <a:r>
              <a:rPr lang="en-US" sz="2800" dirty="0">
                <a:latin typeface="Times New Roman"/>
                <a:ea typeface="Times New Roman"/>
                <a:cs typeface="Times New Roman"/>
                <a:sym typeface="Times New Roman"/>
              </a:rPr>
              <a:t>GitHub Link</a:t>
            </a:r>
            <a:endParaRPr sz="2800" dirty="0">
              <a:latin typeface="Times New Roman"/>
              <a:ea typeface="Times New Roman"/>
              <a:cs typeface="Times New Roman"/>
              <a:sym typeface="Times New Roman"/>
            </a:endParaRPr>
          </a:p>
          <a:p>
            <a:pPr marL="421005" lvl="0" indent="-408305" algn="l" rtl="0">
              <a:lnSpc>
                <a:spcPct val="100000"/>
              </a:lnSpc>
              <a:spcBef>
                <a:spcPts val="2680"/>
              </a:spcBef>
              <a:spcAft>
                <a:spcPts val="0"/>
              </a:spcAft>
              <a:buSzPts val="2800"/>
              <a:buFont typeface="Times New Roman"/>
              <a:buChar char="•"/>
            </a:pPr>
            <a:r>
              <a:rPr lang="en-US" sz="2800" dirty="0">
                <a:latin typeface="Times New Roman"/>
                <a:ea typeface="Times New Roman"/>
                <a:cs typeface="Times New Roman"/>
                <a:sym typeface="Times New Roman"/>
              </a:rPr>
              <a:t>Queries</a:t>
            </a:r>
            <a:endParaRPr sz="2800" dirty="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77"/>
        <p:cNvGrpSpPr/>
        <p:nvPr/>
      </p:nvGrpSpPr>
      <p:grpSpPr>
        <a:xfrm>
          <a:off x="0" y="0"/>
          <a:ext cx="0" cy="0"/>
          <a:chOff x="0" y="0"/>
          <a:chExt cx="0" cy="0"/>
        </a:xfrm>
      </p:grpSpPr>
      <p:grpSp>
        <p:nvGrpSpPr>
          <p:cNvPr id="2" name="Google Shape;93;p9">
            <a:extLst>
              <a:ext uri="{FF2B5EF4-FFF2-40B4-BE49-F238E27FC236}">
                <a16:creationId xmlns:a16="http://schemas.microsoft.com/office/drawing/2014/main" id="{A13BEA12-D126-DFD8-B476-FDF8F36998A5}"/>
              </a:ext>
            </a:extLst>
          </p:cNvPr>
          <p:cNvGrpSpPr/>
          <p:nvPr/>
        </p:nvGrpSpPr>
        <p:grpSpPr>
          <a:xfrm>
            <a:off x="0" y="182448"/>
            <a:ext cx="12192002" cy="803792"/>
            <a:chOff x="-2" y="216249"/>
            <a:chExt cx="12192002" cy="803792"/>
          </a:xfrm>
        </p:grpSpPr>
        <p:pic>
          <p:nvPicPr>
            <p:cNvPr id="3" name="Google Shape;94;p9">
              <a:extLst>
                <a:ext uri="{FF2B5EF4-FFF2-40B4-BE49-F238E27FC236}">
                  <a16:creationId xmlns:a16="http://schemas.microsoft.com/office/drawing/2014/main" id="{91E2496F-2C57-9D64-2402-2968C578C750}"/>
                </a:ext>
              </a:extLst>
            </p:cNvPr>
            <p:cNvPicPr preferRelativeResize="0"/>
            <p:nvPr/>
          </p:nvPicPr>
          <p:blipFill rotWithShape="1">
            <a:blip r:embed="rId3">
              <a:alphaModFix/>
            </a:blip>
            <a:srcRect/>
            <a:stretch/>
          </p:blipFill>
          <p:spPr>
            <a:xfrm>
              <a:off x="0" y="216249"/>
              <a:ext cx="12192000" cy="803792"/>
            </a:xfrm>
            <a:prstGeom prst="rect">
              <a:avLst/>
            </a:prstGeom>
            <a:noFill/>
            <a:ln>
              <a:noFill/>
            </a:ln>
          </p:spPr>
        </p:pic>
        <p:sp>
          <p:nvSpPr>
            <p:cNvPr id="4" name="Google Shape;95;p9">
              <a:extLst>
                <a:ext uri="{FF2B5EF4-FFF2-40B4-BE49-F238E27FC236}">
                  <a16:creationId xmlns:a16="http://schemas.microsoft.com/office/drawing/2014/main" id="{766CE986-FFBD-F6AD-0F94-3990D6B828D0}"/>
                </a:ext>
              </a:extLst>
            </p:cNvPr>
            <p:cNvSpPr/>
            <p:nvPr/>
          </p:nvSpPr>
          <p:spPr>
            <a:xfrm>
              <a:off x="-2" y="232759"/>
              <a:ext cx="12192000" cy="715010"/>
            </a:xfrm>
            <a:custGeom>
              <a:avLst/>
              <a:gdLst/>
              <a:ahLst/>
              <a:cxnLst/>
              <a:rect l="l" t="t" r="r" b="b"/>
              <a:pathLst>
                <a:path w="12192000" h="715010" extrusionOk="0">
                  <a:moveTo>
                    <a:pt x="12191999" y="714891"/>
                  </a:moveTo>
                  <a:lnTo>
                    <a:pt x="0" y="714891"/>
                  </a:lnTo>
                  <a:lnTo>
                    <a:pt x="0" y="0"/>
                  </a:lnTo>
                  <a:lnTo>
                    <a:pt x="12191999" y="0"/>
                  </a:lnTo>
                  <a:lnTo>
                    <a:pt x="12191999" y="714891"/>
                  </a:lnTo>
                  <a:close/>
                </a:path>
              </a:pathLst>
            </a:custGeom>
            <a:solidFill>
              <a:srgbClr val="FF66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78" name="Google Shape;78;p8"/>
          <p:cNvGrpSpPr/>
          <p:nvPr/>
        </p:nvGrpSpPr>
        <p:grpSpPr>
          <a:xfrm>
            <a:off x="777238" y="6634572"/>
            <a:ext cx="11415108" cy="223427"/>
            <a:chOff x="777238" y="6634572"/>
            <a:chExt cx="11415108" cy="223427"/>
          </a:xfrm>
        </p:grpSpPr>
        <p:sp>
          <p:nvSpPr>
            <p:cNvPr id="79" name="Google Shape;79;p8"/>
            <p:cNvSpPr/>
            <p:nvPr/>
          </p:nvSpPr>
          <p:spPr>
            <a:xfrm>
              <a:off x="777238" y="6634572"/>
              <a:ext cx="5782310" cy="220979"/>
            </a:xfrm>
            <a:custGeom>
              <a:avLst/>
              <a:gdLst/>
              <a:ahLst/>
              <a:cxnLst/>
              <a:rect l="l" t="t" r="r" b="b"/>
              <a:pathLst>
                <a:path w="5782309" h="220979" extrusionOk="0">
                  <a:moveTo>
                    <a:pt x="5781821" y="220979"/>
                  </a:moveTo>
                  <a:lnTo>
                    <a:pt x="0" y="220979"/>
                  </a:lnTo>
                  <a:lnTo>
                    <a:pt x="0" y="0"/>
                  </a:lnTo>
                  <a:lnTo>
                    <a:pt x="5781821" y="0"/>
                  </a:lnTo>
                  <a:lnTo>
                    <a:pt x="5781821" y="220979"/>
                  </a:lnTo>
                  <a:close/>
                </a:path>
              </a:pathLst>
            </a:custGeom>
            <a:solidFill>
              <a:srgbClr val="00206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80" name="Google Shape;80;p8"/>
            <p:cNvSpPr/>
            <p:nvPr/>
          </p:nvSpPr>
          <p:spPr>
            <a:xfrm>
              <a:off x="6559061" y="6634572"/>
              <a:ext cx="5195570" cy="220979"/>
            </a:xfrm>
            <a:custGeom>
              <a:avLst/>
              <a:gdLst/>
              <a:ahLst/>
              <a:cxnLst/>
              <a:rect l="l" t="t" r="r" b="b"/>
              <a:pathLst>
                <a:path w="5195570" h="220979" extrusionOk="0">
                  <a:moveTo>
                    <a:pt x="5195133" y="220979"/>
                  </a:moveTo>
                  <a:lnTo>
                    <a:pt x="0" y="220979"/>
                  </a:lnTo>
                  <a:lnTo>
                    <a:pt x="0" y="0"/>
                  </a:lnTo>
                  <a:lnTo>
                    <a:pt x="5195133" y="0"/>
                  </a:lnTo>
                  <a:lnTo>
                    <a:pt x="5195133" y="220979"/>
                  </a:lnTo>
                  <a:close/>
                </a:path>
              </a:pathLst>
            </a:custGeom>
            <a:solidFill>
              <a:srgbClr val="00808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81" name="Google Shape;81;p8"/>
            <p:cNvSpPr/>
            <p:nvPr/>
          </p:nvSpPr>
          <p:spPr>
            <a:xfrm>
              <a:off x="11754196" y="6637020"/>
              <a:ext cx="438150" cy="220979"/>
            </a:xfrm>
            <a:custGeom>
              <a:avLst/>
              <a:gdLst/>
              <a:ahLst/>
              <a:cxnLst/>
              <a:rect l="l" t="t" r="r" b="b"/>
              <a:pathLst>
                <a:path w="438150" h="220979" extrusionOk="0">
                  <a:moveTo>
                    <a:pt x="437803" y="220979"/>
                  </a:moveTo>
                  <a:lnTo>
                    <a:pt x="0" y="220979"/>
                  </a:lnTo>
                  <a:lnTo>
                    <a:pt x="0" y="0"/>
                  </a:lnTo>
                  <a:lnTo>
                    <a:pt x="437803" y="0"/>
                  </a:lnTo>
                  <a:lnTo>
                    <a:pt x="437803" y="220979"/>
                  </a:lnTo>
                  <a:close/>
                </a:path>
              </a:pathLst>
            </a:custGeom>
            <a:solidFill>
              <a:srgbClr val="FFC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dirty="0"/>
            </a:p>
          </p:txBody>
        </p:sp>
      </p:grpSp>
      <p:sp>
        <p:nvSpPr>
          <p:cNvPr id="82" name="Google Shape;82;p8"/>
          <p:cNvSpPr/>
          <p:nvPr/>
        </p:nvSpPr>
        <p:spPr>
          <a:xfrm>
            <a:off x="-1" y="-1"/>
            <a:ext cx="12192000" cy="233045"/>
          </a:xfrm>
          <a:custGeom>
            <a:avLst/>
            <a:gdLst/>
            <a:ahLst/>
            <a:cxnLst/>
            <a:rect l="l" t="t" r="r" b="b"/>
            <a:pathLst>
              <a:path w="12192000" h="233045" extrusionOk="0">
                <a:moveTo>
                  <a:pt x="12191998" y="232758"/>
                </a:moveTo>
                <a:lnTo>
                  <a:pt x="0" y="232758"/>
                </a:lnTo>
                <a:lnTo>
                  <a:pt x="0" y="0"/>
                </a:lnTo>
                <a:lnTo>
                  <a:pt x="12191998" y="0"/>
                </a:lnTo>
                <a:lnTo>
                  <a:pt x="12191998" y="232758"/>
                </a:lnTo>
                <a:close/>
              </a:path>
            </a:pathLst>
          </a:custGeom>
          <a:solidFill>
            <a:srgbClr val="00666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83" name="Google Shape;83;p8"/>
          <p:cNvSpPr/>
          <p:nvPr/>
        </p:nvSpPr>
        <p:spPr>
          <a:xfrm>
            <a:off x="0" y="6634572"/>
            <a:ext cx="777240" cy="221615"/>
          </a:xfrm>
          <a:custGeom>
            <a:avLst/>
            <a:gdLst/>
            <a:ahLst/>
            <a:cxnLst/>
            <a:rect l="l" t="t" r="r" b="b"/>
            <a:pathLst>
              <a:path w="777240" h="221615" extrusionOk="0">
                <a:moveTo>
                  <a:pt x="777238" y="221522"/>
                </a:moveTo>
                <a:lnTo>
                  <a:pt x="0" y="221522"/>
                </a:lnTo>
                <a:lnTo>
                  <a:pt x="0" y="0"/>
                </a:lnTo>
                <a:lnTo>
                  <a:pt x="777238" y="0"/>
                </a:lnTo>
                <a:lnTo>
                  <a:pt x="777238" y="221522"/>
                </a:lnTo>
                <a:close/>
              </a:path>
            </a:pathLst>
          </a:custGeom>
          <a:solidFill>
            <a:srgbClr val="C55A1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84" name="Google Shape;84;p8"/>
          <p:cNvSpPr txBox="1">
            <a:spLocks noGrp="1"/>
          </p:cNvSpPr>
          <p:nvPr>
            <p:ph type="title"/>
          </p:nvPr>
        </p:nvSpPr>
        <p:spPr>
          <a:xfrm>
            <a:off x="73025" y="182448"/>
            <a:ext cx="191516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dirty="0">
                <a:solidFill>
                  <a:schemeClr val="bg1"/>
                </a:solidFill>
              </a:rPr>
              <a:t>Abstract</a:t>
            </a:r>
            <a:endParaRPr dirty="0">
              <a:solidFill>
                <a:schemeClr val="bg1"/>
              </a:solidFill>
            </a:endParaRPr>
          </a:p>
        </p:txBody>
      </p:sp>
      <p:sp>
        <p:nvSpPr>
          <p:cNvPr id="85" name="Google Shape;85;p8"/>
          <p:cNvSpPr txBox="1"/>
          <p:nvPr/>
        </p:nvSpPr>
        <p:spPr>
          <a:xfrm>
            <a:off x="73025" y="1077367"/>
            <a:ext cx="13277216" cy="5264262"/>
          </a:xfrm>
          <a:prstGeom prst="rect">
            <a:avLst/>
          </a:prstGeom>
          <a:noFill/>
          <a:ln>
            <a:noFill/>
          </a:ln>
        </p:spPr>
        <p:txBody>
          <a:bodyPr spcFirstLastPara="1" wrap="square" lIns="0" tIns="12700" rIns="0" bIns="0" anchor="t" anchorCtr="0">
            <a:spAutoFit/>
          </a:bodyPr>
          <a:lstStyle/>
          <a:p>
            <a:pPr marL="469900" marR="2094229" lvl="0" indent="0" algn="just" rtl="0">
              <a:lnSpc>
                <a:spcPct val="124700"/>
              </a:lnSpc>
              <a:spcBef>
                <a:spcPts val="0"/>
              </a:spcBef>
              <a:spcAft>
                <a:spcPts val="0"/>
              </a:spcAft>
              <a:buNone/>
            </a:pPr>
            <a:r>
              <a:rPr lang="en-IN" sz="2100" dirty="0">
                <a:latin typeface="Times New Roman"/>
                <a:ea typeface="Times New Roman"/>
                <a:cs typeface="Times New Roman"/>
                <a:sym typeface="Times New Roman"/>
              </a:rPr>
              <a:t>Pedestrian detection plays a pivotal role in autonomous systems, directly impacting safe navigation and collision avoidance. With the evolution of deep learning, YOLO (You Only Look Once) models have become prominent for real-time object detection, particularly in dynamic environments. This research surveys the YOLO framework with a focus on YOLOv8, highlighting its strengths in speed and accuracy while identifying persistent limitations in detecting partially occluded, small-scale, and densely clustered pedestrians. To address these challenges, we introduce four enhanced architectures—YOLOv9—incorporating adaptive attention mechanisms, multi-scale feature fusion, and temporal context </a:t>
            </a:r>
            <a:r>
              <a:rPr lang="en-IN" sz="2100" dirty="0" err="1">
                <a:latin typeface="Times New Roman"/>
                <a:ea typeface="Times New Roman"/>
                <a:cs typeface="Times New Roman"/>
                <a:sym typeface="Times New Roman"/>
              </a:rPr>
              <a:t>modeling</a:t>
            </a:r>
            <a:r>
              <a:rPr lang="en-IN" sz="2100" dirty="0">
                <a:latin typeface="Times New Roman"/>
                <a:ea typeface="Times New Roman"/>
                <a:cs typeface="Times New Roman"/>
                <a:sym typeface="Times New Roman"/>
              </a:rPr>
              <a:t> to improve detection robustness. Our methodology involves extensive benchmarking across standard pedestrian datasets, evaluating performance metrics such as precision, recall, and mean average precision (</a:t>
            </a:r>
            <a:r>
              <a:rPr lang="en-IN" sz="2100" dirty="0" err="1">
                <a:latin typeface="Times New Roman"/>
                <a:ea typeface="Times New Roman"/>
                <a:cs typeface="Times New Roman"/>
                <a:sym typeface="Times New Roman"/>
              </a:rPr>
              <a:t>mAP</a:t>
            </a:r>
            <a:r>
              <a:rPr lang="en-IN" sz="2100" dirty="0">
                <a:latin typeface="Times New Roman"/>
                <a:ea typeface="Times New Roman"/>
                <a:cs typeface="Times New Roman"/>
                <a:sym typeface="Times New Roman"/>
              </a:rPr>
              <a:t>). Results demonstrate that the proposed models significantly outperform YOLOv8, especially in complex urban scenarios. These findings underscore the importance of architectural innovation in pedestrian detection and lay the groundwork for future advancements in autonomous navigation systems.</a:t>
            </a:r>
          </a:p>
        </p:txBody>
      </p:sp>
      <p:sp>
        <p:nvSpPr>
          <p:cNvPr id="87" name="Google Shape;87;p8"/>
          <p:cNvSpPr txBox="1"/>
          <p:nvPr/>
        </p:nvSpPr>
        <p:spPr>
          <a:xfrm>
            <a:off x="6602081" y="6578552"/>
            <a:ext cx="5195135" cy="553998"/>
          </a:xfrm>
          <a:prstGeom prst="rect">
            <a:avLst/>
          </a:prstGeom>
          <a:noFill/>
          <a:ln>
            <a:noFill/>
          </a:ln>
        </p:spPr>
        <p:txBody>
          <a:bodyPr spcFirstLastPara="1" wrap="square" lIns="91425" tIns="45700" rIns="91425" bIns="45700" anchor="t" anchorCtr="0">
            <a:spAutoFit/>
          </a:bodyPr>
          <a:lstStyle/>
          <a:p>
            <a:pPr marL="12700" lvl="0" indent="0" algn="l" rtl="0">
              <a:lnSpc>
                <a:spcPct val="102500"/>
              </a:lnSpc>
              <a:spcBef>
                <a:spcPts val="0"/>
              </a:spcBef>
              <a:spcAft>
                <a:spcPts val="0"/>
              </a:spcAft>
              <a:buNone/>
            </a:pPr>
            <a:r>
              <a:rPr lang="en-US" sz="1800" cap="small" dirty="0">
                <a:solidFill>
                  <a:srgbClr val="FFFFFF"/>
                </a:solidFill>
                <a:latin typeface="Times New Roman"/>
                <a:ea typeface="Times New Roman"/>
                <a:cs typeface="Times New Roman"/>
                <a:sym typeface="Times New Roman"/>
              </a:rPr>
              <a:t>Srinivasa Ramanujan Institute of Technology</a:t>
            </a:r>
            <a:endParaRPr sz="1800" dirty="0">
              <a:latin typeface="Times New Roman"/>
              <a:ea typeface="Times New Roman"/>
              <a:cs typeface="Times New Roman"/>
              <a:sym typeface="Times New Roman"/>
            </a:endParaRPr>
          </a:p>
          <a:p>
            <a:pPr marL="12700" lvl="0" indent="0" algn="l" rtl="0">
              <a:lnSpc>
                <a:spcPct val="102500"/>
              </a:lnSpc>
              <a:spcBef>
                <a:spcPts val="0"/>
              </a:spcBef>
              <a:spcAft>
                <a:spcPts val="0"/>
              </a:spcAft>
              <a:buNone/>
            </a:pPr>
            <a:endParaRPr sz="1800" dirty="0">
              <a:latin typeface="Times New Roman"/>
              <a:ea typeface="Times New Roman"/>
              <a:cs typeface="Times New Roman"/>
              <a:sym typeface="Times New Roman"/>
            </a:endParaRPr>
          </a:p>
        </p:txBody>
      </p:sp>
      <p:sp>
        <p:nvSpPr>
          <p:cNvPr id="11" name="Google Shape;72;p7">
            <a:extLst>
              <a:ext uri="{FF2B5EF4-FFF2-40B4-BE49-F238E27FC236}">
                <a16:creationId xmlns:a16="http://schemas.microsoft.com/office/drawing/2014/main" id="{F9FF1637-99E8-22AD-E627-DFA3B388239E}"/>
              </a:ext>
            </a:extLst>
          </p:cNvPr>
          <p:cNvSpPr txBox="1">
            <a:spLocks noGrp="1"/>
          </p:cNvSpPr>
          <p:nvPr>
            <p:ph type="dt" idx="10"/>
          </p:nvPr>
        </p:nvSpPr>
        <p:spPr>
          <a:xfrm>
            <a:off x="1367425" y="6611359"/>
            <a:ext cx="5277675"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cap="small" dirty="0"/>
              <a:t>Dept. of Computer Science and Engineering (AI &amp; ML)</a:t>
            </a:r>
            <a:endParaRPr dirty="0"/>
          </a:p>
        </p:txBody>
      </p:sp>
      <p:sp>
        <p:nvSpPr>
          <p:cNvPr id="13" name="Google Shape;97;p9">
            <a:extLst>
              <a:ext uri="{FF2B5EF4-FFF2-40B4-BE49-F238E27FC236}">
                <a16:creationId xmlns:a16="http://schemas.microsoft.com/office/drawing/2014/main" id="{51C7CFE7-A025-069E-D78E-5363BBD85907}"/>
              </a:ext>
            </a:extLst>
          </p:cNvPr>
          <p:cNvSpPr txBox="1">
            <a:spLocks noGrp="1"/>
          </p:cNvSpPr>
          <p:nvPr>
            <p:ph type="ftr" idx="11"/>
          </p:nvPr>
        </p:nvSpPr>
        <p:spPr>
          <a:xfrm>
            <a:off x="157560" y="6611359"/>
            <a:ext cx="544830"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dirty="0"/>
              <a:t>A - 12</a:t>
            </a:r>
            <a:endParaRPr dirty="0"/>
          </a:p>
        </p:txBody>
      </p:sp>
      <p:sp>
        <p:nvSpPr>
          <p:cNvPr id="14" name="Google Shape;92;p9">
            <a:extLst>
              <a:ext uri="{FF2B5EF4-FFF2-40B4-BE49-F238E27FC236}">
                <a16:creationId xmlns:a16="http://schemas.microsoft.com/office/drawing/2014/main" id="{A71FFAB4-561D-5A09-E636-3E69DC303B82}"/>
              </a:ext>
            </a:extLst>
          </p:cNvPr>
          <p:cNvSpPr txBox="1"/>
          <p:nvPr/>
        </p:nvSpPr>
        <p:spPr>
          <a:xfrm>
            <a:off x="2900462" y="-20169"/>
            <a:ext cx="6391074" cy="2436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IN" sz="1500" b="1" i="1" dirty="0">
                <a:solidFill>
                  <a:srgbClr val="FFFFFF"/>
                </a:solidFill>
                <a:latin typeface="Times New Roman"/>
                <a:ea typeface="Times New Roman"/>
                <a:cs typeface="Times New Roman"/>
                <a:sym typeface="Times New Roman"/>
              </a:rPr>
              <a:t>Real-Time Pedestrian Detection in Autonomous Systems using Deep Learning</a:t>
            </a:r>
            <a:endParaRPr sz="1500" dirty="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0"/>
          <p:cNvSpPr txBox="1"/>
          <p:nvPr/>
        </p:nvSpPr>
        <p:spPr>
          <a:xfrm>
            <a:off x="2828887" y="-10897"/>
            <a:ext cx="6771190" cy="243656"/>
          </a:xfrm>
          <a:prstGeom prst="rect">
            <a:avLst/>
          </a:prstGeom>
          <a:noFill/>
          <a:ln>
            <a:noFill/>
          </a:ln>
        </p:spPr>
        <p:txBody>
          <a:bodyPr spcFirstLastPara="1" wrap="square" lIns="0" tIns="12700" rIns="0" bIns="0" anchor="t" anchorCtr="0">
            <a:spAutoFit/>
          </a:bodyPr>
          <a:lstStyle/>
          <a:p>
            <a:pPr marL="12700" lvl="0" indent="0" rtl="0">
              <a:lnSpc>
                <a:spcPct val="100000"/>
              </a:lnSpc>
              <a:spcBef>
                <a:spcPts val="0"/>
              </a:spcBef>
              <a:spcAft>
                <a:spcPts val="0"/>
              </a:spcAft>
              <a:buNone/>
            </a:pPr>
            <a:r>
              <a:rPr lang="en-IN" sz="1500" b="1" i="1" dirty="0">
                <a:solidFill>
                  <a:srgbClr val="FFFFFF"/>
                </a:solidFill>
                <a:latin typeface="Times New Roman"/>
                <a:ea typeface="Times New Roman"/>
                <a:cs typeface="Times New Roman"/>
                <a:sym typeface="Times New Roman"/>
              </a:rPr>
              <a:t>Real-Time Pedestrian Detection in Autonomous Systems using Deep Learning</a:t>
            </a:r>
            <a:endParaRPr sz="1500" dirty="0">
              <a:latin typeface="Times New Roman"/>
              <a:ea typeface="Times New Roman"/>
              <a:cs typeface="Times New Roman"/>
              <a:sym typeface="Times New Roman"/>
            </a:endParaRPr>
          </a:p>
        </p:txBody>
      </p:sp>
      <p:grpSp>
        <p:nvGrpSpPr>
          <p:cNvPr id="107" name="Google Shape;107;p10"/>
          <p:cNvGrpSpPr/>
          <p:nvPr/>
        </p:nvGrpSpPr>
        <p:grpSpPr>
          <a:xfrm>
            <a:off x="-2" y="216249"/>
            <a:ext cx="12192002" cy="803792"/>
            <a:chOff x="-2" y="216249"/>
            <a:chExt cx="12192002" cy="803792"/>
          </a:xfrm>
        </p:grpSpPr>
        <p:pic>
          <p:nvPicPr>
            <p:cNvPr id="108" name="Google Shape;108;p10"/>
            <p:cNvPicPr preferRelativeResize="0"/>
            <p:nvPr/>
          </p:nvPicPr>
          <p:blipFill rotWithShape="1">
            <a:blip r:embed="rId3">
              <a:alphaModFix/>
            </a:blip>
            <a:srcRect/>
            <a:stretch/>
          </p:blipFill>
          <p:spPr>
            <a:xfrm>
              <a:off x="0" y="216249"/>
              <a:ext cx="12192000" cy="803792"/>
            </a:xfrm>
            <a:prstGeom prst="rect">
              <a:avLst/>
            </a:prstGeom>
            <a:noFill/>
            <a:ln>
              <a:noFill/>
            </a:ln>
          </p:spPr>
        </p:pic>
        <p:sp>
          <p:nvSpPr>
            <p:cNvPr id="109" name="Google Shape;109;p10"/>
            <p:cNvSpPr/>
            <p:nvPr/>
          </p:nvSpPr>
          <p:spPr>
            <a:xfrm>
              <a:off x="-2" y="232759"/>
              <a:ext cx="12192000" cy="715010"/>
            </a:xfrm>
            <a:custGeom>
              <a:avLst/>
              <a:gdLst/>
              <a:ahLst/>
              <a:cxnLst/>
              <a:rect l="l" t="t" r="r" b="b"/>
              <a:pathLst>
                <a:path w="12192000" h="715010" extrusionOk="0">
                  <a:moveTo>
                    <a:pt x="12191999" y="714891"/>
                  </a:moveTo>
                  <a:lnTo>
                    <a:pt x="0" y="714891"/>
                  </a:lnTo>
                  <a:lnTo>
                    <a:pt x="0" y="0"/>
                  </a:lnTo>
                  <a:lnTo>
                    <a:pt x="12191999" y="0"/>
                  </a:lnTo>
                  <a:lnTo>
                    <a:pt x="12191999" y="714891"/>
                  </a:lnTo>
                  <a:close/>
                </a:path>
              </a:pathLst>
            </a:custGeom>
            <a:solidFill>
              <a:srgbClr val="FF66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10" name="Google Shape;110;p10"/>
          <p:cNvSpPr txBox="1">
            <a:spLocks noGrp="1"/>
          </p:cNvSpPr>
          <p:nvPr>
            <p:ph type="title"/>
          </p:nvPr>
        </p:nvSpPr>
        <p:spPr>
          <a:xfrm>
            <a:off x="141783" y="160487"/>
            <a:ext cx="3888104"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dirty="0"/>
              <a:t>Introduction</a:t>
            </a:r>
            <a:endParaRPr dirty="0"/>
          </a:p>
        </p:txBody>
      </p:sp>
      <p:sp>
        <p:nvSpPr>
          <p:cNvPr id="111" name="Google Shape;111;p10"/>
          <p:cNvSpPr txBox="1">
            <a:spLocks noGrp="1"/>
          </p:cNvSpPr>
          <p:nvPr>
            <p:ph type="ftr" idx="11"/>
          </p:nvPr>
        </p:nvSpPr>
        <p:spPr>
          <a:xfrm>
            <a:off x="141783" y="6629792"/>
            <a:ext cx="544830"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dirty="0"/>
              <a:t>A - 12</a:t>
            </a:r>
            <a:endParaRPr dirty="0"/>
          </a:p>
        </p:txBody>
      </p:sp>
      <p:sp>
        <p:nvSpPr>
          <p:cNvPr id="112" name="Google Shape;112;p10"/>
          <p:cNvSpPr txBox="1">
            <a:spLocks noGrp="1"/>
          </p:cNvSpPr>
          <p:nvPr>
            <p:ph type="dt" idx="10"/>
          </p:nvPr>
        </p:nvSpPr>
        <p:spPr>
          <a:xfrm>
            <a:off x="1123125" y="6629792"/>
            <a:ext cx="4962525"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cap="small" dirty="0"/>
              <a:t>Dept. of Computer Science and Engineering (AI&amp;ML)</a:t>
            </a:r>
            <a:endParaRPr dirty="0"/>
          </a:p>
        </p:txBody>
      </p:sp>
      <p:sp>
        <p:nvSpPr>
          <p:cNvPr id="113" name="Google Shape;113;p10"/>
          <p:cNvSpPr txBox="1"/>
          <p:nvPr/>
        </p:nvSpPr>
        <p:spPr>
          <a:xfrm>
            <a:off x="7147577" y="6629311"/>
            <a:ext cx="4434823" cy="230832"/>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sz="1600" cap="small">
                <a:solidFill>
                  <a:srgbClr val="FFFFFF"/>
                </a:solidFill>
                <a:latin typeface="Times New Roman"/>
                <a:ea typeface="Times New Roman"/>
                <a:cs typeface="Times New Roman"/>
                <a:sym typeface="Times New Roman"/>
              </a:rPr>
              <a:t>Srinivasa Ramanujan Institute of Technology</a:t>
            </a:r>
            <a:endParaRPr sz="1600">
              <a:latin typeface="Times New Roman"/>
              <a:ea typeface="Times New Roman"/>
              <a:cs typeface="Times New Roman"/>
              <a:sym typeface="Times New Roman"/>
            </a:endParaRPr>
          </a:p>
        </p:txBody>
      </p:sp>
      <p:sp>
        <p:nvSpPr>
          <p:cNvPr id="115" name="Google Shape;115;p10"/>
          <p:cNvSpPr txBox="1"/>
          <p:nvPr/>
        </p:nvSpPr>
        <p:spPr>
          <a:xfrm>
            <a:off x="236964" y="1040179"/>
            <a:ext cx="11955036" cy="4937249"/>
          </a:xfrm>
          <a:prstGeom prst="rect">
            <a:avLst/>
          </a:prstGeom>
          <a:noFill/>
          <a:ln>
            <a:noFill/>
          </a:ln>
        </p:spPr>
        <p:txBody>
          <a:bodyPr spcFirstLastPara="1" wrap="square" lIns="0" tIns="12700" rIns="0" bIns="0" anchor="t" anchorCtr="0">
            <a:spAutoFit/>
          </a:bodyPr>
          <a:lstStyle/>
          <a:p>
            <a:pPr marL="504825" lvl="0" indent="-492125" algn="l" rtl="0">
              <a:lnSpc>
                <a:spcPct val="100000"/>
              </a:lnSpc>
              <a:spcBef>
                <a:spcPts val="0"/>
              </a:spcBef>
              <a:spcAft>
                <a:spcPts val="0"/>
              </a:spcAft>
              <a:buSzPts val="2800"/>
              <a:buFont typeface="Lucida Sans"/>
              <a:buChar char="□"/>
            </a:pPr>
            <a:r>
              <a:rPr lang="en-IN" sz="2800" b="1" dirty="0">
                <a:latin typeface="Times New Roman"/>
                <a:ea typeface="Times New Roman"/>
                <a:cs typeface="Times New Roman"/>
                <a:sym typeface="Times New Roman"/>
              </a:rPr>
              <a:t>Importance of pedestrian detection in autonomous navigation.</a:t>
            </a:r>
          </a:p>
          <a:p>
            <a:pPr marL="12700" lvl="0" rtl="0">
              <a:lnSpc>
                <a:spcPct val="100000"/>
              </a:lnSpc>
              <a:spcBef>
                <a:spcPts val="0"/>
              </a:spcBef>
              <a:spcAft>
                <a:spcPts val="0"/>
              </a:spcAft>
              <a:buSzPts val="2800"/>
            </a:pPr>
            <a:r>
              <a:rPr lang="en-IN" sz="2800" dirty="0">
                <a:latin typeface="Times New Roman"/>
                <a:ea typeface="Times New Roman"/>
                <a:cs typeface="Times New Roman"/>
                <a:sym typeface="Times New Roman"/>
              </a:rPr>
              <a:t>	</a:t>
            </a:r>
            <a:r>
              <a:rPr lang="en-IN" sz="2400" dirty="0">
                <a:latin typeface="Times New Roman"/>
                <a:ea typeface="Times New Roman"/>
                <a:cs typeface="Times New Roman"/>
                <a:sym typeface="Times New Roman"/>
              </a:rPr>
              <a:t>Pedestrian detection ensures safe and reliable movement of autonomous vehicles by 	preventing collisions and enabling smart decision-making in dynamic environments.</a:t>
            </a:r>
          </a:p>
          <a:p>
            <a:pPr marL="12700" lvl="0" rtl="0">
              <a:lnSpc>
                <a:spcPct val="100000"/>
              </a:lnSpc>
              <a:spcBef>
                <a:spcPts val="0"/>
              </a:spcBef>
              <a:spcAft>
                <a:spcPts val="0"/>
              </a:spcAft>
              <a:buSzPts val="2800"/>
            </a:pPr>
            <a:endParaRPr lang="en-IN" sz="2400" dirty="0">
              <a:latin typeface="Times New Roman"/>
              <a:ea typeface="Times New Roman"/>
              <a:cs typeface="Times New Roman"/>
              <a:sym typeface="Times New Roman"/>
            </a:endParaRPr>
          </a:p>
          <a:p>
            <a:pPr marL="504825" lvl="0" indent="-492125" algn="l" rtl="0">
              <a:lnSpc>
                <a:spcPct val="100000"/>
              </a:lnSpc>
              <a:spcBef>
                <a:spcPts val="0"/>
              </a:spcBef>
              <a:spcAft>
                <a:spcPts val="0"/>
              </a:spcAft>
              <a:buSzPts val="2800"/>
              <a:buFont typeface="Lucida Sans"/>
              <a:buChar char="□"/>
            </a:pPr>
            <a:r>
              <a:rPr lang="en-IN" sz="2800" b="1" dirty="0">
                <a:latin typeface="Times New Roman"/>
                <a:ea typeface="Times New Roman"/>
                <a:cs typeface="Times New Roman"/>
                <a:sym typeface="Times New Roman"/>
              </a:rPr>
              <a:t>Rise of deep learning and YOLO models.</a:t>
            </a:r>
          </a:p>
          <a:p>
            <a:pPr marL="12700" lvl="0" algn="l" rtl="0">
              <a:lnSpc>
                <a:spcPct val="100000"/>
              </a:lnSpc>
              <a:spcBef>
                <a:spcPts val="0"/>
              </a:spcBef>
              <a:spcAft>
                <a:spcPts val="0"/>
              </a:spcAft>
              <a:buSzPts val="2800"/>
            </a:pPr>
            <a:r>
              <a:rPr lang="en-IN" sz="2800" dirty="0">
                <a:latin typeface="Times New Roman"/>
                <a:ea typeface="Times New Roman"/>
                <a:cs typeface="Times New Roman"/>
                <a:sym typeface="Times New Roman"/>
              </a:rPr>
              <a:t>	</a:t>
            </a:r>
            <a:r>
              <a:rPr lang="en-IN" sz="2400" dirty="0">
                <a:latin typeface="Times New Roman"/>
                <a:ea typeface="Times New Roman"/>
                <a:cs typeface="Times New Roman"/>
                <a:sym typeface="Times New Roman"/>
              </a:rPr>
              <a:t>Deep learning has transformed object detection, with YOLO models offering fast and 	accurate real-time detection, making them ideal for autonomous systems.</a:t>
            </a:r>
          </a:p>
          <a:p>
            <a:pPr marL="12700" lvl="0" algn="l" rtl="0">
              <a:lnSpc>
                <a:spcPct val="100000"/>
              </a:lnSpc>
              <a:spcBef>
                <a:spcPts val="0"/>
              </a:spcBef>
              <a:spcAft>
                <a:spcPts val="0"/>
              </a:spcAft>
              <a:buSzPts val="2800"/>
            </a:pPr>
            <a:endParaRPr lang="en-IN" sz="2400" dirty="0">
              <a:latin typeface="Times New Roman"/>
              <a:ea typeface="Times New Roman"/>
              <a:cs typeface="Times New Roman"/>
              <a:sym typeface="Times New Roman"/>
            </a:endParaRPr>
          </a:p>
          <a:p>
            <a:pPr marL="504825" lvl="0" indent="-492125" algn="l" rtl="0">
              <a:lnSpc>
                <a:spcPct val="100000"/>
              </a:lnSpc>
              <a:spcBef>
                <a:spcPts val="0"/>
              </a:spcBef>
              <a:spcAft>
                <a:spcPts val="0"/>
              </a:spcAft>
              <a:buSzPts val="2800"/>
              <a:buFont typeface="Lucida Sans"/>
              <a:buChar char="□"/>
            </a:pPr>
            <a:r>
              <a:rPr lang="en-IN" sz="2800" b="1" dirty="0">
                <a:latin typeface="Times New Roman"/>
                <a:ea typeface="Times New Roman"/>
                <a:cs typeface="Times New Roman"/>
                <a:sym typeface="Times New Roman"/>
              </a:rPr>
              <a:t>Motivation to improve detection in complex environments.</a:t>
            </a:r>
          </a:p>
          <a:p>
            <a:pPr marL="12700" lvl="0" algn="l" rtl="0">
              <a:lnSpc>
                <a:spcPct val="100000"/>
              </a:lnSpc>
              <a:spcBef>
                <a:spcPts val="0"/>
              </a:spcBef>
              <a:spcAft>
                <a:spcPts val="0"/>
              </a:spcAft>
              <a:buSzPts val="2800"/>
            </a:pPr>
            <a:r>
              <a:rPr lang="en-IN" sz="2800" dirty="0">
                <a:latin typeface="Times New Roman"/>
                <a:ea typeface="Times New Roman"/>
                <a:cs typeface="Times New Roman"/>
                <a:sym typeface="Times New Roman"/>
              </a:rPr>
              <a:t>	</a:t>
            </a:r>
            <a:r>
              <a:rPr lang="en-IN" sz="2400" dirty="0">
                <a:latin typeface="Times New Roman"/>
                <a:ea typeface="Times New Roman"/>
                <a:cs typeface="Times New Roman"/>
                <a:sym typeface="Times New Roman"/>
              </a:rPr>
              <a:t>Real-world scenes involve occlusions, varying scales, and crowded areas—challenging 	YOLOv8’s performance. This motivates the need for enhanced models with better spatial 	and temporal understanding.</a:t>
            </a:r>
            <a:endParaRPr lang="en-IN" sz="2800" dirty="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1BB8D-73FE-D4CA-D6B7-1C7D1D1AB584}"/>
              </a:ext>
            </a:extLst>
          </p:cNvPr>
          <p:cNvSpPr>
            <a:spLocks noGrp="1"/>
          </p:cNvSpPr>
          <p:nvPr>
            <p:ph type="title"/>
          </p:nvPr>
        </p:nvSpPr>
        <p:spPr/>
        <p:txBody>
          <a:bodyPr/>
          <a:lstStyle/>
          <a:p>
            <a:r>
              <a:rPr lang="en-US" dirty="0"/>
              <a:t>v</a:t>
            </a:r>
            <a:endParaRPr lang="en-IN" dirty="0"/>
          </a:p>
        </p:txBody>
      </p:sp>
      <p:sp>
        <p:nvSpPr>
          <p:cNvPr id="3" name="Google Shape;106;p10">
            <a:extLst>
              <a:ext uri="{FF2B5EF4-FFF2-40B4-BE49-F238E27FC236}">
                <a16:creationId xmlns:a16="http://schemas.microsoft.com/office/drawing/2014/main" id="{437F447F-6639-515C-E1C3-432B6B2B3E37}"/>
              </a:ext>
            </a:extLst>
          </p:cNvPr>
          <p:cNvSpPr txBox="1"/>
          <p:nvPr/>
        </p:nvSpPr>
        <p:spPr>
          <a:xfrm>
            <a:off x="2828887" y="-10897"/>
            <a:ext cx="6771190" cy="243656"/>
          </a:xfrm>
          <a:prstGeom prst="rect">
            <a:avLst/>
          </a:prstGeom>
          <a:noFill/>
          <a:ln>
            <a:noFill/>
          </a:ln>
        </p:spPr>
        <p:txBody>
          <a:bodyPr spcFirstLastPara="1" wrap="square" lIns="0" tIns="12700" rIns="0" bIns="0" anchor="t" anchorCtr="0">
            <a:spAutoFit/>
          </a:bodyPr>
          <a:lstStyle/>
          <a:p>
            <a:pPr marL="12700" lvl="0" indent="0" rtl="0">
              <a:lnSpc>
                <a:spcPct val="100000"/>
              </a:lnSpc>
              <a:spcBef>
                <a:spcPts val="0"/>
              </a:spcBef>
              <a:spcAft>
                <a:spcPts val="0"/>
              </a:spcAft>
              <a:buNone/>
            </a:pPr>
            <a:r>
              <a:rPr lang="en-IN" sz="1500" b="1" i="1" dirty="0">
                <a:solidFill>
                  <a:srgbClr val="FFFFFF"/>
                </a:solidFill>
                <a:latin typeface="Times New Roman"/>
                <a:ea typeface="Times New Roman"/>
                <a:cs typeface="Times New Roman"/>
                <a:sym typeface="Times New Roman"/>
              </a:rPr>
              <a:t>Real-Time Pedestrian Detection in Autonomous Systems using Deep Learning</a:t>
            </a:r>
            <a:endParaRPr sz="1500" dirty="0">
              <a:latin typeface="Times New Roman"/>
              <a:ea typeface="Times New Roman"/>
              <a:cs typeface="Times New Roman"/>
              <a:sym typeface="Times New Roman"/>
            </a:endParaRPr>
          </a:p>
        </p:txBody>
      </p:sp>
      <p:grpSp>
        <p:nvGrpSpPr>
          <p:cNvPr id="4" name="Google Shape;107;p10">
            <a:extLst>
              <a:ext uri="{FF2B5EF4-FFF2-40B4-BE49-F238E27FC236}">
                <a16:creationId xmlns:a16="http://schemas.microsoft.com/office/drawing/2014/main" id="{582351E8-2657-DF47-A009-74ABE4CFE4A7}"/>
              </a:ext>
            </a:extLst>
          </p:cNvPr>
          <p:cNvGrpSpPr/>
          <p:nvPr/>
        </p:nvGrpSpPr>
        <p:grpSpPr>
          <a:xfrm>
            <a:off x="-2" y="216249"/>
            <a:ext cx="12192002" cy="803792"/>
            <a:chOff x="-2" y="216249"/>
            <a:chExt cx="12192002" cy="803792"/>
          </a:xfrm>
        </p:grpSpPr>
        <p:pic>
          <p:nvPicPr>
            <p:cNvPr id="5" name="Google Shape;108;p10">
              <a:extLst>
                <a:ext uri="{FF2B5EF4-FFF2-40B4-BE49-F238E27FC236}">
                  <a16:creationId xmlns:a16="http://schemas.microsoft.com/office/drawing/2014/main" id="{71A48E6E-1A9E-0377-1D20-F9B3F2C4B59A}"/>
                </a:ext>
              </a:extLst>
            </p:cNvPr>
            <p:cNvPicPr preferRelativeResize="0"/>
            <p:nvPr/>
          </p:nvPicPr>
          <p:blipFill rotWithShape="1">
            <a:blip r:embed="rId2">
              <a:alphaModFix/>
            </a:blip>
            <a:srcRect/>
            <a:stretch/>
          </p:blipFill>
          <p:spPr>
            <a:xfrm>
              <a:off x="0" y="216249"/>
              <a:ext cx="12192000" cy="803792"/>
            </a:xfrm>
            <a:prstGeom prst="rect">
              <a:avLst/>
            </a:prstGeom>
            <a:noFill/>
            <a:ln>
              <a:noFill/>
            </a:ln>
          </p:spPr>
        </p:pic>
        <p:sp>
          <p:nvSpPr>
            <p:cNvPr id="6" name="Google Shape;109;p10">
              <a:extLst>
                <a:ext uri="{FF2B5EF4-FFF2-40B4-BE49-F238E27FC236}">
                  <a16:creationId xmlns:a16="http://schemas.microsoft.com/office/drawing/2014/main" id="{105F8A3C-D9D3-9EE8-5862-1577B3D042AA}"/>
                </a:ext>
              </a:extLst>
            </p:cNvPr>
            <p:cNvSpPr/>
            <p:nvPr/>
          </p:nvSpPr>
          <p:spPr>
            <a:xfrm>
              <a:off x="-2" y="232759"/>
              <a:ext cx="12192000" cy="715010"/>
            </a:xfrm>
            <a:custGeom>
              <a:avLst/>
              <a:gdLst/>
              <a:ahLst/>
              <a:cxnLst/>
              <a:rect l="l" t="t" r="r" b="b"/>
              <a:pathLst>
                <a:path w="12192000" h="715010" extrusionOk="0">
                  <a:moveTo>
                    <a:pt x="12191999" y="714891"/>
                  </a:moveTo>
                  <a:lnTo>
                    <a:pt x="0" y="714891"/>
                  </a:lnTo>
                  <a:lnTo>
                    <a:pt x="0" y="0"/>
                  </a:lnTo>
                  <a:lnTo>
                    <a:pt x="12191999" y="0"/>
                  </a:lnTo>
                  <a:lnTo>
                    <a:pt x="12191999" y="714891"/>
                  </a:lnTo>
                  <a:close/>
                </a:path>
              </a:pathLst>
            </a:custGeom>
            <a:solidFill>
              <a:srgbClr val="FF66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7" name="Google Shape;110;p10">
            <a:extLst>
              <a:ext uri="{FF2B5EF4-FFF2-40B4-BE49-F238E27FC236}">
                <a16:creationId xmlns:a16="http://schemas.microsoft.com/office/drawing/2014/main" id="{425BED47-7DB2-2DD3-384B-1CBFCE218FDC}"/>
              </a:ext>
            </a:extLst>
          </p:cNvPr>
          <p:cNvSpPr txBox="1">
            <a:spLocks/>
          </p:cNvSpPr>
          <p:nvPr/>
        </p:nvSpPr>
        <p:spPr>
          <a:xfrm>
            <a:off x="-10350" y="203464"/>
            <a:ext cx="12192000" cy="136704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4400" b="0" i="0" u="none" strike="noStrike" cap="none">
                <a:solidFill>
                  <a:schemeClr val="lt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IN" dirty="0"/>
              <a:t>Pedestrian Detection: Limitations of Existing Systems</a:t>
            </a:r>
          </a:p>
          <a:p>
            <a:pPr marL="12700"/>
            <a:endParaRPr lang="en-US" dirty="0"/>
          </a:p>
        </p:txBody>
      </p:sp>
      <p:sp>
        <p:nvSpPr>
          <p:cNvPr id="8" name="Google Shape;111;p10">
            <a:extLst>
              <a:ext uri="{FF2B5EF4-FFF2-40B4-BE49-F238E27FC236}">
                <a16:creationId xmlns:a16="http://schemas.microsoft.com/office/drawing/2014/main" id="{BF842AAB-BEB9-3264-EF4A-D72E5E94D17F}"/>
              </a:ext>
            </a:extLst>
          </p:cNvPr>
          <p:cNvSpPr txBox="1">
            <a:spLocks noGrp="1"/>
          </p:cNvSpPr>
          <p:nvPr>
            <p:ph type="ftr" idx="11"/>
          </p:nvPr>
        </p:nvSpPr>
        <p:spPr>
          <a:xfrm>
            <a:off x="141783" y="6629792"/>
            <a:ext cx="544830"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dirty="0"/>
              <a:t>A - 12</a:t>
            </a:r>
            <a:endParaRPr dirty="0"/>
          </a:p>
        </p:txBody>
      </p:sp>
      <p:sp>
        <p:nvSpPr>
          <p:cNvPr id="9" name="Google Shape;112;p10">
            <a:extLst>
              <a:ext uri="{FF2B5EF4-FFF2-40B4-BE49-F238E27FC236}">
                <a16:creationId xmlns:a16="http://schemas.microsoft.com/office/drawing/2014/main" id="{A8F52C9D-A0F9-4096-3BFD-0DF6B79FA780}"/>
              </a:ext>
            </a:extLst>
          </p:cNvPr>
          <p:cNvSpPr txBox="1">
            <a:spLocks noGrp="1"/>
          </p:cNvSpPr>
          <p:nvPr>
            <p:ph type="dt" idx="10"/>
          </p:nvPr>
        </p:nvSpPr>
        <p:spPr>
          <a:xfrm>
            <a:off x="1123125" y="6629792"/>
            <a:ext cx="4962525"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cap="small" dirty="0"/>
              <a:t>Dept. of Computer Science and Engineering (AI&amp;ML)</a:t>
            </a:r>
            <a:endParaRPr dirty="0"/>
          </a:p>
        </p:txBody>
      </p:sp>
      <p:sp>
        <p:nvSpPr>
          <p:cNvPr id="10" name="Google Shape;113;p10">
            <a:extLst>
              <a:ext uri="{FF2B5EF4-FFF2-40B4-BE49-F238E27FC236}">
                <a16:creationId xmlns:a16="http://schemas.microsoft.com/office/drawing/2014/main" id="{0A7273BA-C9D5-470E-79C8-004E17DD5E1D}"/>
              </a:ext>
            </a:extLst>
          </p:cNvPr>
          <p:cNvSpPr txBox="1"/>
          <p:nvPr/>
        </p:nvSpPr>
        <p:spPr>
          <a:xfrm>
            <a:off x="7147577" y="6629311"/>
            <a:ext cx="4434823" cy="230832"/>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sz="1600" cap="small">
                <a:solidFill>
                  <a:srgbClr val="FFFFFF"/>
                </a:solidFill>
                <a:latin typeface="Times New Roman"/>
                <a:ea typeface="Times New Roman"/>
                <a:cs typeface="Times New Roman"/>
                <a:sym typeface="Times New Roman"/>
              </a:rPr>
              <a:t>Srinivasa Ramanujan Institute of Technology</a:t>
            </a:r>
            <a:endParaRPr sz="1600">
              <a:latin typeface="Times New Roman"/>
              <a:ea typeface="Times New Roman"/>
              <a:cs typeface="Times New Roman"/>
              <a:sym typeface="Times New Roman"/>
            </a:endParaRPr>
          </a:p>
        </p:txBody>
      </p:sp>
      <p:sp>
        <p:nvSpPr>
          <p:cNvPr id="11" name="Google Shape;115;p10">
            <a:extLst>
              <a:ext uri="{FF2B5EF4-FFF2-40B4-BE49-F238E27FC236}">
                <a16:creationId xmlns:a16="http://schemas.microsoft.com/office/drawing/2014/main" id="{5AE53751-E671-2105-6D25-4C2692D08A0A}"/>
              </a:ext>
            </a:extLst>
          </p:cNvPr>
          <p:cNvSpPr txBox="1"/>
          <p:nvPr/>
        </p:nvSpPr>
        <p:spPr>
          <a:xfrm>
            <a:off x="236964" y="1040179"/>
            <a:ext cx="11955036" cy="5368136"/>
          </a:xfrm>
          <a:prstGeom prst="rect">
            <a:avLst/>
          </a:prstGeom>
          <a:noFill/>
          <a:ln>
            <a:noFill/>
          </a:ln>
        </p:spPr>
        <p:txBody>
          <a:bodyPr spcFirstLastPara="1" wrap="square" lIns="0" tIns="12700" rIns="0" bIns="0" anchor="t" anchorCtr="0">
            <a:spAutoFit/>
          </a:bodyPr>
          <a:lstStyle/>
          <a:p>
            <a:r>
              <a:rPr lang="en-IN" sz="2800" b="1" dirty="0">
                <a:latin typeface="Times New Roman" panose="02020603050405020304" pitchFamily="18" charset="0"/>
                <a:cs typeface="Times New Roman" panose="02020603050405020304" pitchFamily="18" charset="0"/>
              </a:rPr>
              <a:t>Current Approach:</a:t>
            </a:r>
            <a:endParaRPr lang="en-IN" sz="2800" dirty="0">
              <a:latin typeface="Times New Roman" panose="02020603050405020304" pitchFamily="18" charset="0"/>
              <a:cs typeface="Times New Roman" panose="02020603050405020304" pitchFamily="18" charset="0"/>
            </a:endParaRP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Based on YOLOv8 deep learning model</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design with enhanced feature extraction</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Effective for general object detection</a:t>
            </a:r>
          </a:p>
          <a:p>
            <a:endParaRPr lang="en-IN" sz="24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Key Limitations:</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Poor detection under occlusion, clutter, and low resolution</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Reduced performance in low-light and complex backgrounds</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Struggles with scale variation (small/distant pedestrians)</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Lacks contextual understanding and motion adaptability</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Difficulty distinguishing pedestrians from similar backgrounds</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Not optimized for pedestrian-specific challenges</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Limited robustness in dense, dynamic urban environments</a:t>
            </a:r>
          </a:p>
          <a:p>
            <a:r>
              <a:rPr lang="en-IN" sz="2800" dirty="0"/>
              <a:t> </a:t>
            </a:r>
          </a:p>
        </p:txBody>
      </p:sp>
    </p:spTree>
    <p:extLst>
      <p:ext uri="{BB962C8B-B14F-4D97-AF65-F5344CB8AC3E}">
        <p14:creationId xmlns:p14="http://schemas.microsoft.com/office/powerpoint/2010/main" val="1264357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1"/>
          <p:cNvSpPr txBox="1"/>
          <p:nvPr/>
        </p:nvSpPr>
        <p:spPr>
          <a:xfrm>
            <a:off x="2748061" y="-28243"/>
            <a:ext cx="6695874" cy="2436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IN" sz="1500" b="1" i="1" dirty="0">
                <a:solidFill>
                  <a:srgbClr val="FFFFFF"/>
                </a:solidFill>
                <a:latin typeface="Times New Roman"/>
                <a:ea typeface="Times New Roman"/>
                <a:cs typeface="Times New Roman"/>
                <a:sym typeface="Times New Roman"/>
              </a:rPr>
              <a:t>Real-Time Pedestrian Detection in Autonomous Systems using Deep Learning</a:t>
            </a:r>
            <a:endParaRPr sz="1500" dirty="0">
              <a:latin typeface="Times New Roman"/>
              <a:ea typeface="Times New Roman"/>
              <a:cs typeface="Times New Roman"/>
              <a:sym typeface="Times New Roman"/>
            </a:endParaRPr>
          </a:p>
        </p:txBody>
      </p:sp>
      <p:grpSp>
        <p:nvGrpSpPr>
          <p:cNvPr id="121" name="Google Shape;121;p11"/>
          <p:cNvGrpSpPr/>
          <p:nvPr/>
        </p:nvGrpSpPr>
        <p:grpSpPr>
          <a:xfrm>
            <a:off x="-2" y="216249"/>
            <a:ext cx="12192002" cy="803792"/>
            <a:chOff x="-2" y="216249"/>
            <a:chExt cx="12192002" cy="803792"/>
          </a:xfrm>
        </p:grpSpPr>
        <p:pic>
          <p:nvPicPr>
            <p:cNvPr id="122" name="Google Shape;122;p11"/>
            <p:cNvPicPr preferRelativeResize="0"/>
            <p:nvPr/>
          </p:nvPicPr>
          <p:blipFill rotWithShape="1">
            <a:blip r:embed="rId3">
              <a:alphaModFix/>
            </a:blip>
            <a:srcRect/>
            <a:stretch/>
          </p:blipFill>
          <p:spPr>
            <a:xfrm>
              <a:off x="0" y="216249"/>
              <a:ext cx="12192000" cy="803792"/>
            </a:xfrm>
            <a:prstGeom prst="rect">
              <a:avLst/>
            </a:prstGeom>
            <a:noFill/>
            <a:ln>
              <a:noFill/>
            </a:ln>
          </p:spPr>
        </p:pic>
        <p:sp>
          <p:nvSpPr>
            <p:cNvPr id="123" name="Google Shape;123;p11"/>
            <p:cNvSpPr/>
            <p:nvPr/>
          </p:nvSpPr>
          <p:spPr>
            <a:xfrm>
              <a:off x="-2" y="232759"/>
              <a:ext cx="12192000" cy="715010"/>
            </a:xfrm>
            <a:custGeom>
              <a:avLst/>
              <a:gdLst/>
              <a:ahLst/>
              <a:cxnLst/>
              <a:rect l="l" t="t" r="r" b="b"/>
              <a:pathLst>
                <a:path w="12192000" h="715010" extrusionOk="0">
                  <a:moveTo>
                    <a:pt x="12191999" y="714891"/>
                  </a:moveTo>
                  <a:lnTo>
                    <a:pt x="0" y="714891"/>
                  </a:lnTo>
                  <a:lnTo>
                    <a:pt x="0" y="0"/>
                  </a:lnTo>
                  <a:lnTo>
                    <a:pt x="12191999" y="0"/>
                  </a:lnTo>
                  <a:lnTo>
                    <a:pt x="12191999" y="714891"/>
                  </a:lnTo>
                  <a:close/>
                </a:path>
              </a:pathLst>
            </a:custGeom>
            <a:solidFill>
              <a:srgbClr val="FF66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24" name="Google Shape;124;p11"/>
          <p:cNvSpPr txBox="1">
            <a:spLocks noGrp="1"/>
          </p:cNvSpPr>
          <p:nvPr>
            <p:ph type="title"/>
          </p:nvPr>
        </p:nvSpPr>
        <p:spPr>
          <a:xfrm>
            <a:off x="150193" y="216249"/>
            <a:ext cx="394652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dirty="0"/>
              <a:t>Literature Survey</a:t>
            </a:r>
            <a:endParaRPr dirty="0"/>
          </a:p>
        </p:txBody>
      </p:sp>
      <p:sp>
        <p:nvSpPr>
          <p:cNvPr id="125" name="Google Shape;125;p11"/>
          <p:cNvSpPr txBox="1">
            <a:spLocks noGrp="1"/>
          </p:cNvSpPr>
          <p:nvPr>
            <p:ph type="ftr" idx="11"/>
          </p:nvPr>
        </p:nvSpPr>
        <p:spPr>
          <a:xfrm>
            <a:off x="141783" y="6629792"/>
            <a:ext cx="544830"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dirty="0"/>
              <a:t>A - 12</a:t>
            </a:r>
            <a:endParaRPr dirty="0"/>
          </a:p>
        </p:txBody>
      </p:sp>
      <p:sp>
        <p:nvSpPr>
          <p:cNvPr id="126" name="Google Shape;126;p11"/>
          <p:cNvSpPr txBox="1">
            <a:spLocks noGrp="1"/>
          </p:cNvSpPr>
          <p:nvPr>
            <p:ph type="dt" idx="10"/>
          </p:nvPr>
        </p:nvSpPr>
        <p:spPr>
          <a:xfrm>
            <a:off x="1123125" y="6629792"/>
            <a:ext cx="4962525" cy="566309"/>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cap="small" dirty="0"/>
              <a:t>Dept. of Computer Science and Engineering (AI&amp;ML)</a:t>
            </a:r>
            <a:endParaRPr dirty="0"/>
          </a:p>
          <a:p>
            <a:pPr marL="12700" lvl="0" indent="0" algn="l" rtl="0">
              <a:lnSpc>
                <a:spcPct val="115312"/>
              </a:lnSpc>
              <a:spcBef>
                <a:spcPts val="0"/>
              </a:spcBef>
              <a:spcAft>
                <a:spcPts val="0"/>
              </a:spcAft>
              <a:buNone/>
            </a:pPr>
            <a:endParaRPr cap="small" dirty="0"/>
          </a:p>
        </p:txBody>
      </p:sp>
      <p:sp>
        <p:nvSpPr>
          <p:cNvPr id="127" name="Google Shape;127;p11"/>
          <p:cNvSpPr txBox="1"/>
          <p:nvPr/>
        </p:nvSpPr>
        <p:spPr>
          <a:xfrm>
            <a:off x="7147577" y="6629311"/>
            <a:ext cx="4434823" cy="228690"/>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sz="1600" cap="small">
                <a:solidFill>
                  <a:srgbClr val="FFFFFF"/>
                </a:solidFill>
                <a:latin typeface="Times New Roman"/>
                <a:ea typeface="Times New Roman"/>
                <a:cs typeface="Times New Roman"/>
                <a:sym typeface="Times New Roman"/>
              </a:rPr>
              <a:t>Srinivasa Ramanujan Institute of Technology</a:t>
            </a:r>
            <a:endParaRPr sz="1600">
              <a:latin typeface="Times New Roman"/>
              <a:ea typeface="Times New Roman"/>
              <a:cs typeface="Times New Roman"/>
              <a:sym typeface="Times New Roman"/>
            </a:endParaRPr>
          </a:p>
        </p:txBody>
      </p:sp>
      <p:graphicFrame>
        <p:nvGraphicFramePr>
          <p:cNvPr id="129" name="Google Shape;129;p11"/>
          <p:cNvGraphicFramePr/>
          <p:nvPr>
            <p:extLst>
              <p:ext uri="{D42A27DB-BD31-4B8C-83A1-F6EECF244321}">
                <p14:modId xmlns:p14="http://schemas.microsoft.com/office/powerpoint/2010/main" val="907554220"/>
              </p:ext>
            </p:extLst>
          </p:nvPr>
        </p:nvGraphicFramePr>
        <p:xfrm>
          <a:off x="150193" y="1080769"/>
          <a:ext cx="11625600" cy="2862585"/>
        </p:xfrm>
        <a:graphic>
          <a:graphicData uri="http://schemas.openxmlformats.org/drawingml/2006/table">
            <a:tbl>
              <a:tblPr firstRow="1" bandRow="1">
                <a:noFill/>
                <a:tableStyleId>{F26C65F8-C0BF-4FCC-803B-7EA1B5098099}</a:tableStyleId>
              </a:tblPr>
              <a:tblGrid>
                <a:gridCol w="514975">
                  <a:extLst>
                    <a:ext uri="{9D8B030D-6E8A-4147-A177-3AD203B41FA5}">
                      <a16:colId xmlns:a16="http://schemas.microsoft.com/office/drawing/2014/main" val="20000"/>
                    </a:ext>
                  </a:extLst>
                </a:gridCol>
                <a:gridCol w="2005975">
                  <a:extLst>
                    <a:ext uri="{9D8B030D-6E8A-4147-A177-3AD203B41FA5}">
                      <a16:colId xmlns:a16="http://schemas.microsoft.com/office/drawing/2014/main" val="20001"/>
                    </a:ext>
                  </a:extLst>
                </a:gridCol>
                <a:gridCol w="1520825">
                  <a:extLst>
                    <a:ext uri="{9D8B030D-6E8A-4147-A177-3AD203B41FA5}">
                      <a16:colId xmlns:a16="http://schemas.microsoft.com/office/drawing/2014/main" val="20002"/>
                    </a:ext>
                  </a:extLst>
                </a:gridCol>
                <a:gridCol w="1539250">
                  <a:extLst>
                    <a:ext uri="{9D8B030D-6E8A-4147-A177-3AD203B41FA5}">
                      <a16:colId xmlns:a16="http://schemas.microsoft.com/office/drawing/2014/main" val="20003"/>
                    </a:ext>
                  </a:extLst>
                </a:gridCol>
                <a:gridCol w="1893575">
                  <a:extLst>
                    <a:ext uri="{9D8B030D-6E8A-4147-A177-3AD203B41FA5}">
                      <a16:colId xmlns:a16="http://schemas.microsoft.com/office/drawing/2014/main" val="20004"/>
                    </a:ext>
                  </a:extLst>
                </a:gridCol>
                <a:gridCol w="2201550">
                  <a:extLst>
                    <a:ext uri="{9D8B030D-6E8A-4147-A177-3AD203B41FA5}">
                      <a16:colId xmlns:a16="http://schemas.microsoft.com/office/drawing/2014/main" val="20005"/>
                    </a:ext>
                  </a:extLst>
                </a:gridCol>
                <a:gridCol w="1949450">
                  <a:extLst>
                    <a:ext uri="{9D8B030D-6E8A-4147-A177-3AD203B41FA5}">
                      <a16:colId xmlns:a16="http://schemas.microsoft.com/office/drawing/2014/main" val="20006"/>
                    </a:ext>
                  </a:extLst>
                </a:gridCol>
              </a:tblGrid>
              <a:tr h="639450">
                <a:tc>
                  <a:txBody>
                    <a:bodyPr/>
                    <a:lstStyle/>
                    <a:p>
                      <a:pPr marL="85725" marR="0" lvl="0" indent="0" algn="l" rtl="0">
                        <a:lnSpc>
                          <a:spcPct val="100000"/>
                        </a:lnSpc>
                        <a:spcBef>
                          <a:spcPts val="0"/>
                        </a:spcBef>
                        <a:spcAft>
                          <a:spcPts val="0"/>
                        </a:spcAft>
                        <a:buNone/>
                      </a:pPr>
                      <a:r>
                        <a:rPr lang="en-US" sz="1800" b="1" u="none" strike="noStrike" cap="none">
                          <a:solidFill>
                            <a:srgbClr val="FFFFFF"/>
                          </a:solidFill>
                          <a:latin typeface="Calibri"/>
                          <a:ea typeface="Calibri"/>
                          <a:cs typeface="Calibri"/>
                          <a:sym typeface="Calibri"/>
                        </a:rPr>
                        <a:t>No</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4"/>
                    </a:solidFill>
                  </a:tcPr>
                </a:tc>
                <a:tc>
                  <a:txBody>
                    <a:bodyPr/>
                    <a:lstStyle/>
                    <a:p>
                      <a:pPr marL="85725" marR="0" lvl="0" indent="0" algn="l" rtl="0">
                        <a:lnSpc>
                          <a:spcPct val="100000"/>
                        </a:lnSpc>
                        <a:spcBef>
                          <a:spcPts val="0"/>
                        </a:spcBef>
                        <a:spcAft>
                          <a:spcPts val="0"/>
                        </a:spcAft>
                        <a:buNone/>
                      </a:pPr>
                      <a:r>
                        <a:rPr lang="en-US" sz="1800" b="1" u="none" strike="noStrike" cap="none">
                          <a:solidFill>
                            <a:srgbClr val="FFFFFF"/>
                          </a:solidFill>
                          <a:latin typeface="Calibri"/>
                          <a:ea typeface="Calibri"/>
                          <a:cs typeface="Calibri"/>
                          <a:sym typeface="Calibri"/>
                        </a:rPr>
                        <a:t>Title</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4"/>
                    </a:solidFill>
                  </a:tcPr>
                </a:tc>
                <a:tc>
                  <a:txBody>
                    <a:bodyPr/>
                    <a:lstStyle/>
                    <a:p>
                      <a:pPr marL="85725" marR="0" lvl="0" indent="0" algn="l" rtl="0">
                        <a:lnSpc>
                          <a:spcPct val="100000"/>
                        </a:lnSpc>
                        <a:spcBef>
                          <a:spcPts val="0"/>
                        </a:spcBef>
                        <a:spcAft>
                          <a:spcPts val="0"/>
                        </a:spcAft>
                        <a:buNone/>
                      </a:pPr>
                      <a:r>
                        <a:rPr lang="en-US" sz="1800" b="1" u="none" strike="noStrike" cap="none">
                          <a:solidFill>
                            <a:srgbClr val="FFFFFF"/>
                          </a:solidFill>
                          <a:latin typeface="Calibri"/>
                          <a:ea typeface="Calibri"/>
                          <a:cs typeface="Calibri"/>
                          <a:sym typeface="Calibri"/>
                        </a:rPr>
                        <a:t>Author</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4"/>
                    </a:solidFill>
                  </a:tcPr>
                </a:tc>
                <a:tc>
                  <a:txBody>
                    <a:bodyPr/>
                    <a:lstStyle/>
                    <a:p>
                      <a:pPr marL="85725" marR="137160" lvl="0" indent="0" algn="l" rtl="0">
                        <a:lnSpc>
                          <a:spcPct val="100000"/>
                        </a:lnSpc>
                        <a:spcBef>
                          <a:spcPts val="0"/>
                        </a:spcBef>
                        <a:spcAft>
                          <a:spcPts val="0"/>
                        </a:spcAft>
                        <a:buNone/>
                      </a:pPr>
                      <a:r>
                        <a:rPr lang="en-US" sz="1800" b="1" u="none" strike="noStrike" cap="none">
                          <a:solidFill>
                            <a:srgbClr val="FFFFFF"/>
                          </a:solidFill>
                          <a:latin typeface="Calibri"/>
                          <a:ea typeface="Calibri"/>
                          <a:cs typeface="Calibri"/>
                          <a:sym typeface="Calibri"/>
                        </a:rPr>
                        <a:t>Journal Name &amp; Year</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4"/>
                    </a:solidFill>
                  </a:tcPr>
                </a:tc>
                <a:tc>
                  <a:txBody>
                    <a:bodyPr/>
                    <a:lstStyle/>
                    <a:p>
                      <a:pPr marL="85090" marR="521334" lvl="0" indent="0" algn="l" rtl="0">
                        <a:lnSpc>
                          <a:spcPct val="100000"/>
                        </a:lnSpc>
                        <a:spcBef>
                          <a:spcPts val="0"/>
                        </a:spcBef>
                        <a:spcAft>
                          <a:spcPts val="0"/>
                        </a:spcAft>
                        <a:buNone/>
                      </a:pPr>
                      <a:r>
                        <a:rPr lang="en-US" sz="1800" b="1" u="none" strike="noStrike" cap="none">
                          <a:solidFill>
                            <a:srgbClr val="FFFFFF"/>
                          </a:solidFill>
                          <a:latin typeface="Calibri"/>
                          <a:ea typeface="Calibri"/>
                          <a:cs typeface="Calibri"/>
                          <a:sym typeface="Calibri"/>
                        </a:rPr>
                        <a:t>Methodology Adapted</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4"/>
                    </a:solidFill>
                  </a:tcPr>
                </a:tc>
                <a:tc>
                  <a:txBody>
                    <a:bodyPr/>
                    <a:lstStyle/>
                    <a:p>
                      <a:pPr marL="85725" marR="0" lvl="0" indent="0" algn="l" rtl="0">
                        <a:lnSpc>
                          <a:spcPct val="100000"/>
                        </a:lnSpc>
                        <a:spcBef>
                          <a:spcPts val="0"/>
                        </a:spcBef>
                        <a:spcAft>
                          <a:spcPts val="0"/>
                        </a:spcAft>
                        <a:buNone/>
                      </a:pPr>
                      <a:r>
                        <a:rPr lang="en-US" sz="1800" b="1" u="none" strike="noStrike" cap="none">
                          <a:solidFill>
                            <a:srgbClr val="FFFFFF"/>
                          </a:solidFill>
                          <a:latin typeface="Calibri"/>
                          <a:ea typeface="Calibri"/>
                          <a:cs typeface="Calibri"/>
                          <a:sym typeface="Calibri"/>
                        </a:rPr>
                        <a:t>Key Findings</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4"/>
                    </a:solidFill>
                  </a:tcPr>
                </a:tc>
                <a:tc>
                  <a:txBody>
                    <a:bodyPr/>
                    <a:lstStyle/>
                    <a:p>
                      <a:pPr marL="85725" marR="0" lvl="0" indent="0" algn="l" rtl="0">
                        <a:lnSpc>
                          <a:spcPct val="100000"/>
                        </a:lnSpc>
                        <a:spcBef>
                          <a:spcPts val="0"/>
                        </a:spcBef>
                        <a:spcAft>
                          <a:spcPts val="0"/>
                        </a:spcAft>
                        <a:buNone/>
                      </a:pPr>
                      <a:r>
                        <a:rPr lang="en-US" sz="1800" b="1" u="none" strike="noStrike" cap="none">
                          <a:solidFill>
                            <a:srgbClr val="FFFFFF"/>
                          </a:solidFill>
                          <a:latin typeface="Calibri"/>
                          <a:ea typeface="Calibri"/>
                          <a:cs typeface="Calibri"/>
                          <a:sym typeface="Calibri"/>
                        </a:rPr>
                        <a:t>Gaps</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4"/>
                    </a:solidFill>
                  </a:tcPr>
                </a:tc>
                <a:extLst>
                  <a:ext uri="{0D108BD9-81ED-4DB2-BD59-A6C34878D82A}">
                    <a16:rowId xmlns:a16="http://schemas.microsoft.com/office/drawing/2014/main" val="10000"/>
                  </a:ext>
                </a:extLst>
              </a:tr>
              <a:tr h="1188725">
                <a:tc>
                  <a:txBody>
                    <a:bodyPr/>
                    <a:lstStyle/>
                    <a:p>
                      <a:pPr marL="85725" marR="0" lvl="0" indent="0" algn="l" rtl="0">
                        <a:lnSpc>
                          <a:spcPct val="100000"/>
                        </a:lnSpc>
                        <a:spcBef>
                          <a:spcPts val="0"/>
                        </a:spcBef>
                        <a:spcAft>
                          <a:spcPts val="0"/>
                        </a:spcAft>
                        <a:buNone/>
                      </a:pPr>
                      <a:r>
                        <a:rPr lang="en-US" sz="1800" u="none" strike="noStrike" cap="none" dirty="0">
                          <a:latin typeface="Calibri"/>
                          <a:ea typeface="Calibri"/>
                          <a:cs typeface="Calibri"/>
                          <a:sym typeface="Calibri"/>
                        </a:rPr>
                        <a:t>1.</a:t>
                      </a:r>
                      <a:endParaRPr sz="1800" u="none" strike="noStrike" cap="none" dirty="0">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E"/>
                    </a:solidFill>
                  </a:tcPr>
                </a:tc>
                <a:tc>
                  <a:txBody>
                    <a:bodyPr/>
                    <a:lstStyle/>
                    <a:p>
                      <a:pPr marL="85725" marR="172720" lvl="0" indent="0" algn="l" rtl="0">
                        <a:lnSpc>
                          <a:spcPct val="100000"/>
                        </a:lnSpc>
                        <a:spcBef>
                          <a:spcPts val="0"/>
                        </a:spcBef>
                        <a:spcAft>
                          <a:spcPts val="0"/>
                        </a:spcAft>
                        <a:buNone/>
                      </a:pPr>
                      <a:r>
                        <a:rPr lang="en-US" sz="1800" u="none" strike="noStrike" cap="none" dirty="0">
                          <a:latin typeface="Calibri"/>
                          <a:ea typeface="Calibri"/>
                          <a:cs typeface="Calibri"/>
                          <a:sym typeface="Calibri"/>
                        </a:rPr>
                        <a:t>A Survey of Deep Learning </a:t>
                      </a:r>
                      <a:r>
                        <a:rPr lang="en-US" sz="1800" u="none" strike="noStrike" cap="none" dirty="0" err="1">
                          <a:latin typeface="Calibri"/>
                          <a:ea typeface="Calibri"/>
                          <a:cs typeface="Calibri"/>
                          <a:sym typeface="Calibri"/>
                        </a:rPr>
                        <a:t>Approches</a:t>
                      </a:r>
                      <a:r>
                        <a:rPr lang="en-US" sz="1800" u="none" strike="noStrike" cap="none" dirty="0">
                          <a:latin typeface="Calibri"/>
                          <a:ea typeface="Calibri"/>
                          <a:cs typeface="Calibri"/>
                          <a:sym typeface="Calibri"/>
                        </a:rPr>
                        <a:t> for Pedestrian Detection in Autonomous Systems</a:t>
                      </a:r>
                      <a:endParaRPr sz="1800" u="none" strike="noStrike" cap="none" dirty="0">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E"/>
                    </a:solidFill>
                  </a:tcPr>
                </a:tc>
                <a:tc>
                  <a:txBody>
                    <a:bodyPr/>
                    <a:lstStyle/>
                    <a:p>
                      <a:pPr marL="85725" marR="504825" lvl="0" indent="0" algn="l" rtl="0">
                        <a:lnSpc>
                          <a:spcPct val="100000"/>
                        </a:lnSpc>
                        <a:spcBef>
                          <a:spcPts val="0"/>
                        </a:spcBef>
                        <a:spcAft>
                          <a:spcPts val="0"/>
                        </a:spcAft>
                        <a:buNone/>
                      </a:pPr>
                      <a:r>
                        <a:rPr lang="en-US" sz="1800" u="none" strike="noStrike" cap="none" dirty="0">
                          <a:latin typeface="Calibri"/>
                          <a:ea typeface="Calibri"/>
                          <a:cs typeface="Calibri"/>
                          <a:sym typeface="Calibri"/>
                        </a:rPr>
                        <a:t>Majdi Sukkar, </a:t>
                      </a:r>
                      <a:r>
                        <a:rPr lang="en-US" sz="1800" u="none" strike="noStrike" cap="none" dirty="0" err="1">
                          <a:latin typeface="Calibri"/>
                          <a:ea typeface="Calibri"/>
                          <a:cs typeface="Calibri"/>
                          <a:sym typeface="Calibri"/>
                        </a:rPr>
                        <a:t>Rajendrasinh</a:t>
                      </a:r>
                      <a:r>
                        <a:rPr lang="en-US" sz="1800" u="none" strike="noStrike" cap="none" dirty="0">
                          <a:latin typeface="Calibri"/>
                          <a:ea typeface="Calibri"/>
                          <a:cs typeface="Calibri"/>
                          <a:sym typeface="Calibri"/>
                        </a:rPr>
                        <a:t> Jadeja, Madhu Shukla</a:t>
                      </a: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E"/>
                    </a:solidFill>
                  </a:tcPr>
                </a:tc>
                <a:tc>
                  <a:txBody>
                    <a:bodyPr/>
                    <a:lstStyle/>
                    <a:p>
                      <a:pPr marL="85725" marR="104139" lvl="0" indent="0" algn="l" rtl="0">
                        <a:lnSpc>
                          <a:spcPct val="100000"/>
                        </a:lnSpc>
                        <a:spcBef>
                          <a:spcPts val="0"/>
                        </a:spcBef>
                        <a:spcAft>
                          <a:spcPts val="0"/>
                        </a:spcAft>
                        <a:buNone/>
                      </a:pPr>
                      <a:r>
                        <a:rPr lang="en-US" sz="1800" u="none" strike="noStrike" cap="none" dirty="0">
                          <a:latin typeface="Calibri"/>
                          <a:ea typeface="Calibri"/>
                          <a:cs typeface="Calibri"/>
                          <a:sym typeface="Calibri"/>
                        </a:rPr>
                        <a:t>IEEE </a:t>
                      </a:r>
                      <a:r>
                        <a:rPr lang="en-US" sz="1800" u="none" strike="noStrike" cap="none" dirty="0" err="1">
                          <a:latin typeface="Calibri"/>
                          <a:ea typeface="Calibri"/>
                          <a:cs typeface="Calibri"/>
                          <a:sym typeface="Calibri"/>
                        </a:rPr>
                        <a:t>Acess</a:t>
                      </a:r>
                      <a:r>
                        <a:rPr lang="en-US" sz="1800" u="none" strike="noStrike" cap="none" dirty="0">
                          <a:latin typeface="Calibri"/>
                          <a:ea typeface="Calibri"/>
                          <a:cs typeface="Calibri"/>
                          <a:sym typeface="Calibri"/>
                        </a:rPr>
                        <a:t> Journal &amp; 2024</a:t>
                      </a:r>
                      <a:endParaRPr sz="1800" u="none" strike="noStrike" cap="none" dirty="0">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E"/>
                    </a:solidFill>
                  </a:tcPr>
                </a:tc>
                <a:tc>
                  <a:txBody>
                    <a:bodyPr/>
                    <a:lstStyle/>
                    <a:p>
                      <a:pPr marL="85090" marR="462915" lvl="0" indent="0" algn="l" rtl="0">
                        <a:lnSpc>
                          <a:spcPct val="100000"/>
                        </a:lnSpc>
                        <a:spcBef>
                          <a:spcPts val="0"/>
                        </a:spcBef>
                        <a:spcAft>
                          <a:spcPts val="0"/>
                        </a:spcAft>
                        <a:buNone/>
                      </a:pPr>
                      <a:r>
                        <a:rPr lang="en-US" sz="1800" u="none" strike="noStrike" cap="none">
                          <a:latin typeface="Calibri"/>
                          <a:ea typeface="Calibri"/>
                          <a:cs typeface="Calibri"/>
                          <a:sym typeface="Calibri"/>
                        </a:rPr>
                        <a:t>Deep Learning Techniques</a:t>
                      </a:r>
                      <a:endParaRPr sz="1800" u="none" strike="noStrike" cap="none">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E"/>
                    </a:solidFill>
                  </a:tcPr>
                </a:tc>
                <a:tc>
                  <a:txBody>
                    <a:bodyPr/>
                    <a:lstStyle/>
                    <a:p>
                      <a:pPr marL="85725" marR="192405" lvl="0" indent="0" algn="l" rtl="0">
                        <a:lnSpc>
                          <a:spcPct val="100000"/>
                        </a:lnSpc>
                        <a:spcBef>
                          <a:spcPts val="0"/>
                        </a:spcBef>
                        <a:spcAft>
                          <a:spcPts val="0"/>
                        </a:spcAft>
                        <a:buNone/>
                      </a:pPr>
                      <a:r>
                        <a:rPr lang="en-US" sz="1800" u="none" strike="noStrike" cap="none" dirty="0" err="1">
                          <a:latin typeface="Calibri"/>
                          <a:ea typeface="Calibri"/>
                          <a:cs typeface="Calibri"/>
                          <a:sym typeface="Calibri"/>
                        </a:rPr>
                        <a:t>Enchanced</a:t>
                      </a:r>
                      <a:r>
                        <a:rPr lang="en-US" sz="1800" u="none" strike="noStrike" cap="none" dirty="0">
                          <a:latin typeface="Calibri"/>
                          <a:ea typeface="Calibri"/>
                          <a:cs typeface="Calibri"/>
                          <a:sym typeface="Calibri"/>
                        </a:rPr>
                        <a:t> Detection Frameworks,</a:t>
                      </a:r>
                    </a:p>
                    <a:p>
                      <a:pPr marL="85725" marR="192405" lvl="0" indent="0" algn="l" rtl="0">
                        <a:lnSpc>
                          <a:spcPct val="100000"/>
                        </a:lnSpc>
                        <a:spcBef>
                          <a:spcPts val="0"/>
                        </a:spcBef>
                        <a:spcAft>
                          <a:spcPts val="0"/>
                        </a:spcAft>
                        <a:buNone/>
                      </a:pPr>
                      <a:r>
                        <a:rPr lang="en-US" sz="1800" u="none" strike="noStrike" cap="none" dirty="0">
                          <a:latin typeface="Calibri"/>
                          <a:ea typeface="Calibri"/>
                          <a:cs typeface="Calibri"/>
                          <a:sym typeface="Calibri"/>
                        </a:rPr>
                        <a:t>Real Time Processing,</a:t>
                      </a:r>
                    </a:p>
                    <a:p>
                      <a:pPr marL="85725" marR="192405" lvl="0" indent="0" algn="l" rtl="0">
                        <a:lnSpc>
                          <a:spcPct val="100000"/>
                        </a:lnSpc>
                        <a:spcBef>
                          <a:spcPts val="0"/>
                        </a:spcBef>
                        <a:spcAft>
                          <a:spcPts val="0"/>
                        </a:spcAft>
                        <a:buNone/>
                      </a:pPr>
                      <a:r>
                        <a:rPr lang="en-US" sz="1800" u="none" strike="noStrike" cap="none" dirty="0">
                          <a:latin typeface="Calibri"/>
                          <a:ea typeface="Calibri"/>
                          <a:cs typeface="Calibri"/>
                          <a:sym typeface="Calibri"/>
                        </a:rPr>
                        <a:t>Research Directions</a:t>
                      </a:r>
                      <a:endParaRPr sz="1800" u="none" strike="noStrike" cap="none" dirty="0">
                        <a:latin typeface="Calibri"/>
                        <a:ea typeface="Calibri"/>
                        <a:cs typeface="Calibri"/>
                        <a:sym typeface="Calibri"/>
                      </a:endParaRP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E"/>
                    </a:solidFill>
                  </a:tcPr>
                </a:tc>
                <a:tc>
                  <a:txBody>
                    <a:bodyPr/>
                    <a:lstStyle/>
                    <a:p>
                      <a:pPr marL="85725" marR="348615" lvl="0" indent="0" algn="l" rtl="0">
                        <a:lnSpc>
                          <a:spcPct val="100000"/>
                        </a:lnSpc>
                        <a:spcBef>
                          <a:spcPts val="0"/>
                        </a:spcBef>
                        <a:spcAft>
                          <a:spcPts val="0"/>
                        </a:spcAft>
                        <a:buNone/>
                      </a:pPr>
                      <a:r>
                        <a:rPr lang="en-US" sz="1800" u="none" strike="noStrike" cap="none" dirty="0">
                          <a:latin typeface="Calibri"/>
                          <a:ea typeface="Calibri"/>
                          <a:cs typeface="Calibri"/>
                          <a:sym typeface="Calibri"/>
                        </a:rPr>
                        <a:t>Exploring these models on a diverse datasets which has low-visibility conditions, shadows, occlusions etc.,</a:t>
                      </a:r>
                    </a:p>
                  </a:txBody>
                  <a:tcPr marL="0" marR="0" marT="285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E"/>
                    </a:solidFill>
                  </a:tcPr>
                </a:tc>
                <a:extLst>
                  <a:ext uri="{0D108BD9-81ED-4DB2-BD59-A6C34878D82A}">
                    <a16:rowId xmlns:a16="http://schemas.microsoft.com/office/drawing/2014/main" val="10001"/>
                  </a:ext>
                </a:extLst>
              </a:tr>
            </a:tbl>
          </a:graphicData>
        </a:graphic>
      </p:graphicFrame>
      <p:sp>
        <p:nvSpPr>
          <p:cNvPr id="2" name="TextBox 1">
            <a:extLst>
              <a:ext uri="{FF2B5EF4-FFF2-40B4-BE49-F238E27FC236}">
                <a16:creationId xmlns:a16="http://schemas.microsoft.com/office/drawing/2014/main" id="{2A749DF9-A7C3-73A3-2B62-A738CA90FE66}"/>
              </a:ext>
            </a:extLst>
          </p:cNvPr>
          <p:cNvSpPr txBox="1"/>
          <p:nvPr/>
        </p:nvSpPr>
        <p:spPr>
          <a:xfrm>
            <a:off x="310026" y="4162708"/>
            <a:ext cx="9572264" cy="2246769"/>
          </a:xfrm>
          <a:prstGeom prst="rect">
            <a:avLst/>
          </a:prstGeom>
          <a:noFill/>
        </p:spPr>
        <p:txBody>
          <a:bodyPr wrap="square" rtlCol="0">
            <a:sp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Overview of YOLO evolution: YOLOv1 to YOLOv8.</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Strengths of YOLOv8: speed, anchor-free detection.</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Limitations: occlusion, small-scale pedestrians, cluttered backgrounds.</a:t>
            </a:r>
          </a:p>
          <a:p>
            <a:pPr marL="342900" indent="-34290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Related works: Caltech, </a:t>
            </a:r>
            <a:r>
              <a:rPr lang="en-IN" sz="2000" dirty="0" err="1">
                <a:latin typeface="Times New Roman" panose="02020603050405020304" pitchFamily="18" charset="0"/>
                <a:cs typeface="Times New Roman" panose="02020603050405020304" pitchFamily="18" charset="0"/>
              </a:rPr>
              <a:t>CityPersons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CrowdHuman</a:t>
            </a:r>
            <a:r>
              <a:rPr lang="en-IN" sz="2000" dirty="0">
                <a:latin typeface="Times New Roman" panose="02020603050405020304" pitchFamily="18" charset="0"/>
                <a:cs typeface="Times New Roman" panose="02020603050405020304" pitchFamily="18" charset="0"/>
              </a:rPr>
              <a:t> datasets.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2"/>
          <p:cNvSpPr txBox="1"/>
          <p:nvPr/>
        </p:nvSpPr>
        <p:spPr>
          <a:xfrm>
            <a:off x="2974903" y="-19152"/>
            <a:ext cx="8345347" cy="2436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IN" sz="1500" b="1" i="1" dirty="0">
                <a:solidFill>
                  <a:srgbClr val="FFFFFF"/>
                </a:solidFill>
                <a:latin typeface="Times New Roman"/>
                <a:ea typeface="Times New Roman"/>
                <a:cs typeface="Times New Roman"/>
                <a:sym typeface="Times New Roman"/>
              </a:rPr>
              <a:t>Real-Time Pedestrian Detection in Autonomous Systems using Deep Learning</a:t>
            </a:r>
            <a:endParaRPr sz="1500" dirty="0">
              <a:latin typeface="Times New Roman"/>
              <a:ea typeface="Times New Roman"/>
              <a:cs typeface="Times New Roman"/>
              <a:sym typeface="Times New Roman"/>
            </a:endParaRPr>
          </a:p>
        </p:txBody>
      </p:sp>
      <p:grpSp>
        <p:nvGrpSpPr>
          <p:cNvPr id="135" name="Google Shape;135;p12"/>
          <p:cNvGrpSpPr/>
          <p:nvPr/>
        </p:nvGrpSpPr>
        <p:grpSpPr>
          <a:xfrm>
            <a:off x="-2" y="216249"/>
            <a:ext cx="12192002" cy="803792"/>
            <a:chOff x="-2" y="216249"/>
            <a:chExt cx="12192002" cy="803792"/>
          </a:xfrm>
        </p:grpSpPr>
        <p:pic>
          <p:nvPicPr>
            <p:cNvPr id="136" name="Google Shape;136;p12"/>
            <p:cNvPicPr preferRelativeResize="0"/>
            <p:nvPr/>
          </p:nvPicPr>
          <p:blipFill rotWithShape="1">
            <a:blip r:embed="rId3">
              <a:alphaModFix/>
            </a:blip>
            <a:srcRect/>
            <a:stretch/>
          </p:blipFill>
          <p:spPr>
            <a:xfrm>
              <a:off x="0" y="216249"/>
              <a:ext cx="12192000" cy="803792"/>
            </a:xfrm>
            <a:prstGeom prst="rect">
              <a:avLst/>
            </a:prstGeom>
            <a:noFill/>
            <a:ln>
              <a:noFill/>
            </a:ln>
          </p:spPr>
        </p:pic>
        <p:sp>
          <p:nvSpPr>
            <p:cNvPr id="137" name="Google Shape;137;p12"/>
            <p:cNvSpPr/>
            <p:nvPr/>
          </p:nvSpPr>
          <p:spPr>
            <a:xfrm>
              <a:off x="-2" y="232759"/>
              <a:ext cx="12192000" cy="715010"/>
            </a:xfrm>
            <a:custGeom>
              <a:avLst/>
              <a:gdLst/>
              <a:ahLst/>
              <a:cxnLst/>
              <a:rect l="l" t="t" r="r" b="b"/>
              <a:pathLst>
                <a:path w="12192000" h="715010" extrusionOk="0">
                  <a:moveTo>
                    <a:pt x="12191999" y="714891"/>
                  </a:moveTo>
                  <a:lnTo>
                    <a:pt x="0" y="714891"/>
                  </a:lnTo>
                  <a:lnTo>
                    <a:pt x="0" y="0"/>
                  </a:lnTo>
                  <a:lnTo>
                    <a:pt x="12191999" y="0"/>
                  </a:lnTo>
                  <a:lnTo>
                    <a:pt x="12191999" y="714891"/>
                  </a:lnTo>
                  <a:close/>
                </a:path>
              </a:pathLst>
            </a:custGeom>
            <a:solidFill>
              <a:srgbClr val="FF66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38" name="Google Shape;138;p12"/>
          <p:cNvSpPr txBox="1">
            <a:spLocks noGrp="1"/>
          </p:cNvSpPr>
          <p:nvPr>
            <p:ph type="title"/>
          </p:nvPr>
        </p:nvSpPr>
        <p:spPr>
          <a:xfrm>
            <a:off x="286910" y="196111"/>
            <a:ext cx="7373729"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dirty="0"/>
              <a:t>Proposed System &amp; Work</a:t>
            </a:r>
            <a:endParaRPr dirty="0"/>
          </a:p>
        </p:txBody>
      </p:sp>
      <p:sp>
        <p:nvSpPr>
          <p:cNvPr id="139" name="Google Shape;139;p12"/>
          <p:cNvSpPr txBox="1">
            <a:spLocks noGrp="1"/>
          </p:cNvSpPr>
          <p:nvPr>
            <p:ph type="ftr" idx="11"/>
          </p:nvPr>
        </p:nvSpPr>
        <p:spPr>
          <a:xfrm>
            <a:off x="141783" y="6629792"/>
            <a:ext cx="544830"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dirty="0"/>
              <a:t>A - 12</a:t>
            </a:r>
            <a:endParaRPr dirty="0"/>
          </a:p>
        </p:txBody>
      </p:sp>
      <p:sp>
        <p:nvSpPr>
          <p:cNvPr id="140" name="Google Shape;140;p12"/>
          <p:cNvSpPr txBox="1"/>
          <p:nvPr/>
        </p:nvSpPr>
        <p:spPr>
          <a:xfrm>
            <a:off x="7147577" y="6629311"/>
            <a:ext cx="4587223" cy="228690"/>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sz="1600" cap="small">
                <a:solidFill>
                  <a:srgbClr val="FFFFFF"/>
                </a:solidFill>
                <a:latin typeface="Times New Roman"/>
                <a:ea typeface="Times New Roman"/>
                <a:cs typeface="Times New Roman"/>
                <a:sym typeface="Times New Roman"/>
              </a:rPr>
              <a:t>Srinivasa Ramanujan Institute of Technology</a:t>
            </a:r>
            <a:endParaRPr sz="1600">
              <a:latin typeface="Times New Roman"/>
              <a:ea typeface="Times New Roman"/>
              <a:cs typeface="Times New Roman"/>
              <a:sym typeface="Times New Roman"/>
            </a:endParaRPr>
          </a:p>
        </p:txBody>
      </p:sp>
      <p:sp>
        <p:nvSpPr>
          <p:cNvPr id="142" name="Google Shape;142;p12"/>
          <p:cNvSpPr txBox="1"/>
          <p:nvPr/>
        </p:nvSpPr>
        <p:spPr>
          <a:xfrm>
            <a:off x="236964" y="1040179"/>
            <a:ext cx="11497836" cy="6045245"/>
          </a:xfrm>
          <a:prstGeom prst="rect">
            <a:avLst/>
          </a:prstGeom>
          <a:noFill/>
          <a:ln>
            <a:noFill/>
          </a:ln>
        </p:spPr>
        <p:txBody>
          <a:bodyPr spcFirstLastPara="1" wrap="square" lIns="0" tIns="12700" rIns="0" bIns="0" anchor="t" anchorCtr="0">
            <a:spAutoFit/>
          </a:bodyPr>
          <a:lstStyle/>
          <a:p>
            <a:pPr marL="504825" lvl="0" indent="-492125" algn="l" rtl="0">
              <a:lnSpc>
                <a:spcPct val="100000"/>
              </a:lnSpc>
              <a:spcBef>
                <a:spcPts val="0"/>
              </a:spcBef>
              <a:spcAft>
                <a:spcPts val="0"/>
              </a:spcAft>
              <a:buSzPts val="2800"/>
              <a:buFont typeface="Lucida Sans"/>
              <a:buChar char="□"/>
            </a:pPr>
            <a:r>
              <a:rPr lang="en-US" sz="2800" b="1" dirty="0">
                <a:latin typeface="Times New Roman"/>
                <a:ea typeface="Times New Roman"/>
                <a:cs typeface="Times New Roman"/>
                <a:sym typeface="Times New Roman"/>
              </a:rPr>
              <a:t>Introduction of YOLOv9:</a:t>
            </a:r>
          </a:p>
          <a:p>
            <a:pPr marL="12700" lvl="0" algn="l" rtl="0">
              <a:lnSpc>
                <a:spcPct val="100000"/>
              </a:lnSpc>
              <a:spcBef>
                <a:spcPts val="0"/>
              </a:spcBef>
              <a:spcAft>
                <a:spcPts val="0"/>
              </a:spcAft>
              <a:buSzPts val="2800"/>
            </a:pPr>
            <a:r>
              <a:rPr lang="en-US" sz="2800" dirty="0">
                <a:latin typeface="Times New Roman"/>
                <a:ea typeface="Times New Roman"/>
                <a:cs typeface="Times New Roman"/>
                <a:sym typeface="Times New Roman"/>
              </a:rPr>
              <a:t>	Cross-attention for occlusion.</a:t>
            </a:r>
          </a:p>
          <a:p>
            <a:pPr marL="12700" lvl="0" algn="l" rtl="0">
              <a:lnSpc>
                <a:spcPct val="100000"/>
              </a:lnSpc>
              <a:spcBef>
                <a:spcPts val="0"/>
              </a:spcBef>
              <a:spcAft>
                <a:spcPts val="0"/>
              </a:spcAft>
              <a:buSzPts val="2800"/>
            </a:pPr>
            <a:r>
              <a:rPr lang="en-US" sz="2800" dirty="0">
                <a:latin typeface="Times New Roman"/>
                <a:ea typeface="Times New Roman"/>
                <a:cs typeface="Times New Roman"/>
                <a:sym typeface="Times New Roman"/>
              </a:rPr>
              <a:t>	Multi-scale fusion for size variation.</a:t>
            </a:r>
          </a:p>
          <a:p>
            <a:pPr marL="12700" lvl="0" algn="l" rtl="0">
              <a:lnSpc>
                <a:spcPct val="100000"/>
              </a:lnSpc>
              <a:spcBef>
                <a:spcPts val="0"/>
              </a:spcBef>
              <a:spcAft>
                <a:spcPts val="0"/>
              </a:spcAft>
              <a:buSzPts val="2800"/>
            </a:pPr>
            <a:r>
              <a:rPr lang="en-US" sz="2800" dirty="0">
                <a:latin typeface="Times New Roman"/>
                <a:ea typeface="Times New Roman"/>
                <a:cs typeface="Times New Roman"/>
                <a:sym typeface="Times New Roman"/>
              </a:rPr>
              <a:t>	Temporal transformers for streams.</a:t>
            </a:r>
          </a:p>
          <a:p>
            <a:pPr marL="12700" lvl="0" algn="l" rtl="0">
              <a:lnSpc>
                <a:spcPct val="100000"/>
              </a:lnSpc>
              <a:spcBef>
                <a:spcPts val="0"/>
              </a:spcBef>
              <a:spcAft>
                <a:spcPts val="0"/>
              </a:spcAft>
              <a:buSzPts val="2800"/>
            </a:pPr>
            <a:r>
              <a:rPr lang="en-US" sz="2800" dirty="0">
                <a:latin typeface="Times New Roman"/>
                <a:ea typeface="Times New Roman"/>
                <a:cs typeface="Times New Roman"/>
                <a:sym typeface="Times New Roman"/>
              </a:rPr>
              <a:t>	Hybrid enhancements for real-time deployment.</a:t>
            </a:r>
          </a:p>
          <a:p>
            <a:pPr marL="12700" lvl="0" algn="l" rtl="0">
              <a:lnSpc>
                <a:spcPct val="100000"/>
              </a:lnSpc>
              <a:spcBef>
                <a:spcPts val="0"/>
              </a:spcBef>
              <a:spcAft>
                <a:spcPts val="0"/>
              </a:spcAft>
              <a:buSzPts val="2800"/>
            </a:pPr>
            <a:r>
              <a:rPr lang="en-US" sz="2800" dirty="0">
                <a:latin typeface="Times New Roman"/>
                <a:ea typeface="Times New Roman"/>
                <a:cs typeface="Times New Roman"/>
                <a:sym typeface="Times New Roman"/>
              </a:rPr>
              <a:t>      - Training on benchmark datasets with advanced augmentation.</a:t>
            </a:r>
          </a:p>
          <a:p>
            <a:pPr marL="504825" lvl="0" indent="-492125" algn="l" rtl="0">
              <a:lnSpc>
                <a:spcPct val="100000"/>
              </a:lnSpc>
              <a:spcBef>
                <a:spcPts val="0"/>
              </a:spcBef>
              <a:spcAft>
                <a:spcPts val="0"/>
              </a:spcAft>
              <a:buSzPts val="2800"/>
              <a:buFont typeface="Lucida Sans"/>
              <a:buChar char="□"/>
            </a:pPr>
            <a:r>
              <a:rPr lang="en-US" sz="2800" b="1" dirty="0">
                <a:latin typeface="Times New Roman"/>
                <a:ea typeface="Times New Roman"/>
                <a:cs typeface="Times New Roman"/>
                <a:sym typeface="Times New Roman"/>
              </a:rPr>
              <a:t>Implementation</a:t>
            </a:r>
          </a:p>
          <a:p>
            <a:pPr marL="12700" lvl="0" algn="l" rtl="0">
              <a:lnSpc>
                <a:spcPct val="100000"/>
              </a:lnSpc>
              <a:spcBef>
                <a:spcPts val="0"/>
              </a:spcBef>
              <a:spcAft>
                <a:spcPts val="0"/>
              </a:spcAft>
              <a:buSzPts val="2800"/>
            </a:pPr>
            <a:r>
              <a:rPr lang="en-US" sz="2800" dirty="0">
                <a:latin typeface="Times New Roman"/>
                <a:ea typeface="Times New Roman"/>
                <a:cs typeface="Times New Roman"/>
                <a:sym typeface="Times New Roman"/>
              </a:rPr>
              <a:t>	Data Collection: Caltech, </a:t>
            </a:r>
            <a:r>
              <a:rPr lang="en-US" sz="2800" dirty="0" err="1">
                <a:latin typeface="Times New Roman"/>
                <a:ea typeface="Times New Roman"/>
                <a:cs typeface="Times New Roman"/>
                <a:sym typeface="Times New Roman"/>
              </a:rPr>
              <a:t>CityPersons</a:t>
            </a:r>
            <a:r>
              <a:rPr lang="en-US" sz="2800" dirty="0">
                <a:latin typeface="Times New Roman"/>
                <a:ea typeface="Times New Roman"/>
                <a:cs typeface="Times New Roman"/>
                <a:sym typeface="Times New Roman"/>
              </a:rPr>
              <a:t>, </a:t>
            </a:r>
            <a:r>
              <a:rPr lang="en-US" sz="2800" dirty="0" err="1">
                <a:latin typeface="Times New Roman"/>
                <a:ea typeface="Times New Roman"/>
                <a:cs typeface="Times New Roman"/>
                <a:sym typeface="Times New Roman"/>
              </a:rPr>
              <a:t>CrowdHuman</a:t>
            </a:r>
            <a:r>
              <a:rPr lang="en-US" sz="2800" dirty="0">
                <a:latin typeface="Times New Roman"/>
                <a:ea typeface="Times New Roman"/>
                <a:cs typeface="Times New Roman"/>
                <a:sym typeface="Times New Roman"/>
              </a:rPr>
              <a:t>.</a:t>
            </a:r>
          </a:p>
          <a:p>
            <a:pPr marL="12700" lvl="0" algn="l" rtl="0">
              <a:lnSpc>
                <a:spcPct val="100000"/>
              </a:lnSpc>
              <a:spcBef>
                <a:spcPts val="0"/>
              </a:spcBef>
              <a:spcAft>
                <a:spcPts val="0"/>
              </a:spcAft>
              <a:buSzPts val="2800"/>
            </a:pPr>
            <a:r>
              <a:rPr lang="en-US" sz="2800" dirty="0">
                <a:latin typeface="Times New Roman"/>
                <a:ea typeface="Times New Roman"/>
                <a:cs typeface="Times New Roman"/>
                <a:sym typeface="Times New Roman"/>
              </a:rPr>
              <a:t>	Preprocessing: Normalization, augmentation (spatial + photometric).</a:t>
            </a:r>
          </a:p>
          <a:p>
            <a:pPr marL="12700" lvl="0" algn="l" rtl="0">
              <a:lnSpc>
                <a:spcPct val="100000"/>
              </a:lnSpc>
              <a:spcBef>
                <a:spcPts val="0"/>
              </a:spcBef>
              <a:spcAft>
                <a:spcPts val="0"/>
              </a:spcAft>
              <a:buSzPts val="2800"/>
            </a:pPr>
            <a:r>
              <a:rPr lang="en-US" sz="2800" dirty="0">
                <a:latin typeface="Times New Roman"/>
                <a:ea typeface="Times New Roman"/>
                <a:cs typeface="Times New Roman"/>
                <a:sym typeface="Times New Roman"/>
              </a:rPr>
              <a:t>	Training: </a:t>
            </a:r>
            <a:r>
              <a:rPr lang="en-US" sz="2800" dirty="0" err="1">
                <a:latin typeface="Times New Roman"/>
                <a:ea typeface="Times New Roman"/>
                <a:cs typeface="Times New Roman"/>
                <a:sym typeface="Times New Roman"/>
              </a:rPr>
              <a:t>AdamW</a:t>
            </a:r>
            <a:r>
              <a:rPr lang="en-US" sz="2800" dirty="0">
                <a:latin typeface="Times New Roman"/>
                <a:ea typeface="Times New Roman"/>
                <a:cs typeface="Times New Roman"/>
                <a:sym typeface="Times New Roman"/>
              </a:rPr>
              <a:t> optimizer, </a:t>
            </a:r>
            <a:r>
              <a:rPr lang="en-US" sz="2800" dirty="0" err="1">
                <a:latin typeface="Times New Roman"/>
                <a:ea typeface="Times New Roman"/>
                <a:cs typeface="Times New Roman"/>
                <a:sym typeface="Times New Roman"/>
              </a:rPr>
              <a:t>CIoU</a:t>
            </a:r>
            <a:r>
              <a:rPr lang="en-US" sz="2800" dirty="0">
                <a:latin typeface="Times New Roman"/>
                <a:ea typeface="Times New Roman"/>
                <a:cs typeface="Times New Roman"/>
                <a:sym typeface="Times New Roman"/>
              </a:rPr>
              <a:t> loss, mixed precision.</a:t>
            </a:r>
          </a:p>
          <a:p>
            <a:pPr marL="12700" lvl="0" algn="l" rtl="0">
              <a:lnSpc>
                <a:spcPct val="100000"/>
              </a:lnSpc>
              <a:spcBef>
                <a:spcPts val="0"/>
              </a:spcBef>
              <a:spcAft>
                <a:spcPts val="0"/>
              </a:spcAft>
              <a:buSzPts val="2800"/>
            </a:pPr>
            <a:r>
              <a:rPr lang="en-US" sz="2800" dirty="0">
                <a:latin typeface="Times New Roman"/>
                <a:ea typeface="Times New Roman"/>
                <a:cs typeface="Times New Roman"/>
                <a:sym typeface="Times New Roman"/>
              </a:rPr>
              <a:t>	Evaluation: mAP@0.5, precision/recall, FPS.</a:t>
            </a:r>
          </a:p>
          <a:p>
            <a:pPr marL="12700" lvl="0" algn="l" rtl="0">
              <a:lnSpc>
                <a:spcPct val="100000"/>
              </a:lnSpc>
              <a:spcBef>
                <a:spcPts val="0"/>
              </a:spcBef>
              <a:spcAft>
                <a:spcPts val="0"/>
              </a:spcAft>
              <a:buSzPts val="2800"/>
            </a:pPr>
            <a:r>
              <a:rPr lang="en-US" sz="2800" dirty="0">
                <a:latin typeface="Times New Roman"/>
                <a:ea typeface="Times New Roman"/>
                <a:cs typeface="Times New Roman"/>
                <a:sym typeface="Times New Roman"/>
              </a:rPr>
              <a:t>	Deployment: </a:t>
            </a:r>
            <a:r>
              <a:rPr lang="en-US" sz="2800" dirty="0" err="1">
                <a:latin typeface="Times New Roman"/>
                <a:ea typeface="Times New Roman"/>
                <a:cs typeface="Times New Roman"/>
                <a:sym typeface="Times New Roman"/>
              </a:rPr>
              <a:t>FastAPI</a:t>
            </a:r>
            <a:r>
              <a:rPr lang="en-US" sz="2800" dirty="0">
                <a:latin typeface="Times New Roman"/>
                <a:ea typeface="Times New Roman"/>
                <a:cs typeface="Times New Roman"/>
                <a:sym typeface="Times New Roman"/>
              </a:rPr>
              <a:t> interface, </a:t>
            </a:r>
            <a:r>
              <a:rPr lang="en-US" sz="2800" dirty="0" err="1">
                <a:latin typeface="Times New Roman"/>
                <a:ea typeface="Times New Roman"/>
                <a:cs typeface="Times New Roman"/>
                <a:sym typeface="Times New Roman"/>
              </a:rPr>
              <a:t>PyTorch</a:t>
            </a:r>
            <a:r>
              <a:rPr lang="en-US" sz="2800" dirty="0">
                <a:latin typeface="Times New Roman"/>
                <a:ea typeface="Times New Roman"/>
                <a:cs typeface="Times New Roman"/>
                <a:sym typeface="Times New Roman"/>
              </a:rPr>
              <a:t> models, Grad-CAM 	visualizations.</a:t>
            </a:r>
          </a:p>
          <a:p>
            <a:pPr marL="504825" lvl="0" indent="-492125" algn="l" rtl="0">
              <a:lnSpc>
                <a:spcPct val="100000"/>
              </a:lnSpc>
              <a:spcBef>
                <a:spcPts val="0"/>
              </a:spcBef>
              <a:spcAft>
                <a:spcPts val="0"/>
              </a:spcAft>
              <a:buSzPts val="2800"/>
              <a:buFont typeface="Lucida Sans"/>
              <a:buChar char="□"/>
            </a:pPr>
            <a:endParaRPr lang="en-US" sz="2800" dirty="0">
              <a:latin typeface="Times New Roman"/>
              <a:ea typeface="Times New Roman"/>
              <a:cs typeface="Times New Roman"/>
              <a:sym typeface="Times New Roman"/>
            </a:endParaRPr>
          </a:p>
        </p:txBody>
      </p:sp>
      <p:sp>
        <p:nvSpPr>
          <p:cNvPr id="143" name="Google Shape;143;p12"/>
          <p:cNvSpPr txBox="1">
            <a:spLocks noGrp="1"/>
          </p:cNvSpPr>
          <p:nvPr>
            <p:ph type="dt" idx="10"/>
          </p:nvPr>
        </p:nvSpPr>
        <p:spPr>
          <a:xfrm>
            <a:off x="1122363" y="6629400"/>
            <a:ext cx="4962525"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cap="small" dirty="0"/>
              <a:t>Dept. of Computer Science and Engineering (AI&amp;ML)</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2;p9">
            <a:extLst>
              <a:ext uri="{FF2B5EF4-FFF2-40B4-BE49-F238E27FC236}">
                <a16:creationId xmlns:a16="http://schemas.microsoft.com/office/drawing/2014/main" id="{1EBE55ED-61A1-BED9-B52F-9B3AD1974714}"/>
              </a:ext>
            </a:extLst>
          </p:cNvPr>
          <p:cNvSpPr txBox="1"/>
          <p:nvPr/>
        </p:nvSpPr>
        <p:spPr>
          <a:xfrm>
            <a:off x="2825755" y="-30231"/>
            <a:ext cx="6540485" cy="2436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IN" sz="1500" b="1" i="1" dirty="0">
                <a:solidFill>
                  <a:srgbClr val="FFFFFF"/>
                </a:solidFill>
                <a:latin typeface="Times New Roman"/>
                <a:ea typeface="Times New Roman"/>
                <a:cs typeface="Times New Roman"/>
                <a:sym typeface="Times New Roman"/>
              </a:rPr>
              <a:t>Real-Time Pedestrian Detection in Autonomous Systems using Deep Learning</a:t>
            </a:r>
            <a:endParaRPr sz="1500" dirty="0">
              <a:latin typeface="Times New Roman"/>
              <a:ea typeface="Times New Roman"/>
              <a:cs typeface="Times New Roman"/>
              <a:sym typeface="Times New Roman"/>
            </a:endParaRPr>
          </a:p>
        </p:txBody>
      </p:sp>
      <p:grpSp>
        <p:nvGrpSpPr>
          <p:cNvPr id="5" name="Google Shape;93;p9">
            <a:extLst>
              <a:ext uri="{FF2B5EF4-FFF2-40B4-BE49-F238E27FC236}">
                <a16:creationId xmlns:a16="http://schemas.microsoft.com/office/drawing/2014/main" id="{8BBCC288-6277-6CDE-9C18-E1C013032CAA}"/>
              </a:ext>
            </a:extLst>
          </p:cNvPr>
          <p:cNvGrpSpPr/>
          <p:nvPr/>
        </p:nvGrpSpPr>
        <p:grpSpPr>
          <a:xfrm>
            <a:off x="-2" y="216249"/>
            <a:ext cx="12192002" cy="803792"/>
            <a:chOff x="-2" y="216249"/>
            <a:chExt cx="12192002" cy="803792"/>
          </a:xfrm>
        </p:grpSpPr>
        <p:pic>
          <p:nvPicPr>
            <p:cNvPr id="6" name="Google Shape;94;p9">
              <a:extLst>
                <a:ext uri="{FF2B5EF4-FFF2-40B4-BE49-F238E27FC236}">
                  <a16:creationId xmlns:a16="http://schemas.microsoft.com/office/drawing/2014/main" id="{AE512D3A-D615-3408-683B-B4FBEB2F46CF}"/>
                </a:ext>
              </a:extLst>
            </p:cNvPr>
            <p:cNvPicPr preferRelativeResize="0"/>
            <p:nvPr/>
          </p:nvPicPr>
          <p:blipFill rotWithShape="1">
            <a:blip r:embed="rId2">
              <a:alphaModFix/>
            </a:blip>
            <a:srcRect/>
            <a:stretch/>
          </p:blipFill>
          <p:spPr>
            <a:xfrm>
              <a:off x="0" y="216249"/>
              <a:ext cx="12192000" cy="803792"/>
            </a:xfrm>
            <a:prstGeom prst="rect">
              <a:avLst/>
            </a:prstGeom>
            <a:noFill/>
            <a:ln>
              <a:noFill/>
            </a:ln>
          </p:spPr>
        </p:pic>
        <p:sp>
          <p:nvSpPr>
            <p:cNvPr id="7" name="Google Shape;95;p9">
              <a:extLst>
                <a:ext uri="{FF2B5EF4-FFF2-40B4-BE49-F238E27FC236}">
                  <a16:creationId xmlns:a16="http://schemas.microsoft.com/office/drawing/2014/main" id="{50597BB1-B658-3224-D79D-427A0B23050D}"/>
                </a:ext>
              </a:extLst>
            </p:cNvPr>
            <p:cNvSpPr/>
            <p:nvPr/>
          </p:nvSpPr>
          <p:spPr>
            <a:xfrm>
              <a:off x="-2" y="232759"/>
              <a:ext cx="12192000" cy="715010"/>
            </a:xfrm>
            <a:custGeom>
              <a:avLst/>
              <a:gdLst/>
              <a:ahLst/>
              <a:cxnLst/>
              <a:rect l="l" t="t" r="r" b="b"/>
              <a:pathLst>
                <a:path w="12192000" h="715010" extrusionOk="0">
                  <a:moveTo>
                    <a:pt x="12191999" y="714891"/>
                  </a:moveTo>
                  <a:lnTo>
                    <a:pt x="0" y="714891"/>
                  </a:lnTo>
                  <a:lnTo>
                    <a:pt x="0" y="0"/>
                  </a:lnTo>
                  <a:lnTo>
                    <a:pt x="12191999" y="0"/>
                  </a:lnTo>
                  <a:lnTo>
                    <a:pt x="12191999" y="714891"/>
                  </a:lnTo>
                  <a:close/>
                </a:path>
              </a:pathLst>
            </a:custGeom>
            <a:solidFill>
              <a:srgbClr val="FF66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8" name="Google Shape;96;p9">
            <a:extLst>
              <a:ext uri="{FF2B5EF4-FFF2-40B4-BE49-F238E27FC236}">
                <a16:creationId xmlns:a16="http://schemas.microsoft.com/office/drawing/2014/main" id="{2125EE2D-0245-1147-7C32-71908F8EE5BE}"/>
              </a:ext>
            </a:extLst>
          </p:cNvPr>
          <p:cNvSpPr txBox="1">
            <a:spLocks noGrp="1"/>
          </p:cNvSpPr>
          <p:nvPr>
            <p:ph type="title"/>
          </p:nvPr>
        </p:nvSpPr>
        <p:spPr>
          <a:xfrm>
            <a:off x="141783" y="213425"/>
            <a:ext cx="9458960" cy="689932"/>
          </a:xfrm>
          <a:prstGeom prst="rect">
            <a:avLst/>
          </a:prstGeom>
          <a:noFill/>
          <a:ln>
            <a:noFill/>
          </a:ln>
        </p:spPr>
        <p:txBody>
          <a:bodyPr spcFirstLastPara="1" wrap="square" lIns="0" tIns="12700" rIns="0" bIns="0" anchor="t" anchorCtr="0">
            <a:spAutoFit/>
          </a:bodyPr>
          <a:lstStyle/>
          <a:p>
            <a:r>
              <a:rPr lang="en-IN" dirty="0"/>
              <a:t>Results &amp; Analysis</a:t>
            </a:r>
            <a:endParaRPr lang="en-US" dirty="0"/>
          </a:p>
        </p:txBody>
      </p:sp>
      <p:sp>
        <p:nvSpPr>
          <p:cNvPr id="9" name="Google Shape;97;p9">
            <a:extLst>
              <a:ext uri="{FF2B5EF4-FFF2-40B4-BE49-F238E27FC236}">
                <a16:creationId xmlns:a16="http://schemas.microsoft.com/office/drawing/2014/main" id="{36FA5282-6B35-6E3F-09EA-F0928F1932D9}"/>
              </a:ext>
            </a:extLst>
          </p:cNvPr>
          <p:cNvSpPr txBox="1">
            <a:spLocks noGrp="1"/>
          </p:cNvSpPr>
          <p:nvPr>
            <p:ph type="ftr" idx="11"/>
          </p:nvPr>
        </p:nvSpPr>
        <p:spPr>
          <a:xfrm>
            <a:off x="141783" y="6629792"/>
            <a:ext cx="544830"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a:t>A - 12</a:t>
            </a:r>
            <a:endParaRPr lang="en-US" dirty="0"/>
          </a:p>
        </p:txBody>
      </p:sp>
      <p:sp>
        <p:nvSpPr>
          <p:cNvPr id="10" name="Google Shape;98;p9">
            <a:extLst>
              <a:ext uri="{FF2B5EF4-FFF2-40B4-BE49-F238E27FC236}">
                <a16:creationId xmlns:a16="http://schemas.microsoft.com/office/drawing/2014/main" id="{D786BD24-4C14-4026-BAAF-19A5A8021994}"/>
              </a:ext>
            </a:extLst>
          </p:cNvPr>
          <p:cNvSpPr txBox="1">
            <a:spLocks noGrp="1"/>
          </p:cNvSpPr>
          <p:nvPr>
            <p:ph type="dt" idx="10"/>
          </p:nvPr>
        </p:nvSpPr>
        <p:spPr>
          <a:xfrm>
            <a:off x="1123125" y="6629792"/>
            <a:ext cx="4962525"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IN" cap="small"/>
              <a:t>Dept. of Computer Science and Engineering (AI&amp;ML)</a:t>
            </a:r>
            <a:endParaRPr lang="en-IN" dirty="0"/>
          </a:p>
        </p:txBody>
      </p:sp>
      <p:sp>
        <p:nvSpPr>
          <p:cNvPr id="11" name="Google Shape;99;p9">
            <a:extLst>
              <a:ext uri="{FF2B5EF4-FFF2-40B4-BE49-F238E27FC236}">
                <a16:creationId xmlns:a16="http://schemas.microsoft.com/office/drawing/2014/main" id="{1DF021BE-82AA-2BED-A002-6A66F0F13519}"/>
              </a:ext>
            </a:extLst>
          </p:cNvPr>
          <p:cNvSpPr txBox="1"/>
          <p:nvPr/>
        </p:nvSpPr>
        <p:spPr>
          <a:xfrm>
            <a:off x="6948225" y="6623124"/>
            <a:ext cx="4434823" cy="228690"/>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sz="1600" cap="small" dirty="0">
                <a:solidFill>
                  <a:srgbClr val="FFFFFF"/>
                </a:solidFill>
                <a:latin typeface="Times New Roman"/>
                <a:ea typeface="Times New Roman"/>
                <a:cs typeface="Times New Roman"/>
                <a:sym typeface="Times New Roman"/>
              </a:rPr>
              <a:t>Srinivasa Ramanujan Institute of Technology</a:t>
            </a:r>
            <a:endParaRPr sz="1600" dirty="0">
              <a:latin typeface="Times New Roman"/>
              <a:ea typeface="Times New Roman"/>
              <a:cs typeface="Times New Roman"/>
              <a:sym typeface="Times New Roman"/>
            </a:endParaRPr>
          </a:p>
        </p:txBody>
      </p:sp>
      <p:pic>
        <p:nvPicPr>
          <p:cNvPr id="2050" name="Picture 2">
            <a:extLst>
              <a:ext uri="{FF2B5EF4-FFF2-40B4-BE49-F238E27FC236}">
                <a16:creationId xmlns:a16="http://schemas.microsoft.com/office/drawing/2014/main" id="{B3FA339C-4DF7-A243-A001-6019FC1E55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8765" y="1695123"/>
            <a:ext cx="6162675" cy="4019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4400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3"/>
          <p:cNvSpPr txBox="1"/>
          <p:nvPr/>
        </p:nvSpPr>
        <p:spPr>
          <a:xfrm>
            <a:off x="2800349" y="-27407"/>
            <a:ext cx="6591297" cy="2436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IN" sz="1500" b="1" i="1" dirty="0">
                <a:solidFill>
                  <a:srgbClr val="FFFFFF"/>
                </a:solidFill>
                <a:latin typeface="Times New Roman"/>
                <a:ea typeface="Times New Roman"/>
                <a:cs typeface="Times New Roman"/>
                <a:sym typeface="Times New Roman"/>
              </a:rPr>
              <a:t>Real-Time Pedestrian Detection in Autonomous Systems using Deep Learning</a:t>
            </a:r>
            <a:endParaRPr sz="1500" dirty="0">
              <a:latin typeface="Times New Roman"/>
              <a:ea typeface="Times New Roman"/>
              <a:cs typeface="Times New Roman"/>
              <a:sym typeface="Times New Roman"/>
            </a:endParaRPr>
          </a:p>
        </p:txBody>
      </p:sp>
      <p:grpSp>
        <p:nvGrpSpPr>
          <p:cNvPr id="149" name="Google Shape;149;p13"/>
          <p:cNvGrpSpPr/>
          <p:nvPr/>
        </p:nvGrpSpPr>
        <p:grpSpPr>
          <a:xfrm>
            <a:off x="-2" y="216249"/>
            <a:ext cx="12192002" cy="803792"/>
            <a:chOff x="-2" y="216249"/>
            <a:chExt cx="12192002" cy="803792"/>
          </a:xfrm>
        </p:grpSpPr>
        <p:pic>
          <p:nvPicPr>
            <p:cNvPr id="150" name="Google Shape;150;p13"/>
            <p:cNvPicPr preferRelativeResize="0"/>
            <p:nvPr/>
          </p:nvPicPr>
          <p:blipFill rotWithShape="1">
            <a:blip r:embed="rId3">
              <a:alphaModFix/>
            </a:blip>
            <a:srcRect/>
            <a:stretch/>
          </p:blipFill>
          <p:spPr>
            <a:xfrm>
              <a:off x="0" y="216249"/>
              <a:ext cx="12192000" cy="803792"/>
            </a:xfrm>
            <a:prstGeom prst="rect">
              <a:avLst/>
            </a:prstGeom>
            <a:noFill/>
            <a:ln>
              <a:noFill/>
            </a:ln>
          </p:spPr>
        </p:pic>
        <p:sp>
          <p:nvSpPr>
            <p:cNvPr id="151" name="Google Shape;151;p13"/>
            <p:cNvSpPr/>
            <p:nvPr/>
          </p:nvSpPr>
          <p:spPr>
            <a:xfrm>
              <a:off x="-2" y="232759"/>
              <a:ext cx="12192000" cy="715010"/>
            </a:xfrm>
            <a:custGeom>
              <a:avLst/>
              <a:gdLst/>
              <a:ahLst/>
              <a:cxnLst/>
              <a:rect l="l" t="t" r="r" b="b"/>
              <a:pathLst>
                <a:path w="12192000" h="715010" extrusionOk="0">
                  <a:moveTo>
                    <a:pt x="12191999" y="714891"/>
                  </a:moveTo>
                  <a:lnTo>
                    <a:pt x="0" y="714891"/>
                  </a:lnTo>
                  <a:lnTo>
                    <a:pt x="0" y="0"/>
                  </a:lnTo>
                  <a:lnTo>
                    <a:pt x="12191999" y="0"/>
                  </a:lnTo>
                  <a:lnTo>
                    <a:pt x="12191999" y="714891"/>
                  </a:lnTo>
                  <a:close/>
                </a:path>
              </a:pathLst>
            </a:custGeom>
            <a:solidFill>
              <a:srgbClr val="FF66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52" name="Google Shape;152;p13"/>
          <p:cNvSpPr txBox="1">
            <a:spLocks noGrp="1"/>
          </p:cNvSpPr>
          <p:nvPr>
            <p:ph type="title"/>
          </p:nvPr>
        </p:nvSpPr>
        <p:spPr>
          <a:xfrm>
            <a:off x="272529" y="158043"/>
            <a:ext cx="3888104"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dirty="0"/>
              <a:t>Reference</a:t>
            </a:r>
            <a:endParaRPr dirty="0"/>
          </a:p>
        </p:txBody>
      </p:sp>
      <p:sp>
        <p:nvSpPr>
          <p:cNvPr id="153" name="Google Shape;153;p13"/>
          <p:cNvSpPr txBox="1">
            <a:spLocks noGrp="1"/>
          </p:cNvSpPr>
          <p:nvPr>
            <p:ph type="ftr" idx="11"/>
          </p:nvPr>
        </p:nvSpPr>
        <p:spPr>
          <a:xfrm>
            <a:off x="141783" y="6629792"/>
            <a:ext cx="544830"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dirty="0"/>
              <a:t>A - 12</a:t>
            </a:r>
            <a:endParaRPr dirty="0"/>
          </a:p>
        </p:txBody>
      </p:sp>
      <p:sp>
        <p:nvSpPr>
          <p:cNvPr id="154" name="Google Shape;154;p13"/>
          <p:cNvSpPr txBox="1"/>
          <p:nvPr/>
        </p:nvSpPr>
        <p:spPr>
          <a:xfrm>
            <a:off x="7147577" y="6629311"/>
            <a:ext cx="4434823" cy="230832"/>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sz="1600" cap="small">
                <a:solidFill>
                  <a:srgbClr val="FFFFFF"/>
                </a:solidFill>
                <a:latin typeface="Times New Roman"/>
                <a:ea typeface="Times New Roman"/>
                <a:cs typeface="Times New Roman"/>
                <a:sym typeface="Times New Roman"/>
              </a:rPr>
              <a:t>Srinivasa Ramanujan Institute of Technology</a:t>
            </a:r>
            <a:endParaRPr sz="1600">
              <a:latin typeface="Times New Roman"/>
              <a:ea typeface="Times New Roman"/>
              <a:cs typeface="Times New Roman"/>
              <a:sym typeface="Times New Roman"/>
            </a:endParaRPr>
          </a:p>
        </p:txBody>
      </p:sp>
      <p:sp>
        <p:nvSpPr>
          <p:cNvPr id="156" name="Google Shape;156;p13"/>
          <p:cNvSpPr txBox="1"/>
          <p:nvPr/>
        </p:nvSpPr>
        <p:spPr>
          <a:xfrm>
            <a:off x="272529" y="1074317"/>
            <a:ext cx="11624945" cy="2853848"/>
          </a:xfrm>
          <a:prstGeom prst="rect">
            <a:avLst/>
          </a:prstGeom>
          <a:noFill/>
          <a:ln>
            <a:noFill/>
          </a:ln>
        </p:spPr>
        <p:txBody>
          <a:bodyPr spcFirstLastPara="1" wrap="square" lIns="0" tIns="60950" rIns="0" bIns="0" anchor="t" anchorCtr="0">
            <a:spAutoFit/>
          </a:bodyPr>
          <a:lstStyle/>
          <a:p>
            <a:pPr marL="590550" marR="5080" lvl="0" indent="-577850">
              <a:lnSpc>
                <a:spcPct val="107857"/>
              </a:lnSpc>
            </a:pPr>
            <a:r>
              <a:rPr lang="en-US" sz="2800" dirty="0">
                <a:latin typeface="Times New Roman"/>
                <a:ea typeface="Times New Roman"/>
                <a:cs typeface="Times New Roman"/>
                <a:sym typeface="Times New Roman"/>
              </a:rPr>
              <a:t>[1]. </a:t>
            </a:r>
            <a:r>
              <a:rPr lang="en-IN" sz="2800" dirty="0"/>
              <a:t>Majdi Sukkar; </a:t>
            </a:r>
            <a:r>
              <a:rPr lang="en-IN" sz="2800" dirty="0" err="1"/>
              <a:t>Rajendrasinh</a:t>
            </a:r>
            <a:r>
              <a:rPr lang="en-IN" sz="2800" dirty="0"/>
              <a:t> Jadeja; Madhu Shukla; Rajesh Mahadeva</a:t>
            </a:r>
            <a:r>
              <a:rPr lang="en-US" sz="2800" dirty="0">
                <a:latin typeface="Times New Roman"/>
                <a:ea typeface="Times New Roman"/>
                <a:cs typeface="Times New Roman"/>
                <a:sym typeface="Times New Roman"/>
              </a:rPr>
              <a:t>“</a:t>
            </a:r>
            <a:r>
              <a:rPr lang="en-IN" sz="2800" u="sng" dirty="0">
                <a:solidFill>
                  <a:schemeClr val="hlink"/>
                </a:solidFill>
                <a:latin typeface="Times New Roman"/>
                <a:ea typeface="Times New Roman"/>
                <a:cs typeface="Times New Roman"/>
                <a:sym typeface="Times New Roman"/>
                <a:hlinkClick r:id="rId4"/>
              </a:rPr>
              <a:t>A Survey of Deep Learning Approaches for Pedestrian Detection in Autonomous Systems</a:t>
            </a:r>
            <a:r>
              <a:rPr lang="en-US" sz="2800" dirty="0">
                <a:latin typeface="Times New Roman"/>
                <a:ea typeface="Times New Roman"/>
                <a:cs typeface="Times New Roman"/>
                <a:sym typeface="Times New Roman"/>
              </a:rPr>
              <a:t>”, Publisher IEEE, </a:t>
            </a:r>
            <a:r>
              <a:rPr lang="en-IN" sz="2800" dirty="0">
                <a:latin typeface="Times New Roman"/>
                <a:ea typeface="Times New Roman"/>
                <a:cs typeface="Times New Roman"/>
                <a:sym typeface="Times New Roman"/>
              </a:rPr>
              <a:t>Date of Publication: 30 December 2024</a:t>
            </a:r>
            <a:endParaRPr lang="en-US" sz="2800" dirty="0">
              <a:latin typeface="Times New Roman"/>
              <a:ea typeface="Times New Roman"/>
              <a:cs typeface="Times New Roman"/>
              <a:sym typeface="Times New Roman"/>
            </a:endParaRPr>
          </a:p>
          <a:p>
            <a:pPr marL="590550" marR="5080" lvl="0" indent="-577850">
              <a:lnSpc>
                <a:spcPct val="107857"/>
              </a:lnSpc>
            </a:pPr>
            <a:r>
              <a:rPr lang="en-US" sz="2800" dirty="0">
                <a:latin typeface="Times New Roman"/>
                <a:ea typeface="Times New Roman"/>
                <a:cs typeface="Times New Roman"/>
                <a:sym typeface="Times New Roman"/>
              </a:rPr>
              <a:t>	</a:t>
            </a:r>
          </a:p>
          <a:p>
            <a:pPr marL="590550" marR="5080" lvl="0" indent="-577850" algn="l" rtl="0">
              <a:lnSpc>
                <a:spcPct val="107857"/>
              </a:lnSpc>
              <a:spcBef>
                <a:spcPts val="0"/>
              </a:spcBef>
              <a:spcAft>
                <a:spcPts val="0"/>
              </a:spcAft>
              <a:buNone/>
            </a:pPr>
            <a:endParaRPr lang="en-US" sz="2800" dirty="0">
              <a:latin typeface="Times New Roman"/>
              <a:ea typeface="Times New Roman"/>
              <a:cs typeface="Times New Roman"/>
              <a:sym typeface="Times New Roman"/>
            </a:endParaRPr>
          </a:p>
        </p:txBody>
      </p:sp>
      <p:sp>
        <p:nvSpPr>
          <p:cNvPr id="158" name="Google Shape;158;p13"/>
          <p:cNvSpPr txBox="1">
            <a:spLocks noGrp="1"/>
          </p:cNvSpPr>
          <p:nvPr>
            <p:ph type="dt" idx="10"/>
          </p:nvPr>
        </p:nvSpPr>
        <p:spPr>
          <a:xfrm>
            <a:off x="1122363" y="6629400"/>
            <a:ext cx="4962525"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cap="small" dirty="0"/>
              <a:t>Dept. of Computer Science and Engineering (AI&amp;ML)</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4"/>
          <p:cNvSpPr txBox="1"/>
          <p:nvPr/>
        </p:nvSpPr>
        <p:spPr>
          <a:xfrm>
            <a:off x="2993523" y="-27407"/>
            <a:ext cx="6182730" cy="2436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IN" sz="1500" b="1" i="1" dirty="0">
                <a:solidFill>
                  <a:srgbClr val="FFFFFF"/>
                </a:solidFill>
                <a:latin typeface="Times New Roman"/>
                <a:ea typeface="Times New Roman"/>
                <a:cs typeface="Times New Roman"/>
                <a:sym typeface="Times New Roman"/>
              </a:rPr>
              <a:t>Real-Time Pedestrian Detection in Autonomous Systems using Deep Learning</a:t>
            </a:r>
            <a:endParaRPr sz="1500" dirty="0">
              <a:latin typeface="Times New Roman"/>
              <a:ea typeface="Times New Roman"/>
              <a:cs typeface="Times New Roman"/>
              <a:sym typeface="Times New Roman"/>
            </a:endParaRPr>
          </a:p>
        </p:txBody>
      </p:sp>
      <p:grpSp>
        <p:nvGrpSpPr>
          <p:cNvPr id="164" name="Google Shape;164;p14"/>
          <p:cNvGrpSpPr/>
          <p:nvPr/>
        </p:nvGrpSpPr>
        <p:grpSpPr>
          <a:xfrm>
            <a:off x="-2" y="216249"/>
            <a:ext cx="12192002" cy="803792"/>
            <a:chOff x="-2" y="216249"/>
            <a:chExt cx="12192002" cy="803792"/>
          </a:xfrm>
        </p:grpSpPr>
        <p:pic>
          <p:nvPicPr>
            <p:cNvPr id="165" name="Google Shape;165;p14"/>
            <p:cNvPicPr preferRelativeResize="0"/>
            <p:nvPr/>
          </p:nvPicPr>
          <p:blipFill rotWithShape="1">
            <a:blip r:embed="rId3">
              <a:alphaModFix/>
            </a:blip>
            <a:srcRect/>
            <a:stretch/>
          </p:blipFill>
          <p:spPr>
            <a:xfrm>
              <a:off x="0" y="216249"/>
              <a:ext cx="12192000" cy="803792"/>
            </a:xfrm>
            <a:prstGeom prst="rect">
              <a:avLst/>
            </a:prstGeom>
            <a:noFill/>
            <a:ln>
              <a:noFill/>
            </a:ln>
          </p:spPr>
        </p:pic>
        <p:sp>
          <p:nvSpPr>
            <p:cNvPr id="166" name="Google Shape;166;p14"/>
            <p:cNvSpPr/>
            <p:nvPr/>
          </p:nvSpPr>
          <p:spPr>
            <a:xfrm>
              <a:off x="-2" y="232759"/>
              <a:ext cx="12192000" cy="715010"/>
            </a:xfrm>
            <a:custGeom>
              <a:avLst/>
              <a:gdLst/>
              <a:ahLst/>
              <a:cxnLst/>
              <a:rect l="l" t="t" r="r" b="b"/>
              <a:pathLst>
                <a:path w="12192000" h="715010" extrusionOk="0">
                  <a:moveTo>
                    <a:pt x="12191999" y="714891"/>
                  </a:moveTo>
                  <a:lnTo>
                    <a:pt x="0" y="714891"/>
                  </a:lnTo>
                  <a:lnTo>
                    <a:pt x="0" y="0"/>
                  </a:lnTo>
                  <a:lnTo>
                    <a:pt x="12191999" y="0"/>
                  </a:lnTo>
                  <a:lnTo>
                    <a:pt x="12191999" y="714891"/>
                  </a:lnTo>
                  <a:close/>
                </a:path>
              </a:pathLst>
            </a:custGeom>
            <a:solidFill>
              <a:srgbClr val="FF66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167" name="Google Shape;167;p14"/>
          <p:cNvSpPr txBox="1">
            <a:spLocks noGrp="1"/>
          </p:cNvSpPr>
          <p:nvPr>
            <p:ph type="title"/>
          </p:nvPr>
        </p:nvSpPr>
        <p:spPr>
          <a:xfrm>
            <a:off x="111882" y="208545"/>
            <a:ext cx="11223866" cy="695960"/>
          </a:xfrm>
          <a:prstGeom prst="rect">
            <a:avLst/>
          </a:prstGeom>
          <a:noFill/>
          <a:ln>
            <a:noFill/>
          </a:ln>
        </p:spPr>
        <p:txBody>
          <a:bodyPr spcFirstLastPara="1" wrap="square" lIns="0" tIns="12700" rIns="0" bIns="0" anchor="t" anchorCtr="0">
            <a:spAutoFit/>
          </a:bodyPr>
          <a:lstStyle/>
          <a:p>
            <a:pPr marL="12700" lvl="0" indent="0" rtl="0">
              <a:lnSpc>
                <a:spcPct val="100000"/>
              </a:lnSpc>
              <a:spcBef>
                <a:spcPts val="0"/>
              </a:spcBef>
              <a:spcAft>
                <a:spcPts val="0"/>
              </a:spcAft>
              <a:buNone/>
            </a:pPr>
            <a:r>
              <a:rPr lang="en-US" dirty="0"/>
              <a:t>Git Hub Dashboards of each student</a:t>
            </a:r>
            <a:endParaRPr dirty="0"/>
          </a:p>
        </p:txBody>
      </p:sp>
      <p:sp>
        <p:nvSpPr>
          <p:cNvPr id="173" name="Google Shape;173;p14"/>
          <p:cNvSpPr txBox="1"/>
          <p:nvPr/>
        </p:nvSpPr>
        <p:spPr>
          <a:xfrm>
            <a:off x="114076" y="1140457"/>
            <a:ext cx="10158095" cy="1047750"/>
          </a:xfrm>
          <a:prstGeom prst="rect">
            <a:avLst/>
          </a:prstGeom>
          <a:noFill/>
          <a:ln>
            <a:noFill/>
          </a:ln>
        </p:spPr>
        <p:txBody>
          <a:bodyPr spcFirstLastPara="1" wrap="square" lIns="0" tIns="97150" rIns="0" bIns="0" anchor="t" anchorCtr="0">
            <a:spAutoFit/>
          </a:bodyPr>
          <a:lstStyle/>
          <a:p>
            <a:pPr marL="504825" lvl="0" indent="-492125" algn="l" rtl="0">
              <a:lnSpc>
                <a:spcPct val="100000"/>
              </a:lnSpc>
              <a:spcBef>
                <a:spcPts val="0"/>
              </a:spcBef>
              <a:spcAft>
                <a:spcPts val="0"/>
              </a:spcAft>
              <a:buSzPts val="2800"/>
              <a:buFont typeface="Lucida Sans"/>
              <a:buChar char="□"/>
            </a:pPr>
            <a:r>
              <a:rPr lang="en-US" sz="2800" dirty="0">
                <a:latin typeface="Times New Roman"/>
                <a:ea typeface="Times New Roman"/>
                <a:cs typeface="Times New Roman"/>
                <a:sym typeface="Times New Roman"/>
              </a:rPr>
              <a:t>Repository Name Like: CSM 2025 – 26 Batch: A – 12</a:t>
            </a:r>
            <a:endParaRPr sz="2800" dirty="0">
              <a:latin typeface="Times New Roman"/>
              <a:ea typeface="Times New Roman"/>
              <a:cs typeface="Times New Roman"/>
              <a:sym typeface="Times New Roman"/>
            </a:endParaRPr>
          </a:p>
          <a:p>
            <a:pPr marL="504825" lvl="0" indent="-492125" algn="l" rtl="0">
              <a:lnSpc>
                <a:spcPct val="100000"/>
              </a:lnSpc>
              <a:spcBef>
                <a:spcPts val="660"/>
              </a:spcBef>
              <a:spcAft>
                <a:spcPts val="0"/>
              </a:spcAft>
              <a:buSzPts val="2800"/>
              <a:buFont typeface="Lucida Sans"/>
              <a:buChar char="□"/>
            </a:pPr>
            <a:r>
              <a:rPr lang="en-US" sz="2800" dirty="0">
                <a:latin typeface="Times New Roman"/>
                <a:ea typeface="Times New Roman"/>
                <a:cs typeface="Times New Roman"/>
                <a:sym typeface="Times New Roman"/>
              </a:rPr>
              <a:t>Under that project data upload literature survey papers, and son on..</a:t>
            </a:r>
            <a:endParaRPr sz="2800" dirty="0">
              <a:latin typeface="Times New Roman"/>
              <a:ea typeface="Times New Roman"/>
              <a:cs typeface="Times New Roman"/>
              <a:sym typeface="Times New Roman"/>
            </a:endParaRPr>
          </a:p>
        </p:txBody>
      </p:sp>
      <p:sp>
        <p:nvSpPr>
          <p:cNvPr id="174" name="Google Shape;174;p14"/>
          <p:cNvSpPr txBox="1">
            <a:spLocks noGrp="1"/>
          </p:cNvSpPr>
          <p:nvPr>
            <p:ph type="ftr" idx="11"/>
          </p:nvPr>
        </p:nvSpPr>
        <p:spPr>
          <a:xfrm>
            <a:off x="141783" y="6629792"/>
            <a:ext cx="544830"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dirty="0"/>
              <a:t>A - 12</a:t>
            </a:r>
            <a:endParaRPr dirty="0"/>
          </a:p>
        </p:txBody>
      </p:sp>
      <p:sp>
        <p:nvSpPr>
          <p:cNvPr id="175" name="Google Shape;175;p14"/>
          <p:cNvSpPr txBox="1"/>
          <p:nvPr/>
        </p:nvSpPr>
        <p:spPr>
          <a:xfrm>
            <a:off x="7147577" y="6629311"/>
            <a:ext cx="4358623" cy="230832"/>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sz="1600" cap="small">
                <a:solidFill>
                  <a:srgbClr val="FFFFFF"/>
                </a:solidFill>
                <a:latin typeface="Times New Roman"/>
                <a:ea typeface="Times New Roman"/>
                <a:cs typeface="Times New Roman"/>
                <a:sym typeface="Times New Roman"/>
              </a:rPr>
              <a:t>Srinivasa Ramanujan Institute of Technology</a:t>
            </a:r>
            <a:endParaRPr sz="1600">
              <a:latin typeface="Times New Roman"/>
              <a:ea typeface="Times New Roman"/>
              <a:cs typeface="Times New Roman"/>
              <a:sym typeface="Times New Roman"/>
            </a:endParaRPr>
          </a:p>
        </p:txBody>
      </p:sp>
      <p:sp>
        <p:nvSpPr>
          <p:cNvPr id="177" name="Google Shape;177;p14"/>
          <p:cNvSpPr txBox="1">
            <a:spLocks noGrp="1"/>
          </p:cNvSpPr>
          <p:nvPr>
            <p:ph type="dt" idx="10"/>
          </p:nvPr>
        </p:nvSpPr>
        <p:spPr>
          <a:xfrm>
            <a:off x="1122363" y="6629400"/>
            <a:ext cx="4962525"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cap="small" dirty="0"/>
              <a:t>Dept. of Computer Science and Engineering (AI&amp;ML)</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5"/>
          <p:cNvSpPr txBox="1"/>
          <p:nvPr/>
        </p:nvSpPr>
        <p:spPr>
          <a:xfrm>
            <a:off x="2571995" y="0"/>
            <a:ext cx="7965231" cy="2436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IN" sz="1500" b="1" i="1" dirty="0">
                <a:solidFill>
                  <a:srgbClr val="FFFFFF"/>
                </a:solidFill>
                <a:latin typeface="Times New Roman"/>
                <a:ea typeface="Times New Roman"/>
                <a:cs typeface="Times New Roman"/>
                <a:sym typeface="Times New Roman"/>
              </a:rPr>
              <a:t>Real-Time Pedestrian Detection in Autonomous Systems using Deep Learning</a:t>
            </a:r>
            <a:endParaRPr sz="1500" dirty="0">
              <a:latin typeface="Times New Roman"/>
              <a:ea typeface="Times New Roman"/>
              <a:cs typeface="Times New Roman"/>
              <a:sym typeface="Times New Roman"/>
            </a:endParaRPr>
          </a:p>
        </p:txBody>
      </p:sp>
      <p:sp>
        <p:nvSpPr>
          <p:cNvPr id="184" name="Google Shape;184;p15"/>
          <p:cNvSpPr txBox="1">
            <a:spLocks noGrp="1"/>
          </p:cNvSpPr>
          <p:nvPr>
            <p:ph type="ftr" idx="11"/>
          </p:nvPr>
        </p:nvSpPr>
        <p:spPr>
          <a:xfrm>
            <a:off x="141783" y="6629792"/>
            <a:ext cx="544830"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dirty="0"/>
              <a:t>A - 12</a:t>
            </a:r>
            <a:endParaRPr dirty="0"/>
          </a:p>
        </p:txBody>
      </p:sp>
      <p:sp>
        <p:nvSpPr>
          <p:cNvPr id="185" name="Google Shape;185;p15"/>
          <p:cNvSpPr txBox="1"/>
          <p:nvPr/>
        </p:nvSpPr>
        <p:spPr>
          <a:xfrm>
            <a:off x="7147577" y="6629310"/>
            <a:ext cx="4434823" cy="230832"/>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sz="1600" cap="small">
                <a:solidFill>
                  <a:srgbClr val="FFFFFF"/>
                </a:solidFill>
                <a:latin typeface="Times New Roman"/>
                <a:ea typeface="Times New Roman"/>
                <a:cs typeface="Times New Roman"/>
                <a:sym typeface="Times New Roman"/>
              </a:rPr>
              <a:t>Srinivasa Ramanujan Institute of Technology</a:t>
            </a:r>
            <a:endParaRPr sz="1600">
              <a:latin typeface="Times New Roman"/>
              <a:ea typeface="Times New Roman"/>
              <a:cs typeface="Times New Roman"/>
              <a:sym typeface="Times New Roman"/>
            </a:endParaRPr>
          </a:p>
        </p:txBody>
      </p:sp>
      <p:sp>
        <p:nvSpPr>
          <p:cNvPr id="187" name="Google Shape;187;p15"/>
          <p:cNvSpPr txBox="1">
            <a:spLocks noGrp="1"/>
          </p:cNvSpPr>
          <p:nvPr>
            <p:ph type="title"/>
          </p:nvPr>
        </p:nvSpPr>
        <p:spPr>
          <a:xfrm>
            <a:off x="2826638" y="2352302"/>
            <a:ext cx="6692265" cy="14884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600" i="1">
                <a:solidFill>
                  <a:srgbClr val="FF6600"/>
                </a:solidFill>
                <a:latin typeface="Times New Roman"/>
                <a:ea typeface="Times New Roman"/>
                <a:cs typeface="Times New Roman"/>
                <a:sym typeface="Times New Roman"/>
              </a:rPr>
              <a:t>Any Queries?</a:t>
            </a:r>
            <a:endParaRPr sz="9600">
              <a:latin typeface="Times New Roman"/>
              <a:ea typeface="Times New Roman"/>
              <a:cs typeface="Times New Roman"/>
              <a:sym typeface="Times New Roman"/>
            </a:endParaRPr>
          </a:p>
        </p:txBody>
      </p:sp>
      <p:sp>
        <p:nvSpPr>
          <p:cNvPr id="188" name="Google Shape;188;p15"/>
          <p:cNvSpPr txBox="1">
            <a:spLocks noGrp="1"/>
          </p:cNvSpPr>
          <p:nvPr>
            <p:ph type="dt" idx="10"/>
          </p:nvPr>
        </p:nvSpPr>
        <p:spPr>
          <a:xfrm>
            <a:off x="1122363" y="6629400"/>
            <a:ext cx="4962525"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cap="small" dirty="0"/>
              <a:t>Dept. of Computer Science and Engineering (AI&amp;ML)</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6"/>
          <p:cNvSpPr txBox="1"/>
          <p:nvPr/>
        </p:nvSpPr>
        <p:spPr>
          <a:xfrm>
            <a:off x="2645820" y="0"/>
            <a:ext cx="6900360" cy="2436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IN" sz="1500" b="1" i="1" dirty="0">
                <a:solidFill>
                  <a:srgbClr val="FFFFFF"/>
                </a:solidFill>
                <a:latin typeface="Times New Roman"/>
                <a:ea typeface="Times New Roman"/>
                <a:cs typeface="Times New Roman"/>
                <a:sym typeface="Times New Roman"/>
              </a:rPr>
              <a:t>Real-Time Pedestrian Detection in Autonomous Systems using Deep Learning</a:t>
            </a:r>
            <a:endParaRPr sz="1500" dirty="0">
              <a:latin typeface="Times New Roman"/>
              <a:ea typeface="Times New Roman"/>
              <a:cs typeface="Times New Roman"/>
              <a:sym typeface="Times New Roman"/>
            </a:endParaRPr>
          </a:p>
        </p:txBody>
      </p:sp>
      <p:sp>
        <p:nvSpPr>
          <p:cNvPr id="194" name="Google Shape;194;p16"/>
          <p:cNvSpPr txBox="1">
            <a:spLocks noGrp="1"/>
          </p:cNvSpPr>
          <p:nvPr>
            <p:ph type="ftr" idx="11"/>
          </p:nvPr>
        </p:nvSpPr>
        <p:spPr>
          <a:xfrm>
            <a:off x="141783" y="6629792"/>
            <a:ext cx="544830"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dirty="0"/>
              <a:t>A - 12</a:t>
            </a:r>
            <a:endParaRPr dirty="0"/>
          </a:p>
        </p:txBody>
      </p:sp>
      <p:sp>
        <p:nvSpPr>
          <p:cNvPr id="195" name="Google Shape;195;p16"/>
          <p:cNvSpPr txBox="1"/>
          <p:nvPr/>
        </p:nvSpPr>
        <p:spPr>
          <a:xfrm>
            <a:off x="7147577" y="6629311"/>
            <a:ext cx="4434823" cy="228690"/>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sz="1600" cap="small">
                <a:solidFill>
                  <a:srgbClr val="FFFFFF"/>
                </a:solidFill>
                <a:latin typeface="Times New Roman"/>
                <a:ea typeface="Times New Roman"/>
                <a:cs typeface="Times New Roman"/>
                <a:sym typeface="Times New Roman"/>
              </a:rPr>
              <a:t>Srinivasa Ramanujan Institute of Technology</a:t>
            </a:r>
            <a:endParaRPr sz="1600">
              <a:latin typeface="Times New Roman"/>
              <a:ea typeface="Times New Roman"/>
              <a:cs typeface="Times New Roman"/>
              <a:sym typeface="Times New Roman"/>
            </a:endParaRPr>
          </a:p>
        </p:txBody>
      </p:sp>
      <p:sp>
        <p:nvSpPr>
          <p:cNvPr id="197" name="Google Shape;197;p16"/>
          <p:cNvSpPr txBox="1">
            <a:spLocks noGrp="1"/>
          </p:cNvSpPr>
          <p:nvPr>
            <p:ph type="title"/>
          </p:nvPr>
        </p:nvSpPr>
        <p:spPr>
          <a:xfrm>
            <a:off x="2826638" y="2249889"/>
            <a:ext cx="6719542" cy="1593578"/>
          </a:xfrm>
          <a:prstGeom prst="rect">
            <a:avLst/>
          </a:prstGeom>
          <a:noFill/>
          <a:ln>
            <a:noFill/>
          </a:ln>
        </p:spPr>
        <p:txBody>
          <a:bodyPr spcFirstLastPara="1" wrap="square" lIns="0" tIns="12700" rIns="0" bIns="0" anchor="t" anchorCtr="0">
            <a:spAutoFit/>
          </a:bodyPr>
          <a:lstStyle/>
          <a:p>
            <a:pPr marL="12700" marR="5080" lvl="0" indent="0" algn="l" rtl="0">
              <a:lnSpc>
                <a:spcPct val="107000"/>
              </a:lnSpc>
              <a:spcBef>
                <a:spcPts val="0"/>
              </a:spcBef>
              <a:spcAft>
                <a:spcPts val="0"/>
              </a:spcAft>
              <a:buNone/>
            </a:pPr>
            <a:r>
              <a:rPr lang="en-US" sz="9600" i="1" dirty="0">
                <a:solidFill>
                  <a:srgbClr val="FF6600"/>
                </a:solidFill>
                <a:latin typeface="Times New Roman"/>
                <a:ea typeface="Times New Roman"/>
                <a:cs typeface="Times New Roman"/>
                <a:sym typeface="Times New Roman"/>
              </a:rPr>
              <a:t>Thank You!!!</a:t>
            </a:r>
            <a:endParaRPr sz="9600" dirty="0">
              <a:latin typeface="Times New Roman"/>
              <a:ea typeface="Times New Roman"/>
              <a:cs typeface="Times New Roman"/>
              <a:sym typeface="Times New Roman"/>
            </a:endParaRPr>
          </a:p>
        </p:txBody>
      </p:sp>
      <p:sp>
        <p:nvSpPr>
          <p:cNvPr id="198" name="Google Shape;198;p16"/>
          <p:cNvSpPr txBox="1">
            <a:spLocks noGrp="1"/>
          </p:cNvSpPr>
          <p:nvPr>
            <p:ph type="dt" idx="10"/>
          </p:nvPr>
        </p:nvSpPr>
        <p:spPr>
          <a:xfrm>
            <a:off x="1122363" y="6629400"/>
            <a:ext cx="4962525" cy="283154"/>
          </a:xfrm>
          <a:prstGeom prst="rect">
            <a:avLst/>
          </a:prstGeom>
          <a:noFill/>
          <a:ln>
            <a:noFill/>
          </a:ln>
        </p:spPr>
        <p:txBody>
          <a:bodyPr spcFirstLastPara="1" wrap="square" lIns="0" tIns="0" rIns="0" bIns="0" anchor="t" anchorCtr="0">
            <a:spAutoFit/>
          </a:bodyPr>
          <a:lstStyle/>
          <a:p>
            <a:pPr marL="12700" lvl="0" indent="0" algn="l" rtl="0">
              <a:lnSpc>
                <a:spcPct val="115312"/>
              </a:lnSpc>
              <a:spcBef>
                <a:spcPts val="0"/>
              </a:spcBef>
              <a:spcAft>
                <a:spcPts val="0"/>
              </a:spcAft>
              <a:buNone/>
            </a:pPr>
            <a:r>
              <a:rPr lang="en-US" cap="small" dirty="0"/>
              <a:t>Dept. of Computer Science and Engineering (AI&amp;ML)</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TotalTime>
  <Words>1120</Words>
  <Application>Microsoft Office PowerPoint</Application>
  <PresentationFormat>Widescreen</PresentationFormat>
  <Paragraphs>146</Paragraphs>
  <Slides>12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Courier New</vt:lpstr>
      <vt:lpstr>Lucida Sans</vt:lpstr>
      <vt:lpstr>Times New Roman</vt:lpstr>
      <vt:lpstr>Office Theme</vt:lpstr>
      <vt:lpstr>Real-Time Pedestrian Detection in Autonomous Systems using Deep Learning</vt:lpstr>
      <vt:lpstr>Contents</vt:lpstr>
      <vt:lpstr>Abstract</vt:lpstr>
      <vt:lpstr>Introduction</vt:lpstr>
      <vt:lpstr>v</vt:lpstr>
      <vt:lpstr>Literature Survey</vt:lpstr>
      <vt:lpstr>Proposed System &amp; Work</vt:lpstr>
      <vt:lpstr>Results &amp; Analysis</vt:lpstr>
      <vt:lpstr>Reference</vt:lpstr>
      <vt:lpstr>Git Hub Dashboards of each student</vt:lpstr>
      <vt:lpstr>Any Queries?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Chinmayee Palegar Jagadeesh</cp:lastModifiedBy>
  <cp:revision>11</cp:revision>
  <dcterms:modified xsi:type="dcterms:W3CDTF">2025-10-11T04:48:02Z</dcterms:modified>
</cp:coreProperties>
</file>