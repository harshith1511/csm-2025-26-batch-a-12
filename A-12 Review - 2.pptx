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25"/>
  </p:notesMasterIdLst>
  <p:handoutMasterIdLst>
    <p:handoutMasterId r:id="rId26"/>
  </p:handoutMasterIdLst>
  <p:sldIdLst>
    <p:sldId id="256" r:id="rId2"/>
    <p:sldId id="273" r:id="rId3"/>
    <p:sldId id="257" r:id="rId4"/>
    <p:sldId id="276" r:id="rId5"/>
    <p:sldId id="281" r:id="rId6"/>
    <p:sldId id="282" r:id="rId7"/>
    <p:sldId id="274" r:id="rId8"/>
    <p:sldId id="275" r:id="rId9"/>
    <p:sldId id="286" r:id="rId10"/>
    <p:sldId id="283" r:id="rId11"/>
    <p:sldId id="287" r:id="rId12"/>
    <p:sldId id="290" r:id="rId13"/>
    <p:sldId id="291" r:id="rId14"/>
    <p:sldId id="292" r:id="rId15"/>
    <p:sldId id="293" r:id="rId16"/>
    <p:sldId id="294" r:id="rId17"/>
    <p:sldId id="295" r:id="rId18"/>
    <p:sldId id="285" r:id="rId19"/>
    <p:sldId id="289" r:id="rId20"/>
    <p:sldId id="277" r:id="rId21"/>
    <p:sldId id="279" r:id="rId22"/>
    <p:sldId id="278" r:id="rId23"/>
    <p:sldId id="2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10"/>
      </p:cViewPr>
      <p:guideLst/>
    </p:cSldViewPr>
  </p:slideViewPr>
  <p:notesTextViewPr>
    <p:cViewPr>
      <p:scale>
        <a:sx n="1" d="1"/>
        <a:sy n="1" d="1"/>
      </p:scale>
      <p:origin x="0" y="0"/>
    </p:cViewPr>
  </p:notesText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t>06-04-2026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t>‹#›</a:t>
            </a:fld>
            <a:endParaRPr lang="en-IN"/>
          </a:p>
        </p:txBody>
      </p:sp>
    </p:spTree>
    <p:extLst>
      <p:ext uri="{BB962C8B-B14F-4D97-AF65-F5344CB8AC3E}">
        <p14:creationId xmlns:p14="http://schemas.microsoft.com/office/powerpoint/2010/main" val="3256529248"/>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t>06-04-2026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t>‹#›</a:t>
            </a:fld>
            <a:endParaRPr lang="en-IN"/>
          </a:p>
        </p:txBody>
      </p:sp>
    </p:spTree>
    <p:extLst>
      <p:ext uri="{BB962C8B-B14F-4D97-AF65-F5344CB8AC3E}">
        <p14:creationId xmlns:p14="http://schemas.microsoft.com/office/powerpoint/2010/main" val="168595950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959A3652-50D4-4FDF-8386-41D9AF369814}"/>
              </a:ext>
            </a:extLst>
          </p:cNvPr>
          <p:cNvSpPr txBox="1">
            <a:spLocks/>
          </p:cNvSpPr>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a:extLst>
              <a:ext uri="{FF2B5EF4-FFF2-40B4-BE49-F238E27FC236}">
                <a16:creationId xmlns:a16="http://schemas.microsoft.com/office/drawing/2014/main" id="{B31DCAD4-E344-44EC-AB07-C9E97F2AF1A1}"/>
              </a:ext>
            </a:extLst>
          </p:cNvPr>
          <p:cNvSpPr txBox="1">
            <a:spLocks/>
          </p:cNvSpPr>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2F22E408-EF1D-4BD0-98E0-8FC4C9B3A82C}"/>
              </a:ext>
            </a:extLst>
          </p:cNvPr>
          <p:cNvSpPr txBox="1">
            <a:spLocks/>
          </p:cNvSpPr>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E7651D7E-4AFA-4EAA-B423-DDD0ED684DAE}"/>
              </a:ext>
            </a:extLst>
          </p:cNvPr>
          <p:cNvSpPr txBox="1">
            <a:spLocks/>
          </p:cNvSpPr>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C25449CC-CB33-491F-903E-B38334CA8A09}"/>
              </a:ext>
            </a:extLst>
          </p:cNvPr>
          <p:cNvSpPr txBox="1">
            <a:spLocks/>
          </p:cNvSpPr>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973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a:extLst>
              <a:ext uri="{FF2B5EF4-FFF2-40B4-BE49-F238E27FC236}">
                <a16:creationId xmlns:a16="http://schemas.microsoft.com/office/drawing/2014/main" id="{BB998037-E035-4CAB-833F-75CAE5A73D0B}"/>
              </a:ext>
            </a:extLst>
          </p:cNvPr>
          <p:cNvSpPr txBox="1">
            <a:spLocks/>
          </p:cNvSpPr>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 (AI &amp; ML)</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BC5DB233-EECA-4CB3-99D6-5066ABF08F18}"/>
              </a:ext>
            </a:extLst>
          </p:cNvPr>
          <p:cNvSpPr txBox="1">
            <a:spLocks/>
          </p:cNvSpPr>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CB262772-2230-41D2-9B79-2AECA3A31396}"/>
              </a:ext>
            </a:extLst>
          </p:cNvPr>
          <p:cNvSpPr txBox="1">
            <a:spLocks/>
          </p:cNvSpPr>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1B44364A-DBDE-4F64-9D13-B56BF0C232A3}"/>
              </a:ext>
            </a:extLst>
          </p:cNvPr>
          <p:cNvSpPr txBox="1">
            <a:spLocks/>
          </p:cNvSpPr>
          <p:nvPr userDrawn="1"/>
        </p:nvSpPr>
        <p:spPr>
          <a:xfrm>
            <a:off x="-1"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500" b="1" i="1" dirty="0">
                <a:solidFill>
                  <a:schemeClr val="bg1"/>
                </a:solidFill>
                <a:effectLst/>
                <a:latin typeface="Times New Roman" panose="02020603050405020304" pitchFamily="18" charset="0"/>
                <a:cs typeface="Times New Roman" panose="02020603050405020304" pitchFamily="18" charset="0"/>
              </a:rPr>
              <a:t>Real-Time Pedestrian Detection in Autonomous Systems using Deep Learning</a:t>
            </a:r>
          </a:p>
        </p:txBody>
      </p:sp>
      <p:pic>
        <p:nvPicPr>
          <p:cNvPr id="6" name="Picture 5">
            <a:extLst>
              <a:ext uri="{FF2B5EF4-FFF2-40B4-BE49-F238E27FC236}">
                <a16:creationId xmlns:a16="http://schemas.microsoft.com/office/drawing/2014/main" id="{A72D5020-7DF7-495B-96CC-4064365630D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a:extLst>
              <a:ext uri="{FF2B5EF4-FFF2-40B4-BE49-F238E27FC236}">
                <a16:creationId xmlns:a16="http://schemas.microsoft.com/office/drawing/2014/main" id="{1D25D96C-1396-47B4-9E8C-C053C7555307}"/>
              </a:ext>
            </a:extLst>
          </p:cNvPr>
          <p:cNvSpPr txBox="1">
            <a:spLocks/>
          </p:cNvSpPr>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 A - 12</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5597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14516546"/>
      </p:ext>
    </p:extLst>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53;p7">
            <a:extLst>
              <a:ext uri="{FF2B5EF4-FFF2-40B4-BE49-F238E27FC236}">
                <a16:creationId xmlns:a16="http://schemas.microsoft.com/office/drawing/2014/main" id="{F3B16474-9E37-E9CD-CD42-C1A67A718C73}"/>
              </a:ext>
            </a:extLst>
          </p:cNvPr>
          <p:cNvGrpSpPr/>
          <p:nvPr/>
        </p:nvGrpSpPr>
        <p:grpSpPr>
          <a:xfrm>
            <a:off x="777238" y="6634572"/>
            <a:ext cx="11415108" cy="223427"/>
            <a:chOff x="777238" y="6634572"/>
            <a:chExt cx="11415108" cy="223427"/>
          </a:xfrm>
        </p:grpSpPr>
        <p:sp>
          <p:nvSpPr>
            <p:cNvPr id="3" name="Google Shape;54;p7">
              <a:extLst>
                <a:ext uri="{FF2B5EF4-FFF2-40B4-BE49-F238E27FC236}">
                  <a16:creationId xmlns:a16="http://schemas.microsoft.com/office/drawing/2014/main" id="{62E93C69-78C8-F989-C339-94FE791D934D}"/>
                </a:ext>
              </a:extLst>
            </p:cNvPr>
            <p:cNvSpPr/>
            <p:nvPr/>
          </p:nvSpPr>
          <p:spPr>
            <a:xfrm>
              <a:off x="777238" y="6634572"/>
              <a:ext cx="5782310" cy="220979"/>
            </a:xfrm>
            <a:custGeom>
              <a:avLst/>
              <a:gdLst/>
              <a:ahLst/>
              <a:cxnLst/>
              <a:rect l="l" t="t" r="r" b="b"/>
              <a:pathLst>
                <a:path w="5782309" h="220979" extrusionOk="0">
                  <a:moveTo>
                    <a:pt x="5781821" y="220979"/>
                  </a:moveTo>
                  <a:lnTo>
                    <a:pt x="0" y="220979"/>
                  </a:lnTo>
                  <a:lnTo>
                    <a:pt x="0" y="0"/>
                  </a:lnTo>
                  <a:lnTo>
                    <a:pt x="5781821" y="0"/>
                  </a:lnTo>
                  <a:lnTo>
                    <a:pt x="5781821" y="220979"/>
                  </a:lnTo>
                  <a:close/>
                </a:path>
              </a:pathLst>
            </a:custGeom>
            <a:solidFill>
              <a:srgbClr val="00206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dirty="0"/>
            </a:p>
          </p:txBody>
        </p:sp>
        <p:sp>
          <p:nvSpPr>
            <p:cNvPr id="8" name="Google Shape;55;p7">
              <a:extLst>
                <a:ext uri="{FF2B5EF4-FFF2-40B4-BE49-F238E27FC236}">
                  <a16:creationId xmlns:a16="http://schemas.microsoft.com/office/drawing/2014/main" id="{AB944CAF-A569-1838-1919-434505783701}"/>
                </a:ext>
              </a:extLst>
            </p:cNvPr>
            <p:cNvSpPr/>
            <p:nvPr/>
          </p:nvSpPr>
          <p:spPr>
            <a:xfrm>
              <a:off x="6559061" y="6634572"/>
              <a:ext cx="5195570" cy="220979"/>
            </a:xfrm>
            <a:custGeom>
              <a:avLst/>
              <a:gdLst/>
              <a:ahLst/>
              <a:cxnLst/>
              <a:rect l="l" t="t" r="r" b="b"/>
              <a:pathLst>
                <a:path w="5195570" h="220979" extrusionOk="0">
                  <a:moveTo>
                    <a:pt x="5195133" y="220979"/>
                  </a:moveTo>
                  <a:lnTo>
                    <a:pt x="0" y="220979"/>
                  </a:lnTo>
                  <a:lnTo>
                    <a:pt x="0" y="0"/>
                  </a:lnTo>
                  <a:lnTo>
                    <a:pt x="5195133" y="0"/>
                  </a:lnTo>
                  <a:lnTo>
                    <a:pt x="5195133" y="220979"/>
                  </a:lnTo>
                  <a:close/>
                </a:path>
              </a:pathLst>
            </a:custGeom>
            <a:solidFill>
              <a:srgbClr val="00808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dirty="0"/>
            </a:p>
          </p:txBody>
        </p:sp>
        <p:sp>
          <p:nvSpPr>
            <p:cNvPr id="9" name="Google Shape;56;p7">
              <a:extLst>
                <a:ext uri="{FF2B5EF4-FFF2-40B4-BE49-F238E27FC236}">
                  <a16:creationId xmlns:a16="http://schemas.microsoft.com/office/drawing/2014/main" id="{19CA253D-ABB7-761D-64A5-3EE8FDE13112}"/>
                </a:ext>
              </a:extLst>
            </p:cNvPr>
            <p:cNvSpPr/>
            <p:nvPr/>
          </p:nvSpPr>
          <p:spPr>
            <a:xfrm>
              <a:off x="11754196" y="6637020"/>
              <a:ext cx="438150" cy="220979"/>
            </a:xfrm>
            <a:custGeom>
              <a:avLst/>
              <a:gdLst/>
              <a:ahLst/>
              <a:cxnLst/>
              <a:rect l="l" t="t" r="r" b="b"/>
              <a:pathLst>
                <a:path w="438150" h="220979" extrusionOk="0">
                  <a:moveTo>
                    <a:pt x="437803" y="220979"/>
                  </a:moveTo>
                  <a:lnTo>
                    <a:pt x="0" y="220979"/>
                  </a:lnTo>
                  <a:lnTo>
                    <a:pt x="0" y="0"/>
                  </a:lnTo>
                  <a:lnTo>
                    <a:pt x="437803" y="0"/>
                  </a:lnTo>
                  <a:lnTo>
                    <a:pt x="437803" y="220979"/>
                  </a:lnTo>
                  <a:close/>
                </a:path>
              </a:pathLst>
            </a:custGeom>
            <a:solidFill>
              <a:srgbClr val="FFC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dirty="0"/>
            </a:p>
          </p:txBody>
        </p:sp>
      </p:grpSp>
      <p:sp>
        <p:nvSpPr>
          <p:cNvPr id="10" name="Google Shape;57;p7">
            <a:extLst>
              <a:ext uri="{FF2B5EF4-FFF2-40B4-BE49-F238E27FC236}">
                <a16:creationId xmlns:a16="http://schemas.microsoft.com/office/drawing/2014/main" id="{A95E107E-072F-9D1B-069E-9B4FC54C867B}"/>
              </a:ext>
            </a:extLst>
          </p:cNvPr>
          <p:cNvSpPr/>
          <p:nvPr/>
        </p:nvSpPr>
        <p:spPr>
          <a:xfrm>
            <a:off x="-1" y="-1"/>
            <a:ext cx="12192000" cy="233045"/>
          </a:xfrm>
          <a:custGeom>
            <a:avLst/>
            <a:gdLst/>
            <a:ahLst/>
            <a:cxnLst/>
            <a:rect l="l" t="t" r="r" b="b"/>
            <a:pathLst>
              <a:path w="12192000" h="233045" extrusionOk="0">
                <a:moveTo>
                  <a:pt x="12191998" y="232758"/>
                </a:moveTo>
                <a:lnTo>
                  <a:pt x="0" y="232758"/>
                </a:lnTo>
                <a:lnTo>
                  <a:pt x="0" y="0"/>
                </a:lnTo>
                <a:lnTo>
                  <a:pt x="12191998" y="0"/>
                </a:lnTo>
                <a:lnTo>
                  <a:pt x="12191998" y="232758"/>
                </a:lnTo>
                <a:close/>
              </a:path>
            </a:pathLst>
          </a:custGeom>
          <a:solidFill>
            <a:srgbClr val="00666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dirty="0"/>
          </a:p>
        </p:txBody>
      </p:sp>
      <p:sp>
        <p:nvSpPr>
          <p:cNvPr id="11" name="Google Shape;58;p7">
            <a:extLst>
              <a:ext uri="{FF2B5EF4-FFF2-40B4-BE49-F238E27FC236}">
                <a16:creationId xmlns:a16="http://schemas.microsoft.com/office/drawing/2014/main" id="{75428B3F-EBD2-9AEF-FE38-91E9CD0AC68A}"/>
              </a:ext>
            </a:extLst>
          </p:cNvPr>
          <p:cNvSpPr/>
          <p:nvPr/>
        </p:nvSpPr>
        <p:spPr>
          <a:xfrm>
            <a:off x="0" y="6634572"/>
            <a:ext cx="777240" cy="221615"/>
          </a:xfrm>
          <a:custGeom>
            <a:avLst/>
            <a:gdLst/>
            <a:ahLst/>
            <a:cxnLst/>
            <a:rect l="l" t="t" r="r" b="b"/>
            <a:pathLst>
              <a:path w="777240" h="221615" extrusionOk="0">
                <a:moveTo>
                  <a:pt x="777238" y="221522"/>
                </a:moveTo>
                <a:lnTo>
                  <a:pt x="0" y="221522"/>
                </a:lnTo>
                <a:lnTo>
                  <a:pt x="0" y="0"/>
                </a:lnTo>
                <a:lnTo>
                  <a:pt x="777238" y="0"/>
                </a:lnTo>
                <a:lnTo>
                  <a:pt x="777238" y="221522"/>
                </a:lnTo>
                <a:close/>
              </a:path>
            </a:pathLst>
          </a:custGeom>
          <a:solidFill>
            <a:srgbClr val="C55A1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dirty="0"/>
          </a:p>
        </p:txBody>
      </p:sp>
      <p:sp>
        <p:nvSpPr>
          <p:cNvPr id="15" name="Google Shape;59;p7">
            <a:extLst>
              <a:ext uri="{FF2B5EF4-FFF2-40B4-BE49-F238E27FC236}">
                <a16:creationId xmlns:a16="http://schemas.microsoft.com/office/drawing/2014/main" id="{67067102-9214-49B3-68AA-ED754A525407}"/>
              </a:ext>
            </a:extLst>
          </p:cNvPr>
          <p:cNvSpPr txBox="1"/>
          <p:nvPr/>
        </p:nvSpPr>
        <p:spPr>
          <a:xfrm>
            <a:off x="8809950" y="1691540"/>
            <a:ext cx="1990725" cy="564515"/>
          </a:xfrm>
          <a:prstGeom prst="rect">
            <a:avLst/>
          </a:prstGeom>
          <a:noFill/>
          <a:ln>
            <a:noFill/>
          </a:ln>
        </p:spPr>
        <p:txBody>
          <a:bodyPr spcFirstLastPara="1" wrap="square" lIns="0" tIns="13325" rIns="0" bIns="0" anchor="t" anchorCtr="0">
            <a:spAutoFit/>
          </a:bodyPr>
          <a:lstStyle/>
          <a:p>
            <a:pPr marL="0" lvl="0" indent="0" algn="ctr" rtl="0">
              <a:lnSpc>
                <a:spcPct val="100000"/>
              </a:lnSpc>
              <a:spcBef>
                <a:spcPts val="0"/>
              </a:spcBef>
              <a:spcAft>
                <a:spcPts val="0"/>
              </a:spcAft>
              <a:buNone/>
            </a:pPr>
            <a:r>
              <a:rPr lang="en-US" sz="2400" dirty="0">
                <a:latin typeface="Times New Roman"/>
                <a:ea typeface="Times New Roman"/>
                <a:cs typeface="Times New Roman"/>
                <a:sym typeface="Times New Roman"/>
              </a:rPr>
              <a:t>Om Pradeep P</a:t>
            </a:r>
            <a:endParaRPr sz="2400" dirty="0">
              <a:latin typeface="Times New Roman"/>
              <a:ea typeface="Times New Roman"/>
              <a:cs typeface="Times New Roman"/>
              <a:sym typeface="Times New Roman"/>
            </a:endParaRPr>
          </a:p>
          <a:p>
            <a:pPr marL="1905" lvl="0" algn="ctr">
              <a:spcBef>
                <a:spcPts val="35"/>
              </a:spcBef>
            </a:pPr>
            <a:r>
              <a:rPr lang="en-US" sz="1100" dirty="0">
                <a:latin typeface="Times New Roman"/>
                <a:ea typeface="Times New Roman"/>
                <a:cs typeface="Times New Roman"/>
                <a:sym typeface="Times New Roman"/>
              </a:rPr>
              <a:t>Roll No. 224G1A3365</a:t>
            </a:r>
            <a:endParaRPr sz="1100" dirty="0">
              <a:latin typeface="Times New Roman"/>
              <a:ea typeface="Times New Roman"/>
              <a:cs typeface="Times New Roman"/>
              <a:sym typeface="Times New Roman"/>
            </a:endParaRPr>
          </a:p>
        </p:txBody>
      </p:sp>
      <p:sp>
        <p:nvSpPr>
          <p:cNvPr id="20" name="Google Shape;62;p7">
            <a:extLst>
              <a:ext uri="{FF2B5EF4-FFF2-40B4-BE49-F238E27FC236}">
                <a16:creationId xmlns:a16="http://schemas.microsoft.com/office/drawing/2014/main" id="{206EA6A7-BA1B-989C-8E5F-55032297F5B4}"/>
              </a:ext>
            </a:extLst>
          </p:cNvPr>
          <p:cNvSpPr txBox="1"/>
          <p:nvPr/>
        </p:nvSpPr>
        <p:spPr>
          <a:xfrm>
            <a:off x="2709823" y="5109203"/>
            <a:ext cx="6767195" cy="1220470"/>
          </a:xfrm>
          <a:prstGeom prst="rect">
            <a:avLst/>
          </a:prstGeom>
          <a:noFill/>
          <a:ln>
            <a:noFill/>
          </a:ln>
        </p:spPr>
        <p:txBody>
          <a:bodyPr spcFirstLastPara="1" wrap="square" lIns="0" tIns="17775" rIns="0" bIns="0" anchor="t" anchorCtr="0">
            <a:spAutoFit/>
          </a:bodyPr>
          <a:lstStyle/>
          <a:p>
            <a:pPr marL="4445" lvl="0" indent="0" algn="ctr" rtl="0">
              <a:lnSpc>
                <a:spcPct val="106756"/>
              </a:lnSpc>
              <a:spcBef>
                <a:spcPts val="0"/>
              </a:spcBef>
              <a:spcAft>
                <a:spcPts val="0"/>
              </a:spcAft>
              <a:buNone/>
            </a:pPr>
            <a:r>
              <a:rPr lang="en-US" sz="1850" dirty="0">
                <a:latin typeface="Times New Roman"/>
                <a:ea typeface="Times New Roman"/>
                <a:cs typeface="Times New Roman"/>
                <a:sym typeface="Times New Roman"/>
              </a:rPr>
              <a:t>Department of Computer Science and Engineering (AI &amp; ML)</a:t>
            </a:r>
            <a:endParaRPr sz="1850" dirty="0">
              <a:latin typeface="Times New Roman"/>
              <a:ea typeface="Times New Roman"/>
              <a:cs typeface="Times New Roman"/>
              <a:sym typeface="Times New Roman"/>
            </a:endParaRPr>
          </a:p>
          <a:p>
            <a:pPr marL="0" lvl="0" indent="0" algn="ctr" rtl="0">
              <a:lnSpc>
                <a:spcPct val="109827"/>
              </a:lnSpc>
              <a:spcBef>
                <a:spcPts val="0"/>
              </a:spcBef>
              <a:spcAft>
                <a:spcPts val="0"/>
              </a:spcAft>
              <a:buNone/>
            </a:pPr>
            <a:r>
              <a:rPr lang="en-US" sz="2900" dirty="0">
                <a:solidFill>
                  <a:srgbClr val="FF0000"/>
                </a:solidFill>
                <a:latin typeface="Times New Roman"/>
                <a:ea typeface="Times New Roman"/>
                <a:cs typeface="Times New Roman"/>
                <a:sym typeface="Times New Roman"/>
              </a:rPr>
              <a:t>Srinivasa Ramanujan Institute of Technology</a:t>
            </a:r>
            <a:endParaRPr sz="2900" dirty="0">
              <a:latin typeface="Times New Roman"/>
              <a:ea typeface="Times New Roman"/>
              <a:cs typeface="Times New Roman"/>
              <a:sym typeface="Times New Roman"/>
            </a:endParaRPr>
          </a:p>
          <a:p>
            <a:pPr marL="6985" lvl="0" indent="0" algn="ctr" rtl="0">
              <a:lnSpc>
                <a:spcPct val="112631"/>
              </a:lnSpc>
              <a:spcBef>
                <a:spcPts val="0"/>
              </a:spcBef>
              <a:spcAft>
                <a:spcPts val="0"/>
              </a:spcAft>
              <a:buNone/>
            </a:pPr>
            <a:r>
              <a:rPr lang="en-US" sz="950" b="1" dirty="0">
                <a:latin typeface="Times New Roman"/>
                <a:ea typeface="Times New Roman"/>
                <a:cs typeface="Times New Roman"/>
                <a:sym typeface="Times New Roman"/>
              </a:rPr>
              <a:t>(Affiliated to JNTUA &amp; Approved by AICTE) (Accredited by NAAC with ‘A’ Grade &amp; Accredited by NBA (EEE, ECE &amp; CSE)</a:t>
            </a:r>
            <a:endParaRPr sz="950" dirty="0">
              <a:latin typeface="Times New Roman"/>
              <a:ea typeface="Times New Roman"/>
              <a:cs typeface="Times New Roman"/>
              <a:sym typeface="Times New Roman"/>
            </a:endParaRPr>
          </a:p>
          <a:p>
            <a:pPr marL="5715" lvl="0" indent="0" algn="ctr" rtl="0">
              <a:lnSpc>
                <a:spcPct val="117999"/>
              </a:lnSpc>
              <a:spcBef>
                <a:spcPts val="0"/>
              </a:spcBef>
              <a:spcAft>
                <a:spcPts val="0"/>
              </a:spcAft>
              <a:buNone/>
            </a:pPr>
            <a:r>
              <a:rPr lang="en-US" sz="1000" b="1" dirty="0" err="1">
                <a:latin typeface="Times New Roman"/>
                <a:ea typeface="Times New Roman"/>
                <a:cs typeface="Times New Roman"/>
                <a:sym typeface="Times New Roman"/>
              </a:rPr>
              <a:t>Rotarypuram</a:t>
            </a:r>
            <a:r>
              <a:rPr lang="en-US" sz="1000" b="1" dirty="0">
                <a:latin typeface="Times New Roman"/>
                <a:ea typeface="Times New Roman"/>
                <a:cs typeface="Times New Roman"/>
                <a:sym typeface="Times New Roman"/>
              </a:rPr>
              <a:t> Village, B K </a:t>
            </a:r>
            <a:r>
              <a:rPr lang="en-US" sz="1000" b="1" dirty="0" err="1">
                <a:latin typeface="Times New Roman"/>
                <a:ea typeface="Times New Roman"/>
                <a:cs typeface="Times New Roman"/>
                <a:sym typeface="Times New Roman"/>
              </a:rPr>
              <a:t>Samudram</a:t>
            </a:r>
            <a:r>
              <a:rPr lang="en-US" sz="1000" b="1" dirty="0">
                <a:latin typeface="Times New Roman"/>
                <a:ea typeface="Times New Roman"/>
                <a:cs typeface="Times New Roman"/>
                <a:sym typeface="Times New Roman"/>
              </a:rPr>
              <a:t> Mandal, Ananthapuramu – 515701.</a:t>
            </a:r>
            <a:endParaRPr sz="1000" dirty="0">
              <a:latin typeface="Times New Roman"/>
              <a:ea typeface="Times New Roman"/>
              <a:cs typeface="Times New Roman"/>
              <a:sym typeface="Times New Roman"/>
            </a:endParaRPr>
          </a:p>
          <a:p>
            <a:pPr marL="5080" lvl="0" indent="0" algn="ctr" rtl="0">
              <a:lnSpc>
                <a:spcPct val="100000"/>
              </a:lnSpc>
              <a:spcBef>
                <a:spcPts val="630"/>
              </a:spcBef>
              <a:spcAft>
                <a:spcPts val="0"/>
              </a:spcAft>
              <a:buNone/>
            </a:pPr>
            <a:r>
              <a:rPr lang="en-US" sz="1100" b="1" dirty="0">
                <a:solidFill>
                  <a:srgbClr val="1E4E78"/>
                </a:solidFill>
                <a:latin typeface="Times New Roman"/>
                <a:ea typeface="Times New Roman"/>
                <a:cs typeface="Times New Roman"/>
                <a:sym typeface="Times New Roman"/>
              </a:rPr>
              <a:t>2025 - 2026</a:t>
            </a:r>
            <a:endParaRPr sz="1100" dirty="0">
              <a:latin typeface="Times New Roman"/>
              <a:ea typeface="Times New Roman"/>
              <a:cs typeface="Times New Roman"/>
              <a:sym typeface="Times New Roman"/>
            </a:endParaRPr>
          </a:p>
        </p:txBody>
      </p:sp>
      <p:sp>
        <p:nvSpPr>
          <p:cNvPr id="21" name="Google Shape;63;p7">
            <a:extLst>
              <a:ext uri="{FF2B5EF4-FFF2-40B4-BE49-F238E27FC236}">
                <a16:creationId xmlns:a16="http://schemas.microsoft.com/office/drawing/2014/main" id="{69824CE9-5D15-22E9-6CF3-EA7C0EA7D8B4}"/>
              </a:ext>
            </a:extLst>
          </p:cNvPr>
          <p:cNvSpPr txBox="1"/>
          <p:nvPr/>
        </p:nvSpPr>
        <p:spPr>
          <a:xfrm>
            <a:off x="3839834" y="1737539"/>
            <a:ext cx="1990725" cy="564515"/>
          </a:xfrm>
          <a:prstGeom prst="rect">
            <a:avLst/>
          </a:prstGeom>
          <a:noFill/>
          <a:ln>
            <a:noFill/>
          </a:ln>
        </p:spPr>
        <p:txBody>
          <a:bodyPr spcFirstLastPara="1" wrap="square" lIns="0" tIns="13325" rIns="0" bIns="0" anchor="t" anchorCtr="0">
            <a:spAutoFit/>
          </a:bodyPr>
          <a:lstStyle/>
          <a:p>
            <a:pPr marL="0" lvl="0" indent="0" algn="ctr" rtl="0">
              <a:lnSpc>
                <a:spcPct val="100000"/>
              </a:lnSpc>
              <a:spcBef>
                <a:spcPts val="0"/>
              </a:spcBef>
              <a:spcAft>
                <a:spcPts val="0"/>
              </a:spcAft>
              <a:buNone/>
            </a:pPr>
            <a:r>
              <a:rPr lang="en-US" sz="2400" dirty="0">
                <a:latin typeface="Times New Roman"/>
                <a:ea typeface="Times New Roman"/>
                <a:cs typeface="Times New Roman"/>
                <a:sym typeface="Times New Roman"/>
              </a:rPr>
              <a:t>Aliya S</a:t>
            </a:r>
            <a:endParaRPr sz="2400" dirty="0">
              <a:latin typeface="Times New Roman"/>
              <a:ea typeface="Times New Roman"/>
              <a:cs typeface="Times New Roman"/>
              <a:sym typeface="Times New Roman"/>
            </a:endParaRPr>
          </a:p>
          <a:p>
            <a:pPr marL="1905" lvl="0" algn="ctr">
              <a:spcBef>
                <a:spcPts val="35"/>
              </a:spcBef>
            </a:pPr>
            <a:r>
              <a:rPr lang="en-US" sz="1100" dirty="0">
                <a:latin typeface="Times New Roman"/>
                <a:ea typeface="Times New Roman"/>
                <a:cs typeface="Times New Roman"/>
                <a:sym typeface="Times New Roman"/>
              </a:rPr>
              <a:t>Roll No. 224G1A3303</a:t>
            </a:r>
            <a:endParaRPr sz="1100" dirty="0">
              <a:latin typeface="Times New Roman"/>
              <a:ea typeface="Times New Roman"/>
              <a:cs typeface="Times New Roman"/>
              <a:sym typeface="Times New Roman"/>
            </a:endParaRPr>
          </a:p>
        </p:txBody>
      </p:sp>
      <p:sp>
        <p:nvSpPr>
          <p:cNvPr id="22" name="Google Shape;64;p7">
            <a:extLst>
              <a:ext uri="{FF2B5EF4-FFF2-40B4-BE49-F238E27FC236}">
                <a16:creationId xmlns:a16="http://schemas.microsoft.com/office/drawing/2014/main" id="{4CC20A4A-BCEA-4FEA-DA6B-C778A7ECFC57}"/>
              </a:ext>
            </a:extLst>
          </p:cNvPr>
          <p:cNvSpPr txBox="1"/>
          <p:nvPr/>
        </p:nvSpPr>
        <p:spPr>
          <a:xfrm>
            <a:off x="1391325" y="1737539"/>
            <a:ext cx="1990725" cy="564515"/>
          </a:xfrm>
          <a:prstGeom prst="rect">
            <a:avLst/>
          </a:prstGeom>
          <a:noFill/>
          <a:ln>
            <a:noFill/>
          </a:ln>
        </p:spPr>
        <p:txBody>
          <a:bodyPr spcFirstLastPara="1" wrap="square" lIns="0" tIns="13325" rIns="0" bIns="0" anchor="t" anchorCtr="0">
            <a:spAutoFit/>
          </a:bodyPr>
          <a:lstStyle/>
          <a:p>
            <a:pPr marL="0" lvl="0" indent="0" algn="ctr" rtl="0">
              <a:lnSpc>
                <a:spcPct val="100000"/>
              </a:lnSpc>
              <a:spcBef>
                <a:spcPts val="0"/>
              </a:spcBef>
              <a:spcAft>
                <a:spcPts val="0"/>
              </a:spcAft>
              <a:buNone/>
            </a:pPr>
            <a:r>
              <a:rPr lang="en-US" sz="2400" dirty="0">
                <a:latin typeface="Times New Roman"/>
                <a:ea typeface="Times New Roman"/>
                <a:cs typeface="Times New Roman"/>
                <a:sym typeface="Times New Roman"/>
              </a:rPr>
              <a:t>Neeraj G</a:t>
            </a:r>
            <a:endParaRPr sz="2400" dirty="0">
              <a:latin typeface="Times New Roman"/>
              <a:ea typeface="Times New Roman"/>
              <a:cs typeface="Times New Roman"/>
              <a:sym typeface="Times New Roman"/>
            </a:endParaRPr>
          </a:p>
          <a:p>
            <a:pPr marL="1905" lvl="0" algn="ctr">
              <a:spcBef>
                <a:spcPts val="35"/>
              </a:spcBef>
            </a:pPr>
            <a:r>
              <a:rPr lang="en-US" sz="1100" dirty="0">
                <a:latin typeface="Times New Roman"/>
                <a:ea typeface="Times New Roman"/>
                <a:cs typeface="Times New Roman"/>
                <a:sym typeface="Times New Roman"/>
              </a:rPr>
              <a:t>Roll No. 224G1A3362</a:t>
            </a:r>
            <a:endParaRPr sz="1100" dirty="0">
              <a:latin typeface="Times New Roman"/>
              <a:ea typeface="Times New Roman"/>
              <a:cs typeface="Times New Roman"/>
              <a:sym typeface="Times New Roman"/>
            </a:endParaRPr>
          </a:p>
        </p:txBody>
      </p:sp>
      <p:sp>
        <p:nvSpPr>
          <p:cNvPr id="23" name="Google Shape;65;p7">
            <a:extLst>
              <a:ext uri="{FF2B5EF4-FFF2-40B4-BE49-F238E27FC236}">
                <a16:creationId xmlns:a16="http://schemas.microsoft.com/office/drawing/2014/main" id="{97A204D4-E902-4E64-F3C6-ED76860793FF}"/>
              </a:ext>
            </a:extLst>
          </p:cNvPr>
          <p:cNvSpPr txBox="1"/>
          <p:nvPr/>
        </p:nvSpPr>
        <p:spPr>
          <a:xfrm>
            <a:off x="6288343" y="1737539"/>
            <a:ext cx="1990725" cy="552064"/>
          </a:xfrm>
          <a:prstGeom prst="rect">
            <a:avLst/>
          </a:prstGeom>
          <a:noFill/>
          <a:ln>
            <a:noFill/>
          </a:ln>
        </p:spPr>
        <p:txBody>
          <a:bodyPr spcFirstLastPara="1" wrap="square" lIns="0" tIns="13325" rIns="0" bIns="0" anchor="t" anchorCtr="0">
            <a:spAutoFit/>
          </a:bodyPr>
          <a:lstStyle/>
          <a:p>
            <a:pPr marL="0" lvl="0" indent="0" algn="ctr" rtl="0">
              <a:lnSpc>
                <a:spcPct val="100000"/>
              </a:lnSpc>
              <a:spcBef>
                <a:spcPts val="0"/>
              </a:spcBef>
              <a:spcAft>
                <a:spcPts val="0"/>
              </a:spcAft>
              <a:buNone/>
            </a:pPr>
            <a:r>
              <a:rPr lang="en-US" sz="2400" dirty="0">
                <a:latin typeface="Times New Roman"/>
                <a:ea typeface="Times New Roman"/>
                <a:cs typeface="Times New Roman"/>
                <a:sym typeface="Times New Roman"/>
              </a:rPr>
              <a:t>Harshith Raj P</a:t>
            </a:r>
            <a:endParaRPr sz="2400" dirty="0">
              <a:latin typeface="Times New Roman"/>
              <a:ea typeface="Times New Roman"/>
              <a:cs typeface="Times New Roman"/>
              <a:sym typeface="Times New Roman"/>
            </a:endParaRPr>
          </a:p>
          <a:p>
            <a:pPr marL="1905" lvl="0" indent="0" algn="ctr" rtl="0">
              <a:lnSpc>
                <a:spcPct val="100000"/>
              </a:lnSpc>
              <a:spcBef>
                <a:spcPts val="35"/>
              </a:spcBef>
              <a:spcAft>
                <a:spcPts val="0"/>
              </a:spcAft>
              <a:buNone/>
            </a:pPr>
            <a:r>
              <a:rPr lang="en-US" sz="1100" dirty="0">
                <a:latin typeface="Times New Roman"/>
                <a:ea typeface="Times New Roman"/>
                <a:cs typeface="Times New Roman"/>
                <a:sym typeface="Times New Roman"/>
              </a:rPr>
              <a:t>Roll No. 224G1A3327</a:t>
            </a:r>
            <a:endParaRPr sz="1100" dirty="0">
              <a:latin typeface="Times New Roman"/>
              <a:ea typeface="Times New Roman"/>
              <a:cs typeface="Times New Roman"/>
              <a:sym typeface="Times New Roman"/>
            </a:endParaRPr>
          </a:p>
        </p:txBody>
      </p:sp>
      <p:grpSp>
        <p:nvGrpSpPr>
          <p:cNvPr id="24" name="Google Shape;66;p7">
            <a:extLst>
              <a:ext uri="{FF2B5EF4-FFF2-40B4-BE49-F238E27FC236}">
                <a16:creationId xmlns:a16="http://schemas.microsoft.com/office/drawing/2014/main" id="{9ABCD578-DEF4-0469-F49A-7D5056346EFA}"/>
              </a:ext>
            </a:extLst>
          </p:cNvPr>
          <p:cNvGrpSpPr/>
          <p:nvPr/>
        </p:nvGrpSpPr>
        <p:grpSpPr>
          <a:xfrm>
            <a:off x="697859" y="297171"/>
            <a:ext cx="10642482" cy="972164"/>
            <a:chOff x="697859" y="297171"/>
            <a:chExt cx="10642482" cy="972164"/>
          </a:xfrm>
        </p:grpSpPr>
        <p:pic>
          <p:nvPicPr>
            <p:cNvPr id="25" name="Google Shape;67;p7">
              <a:extLst>
                <a:ext uri="{FF2B5EF4-FFF2-40B4-BE49-F238E27FC236}">
                  <a16:creationId xmlns:a16="http://schemas.microsoft.com/office/drawing/2014/main" id="{5C23C547-2AF8-D1E5-3C66-30DFF09326C3}"/>
                </a:ext>
              </a:extLst>
            </p:cNvPr>
            <p:cNvPicPr preferRelativeResize="0"/>
            <p:nvPr/>
          </p:nvPicPr>
          <p:blipFill rotWithShape="1">
            <a:blip r:embed="rId2">
              <a:alphaModFix/>
            </a:blip>
            <a:srcRect/>
            <a:stretch/>
          </p:blipFill>
          <p:spPr>
            <a:xfrm>
              <a:off x="697859" y="297171"/>
              <a:ext cx="10642482" cy="972164"/>
            </a:xfrm>
            <a:prstGeom prst="rect">
              <a:avLst/>
            </a:prstGeom>
            <a:noFill/>
            <a:ln>
              <a:noFill/>
            </a:ln>
          </p:spPr>
        </p:pic>
        <p:sp>
          <p:nvSpPr>
            <p:cNvPr id="26" name="Google Shape;68;p7">
              <a:extLst>
                <a:ext uri="{FF2B5EF4-FFF2-40B4-BE49-F238E27FC236}">
                  <a16:creationId xmlns:a16="http://schemas.microsoft.com/office/drawing/2014/main" id="{5C440A4F-387D-7843-D1C6-E660ADC04F1A}"/>
                </a:ext>
              </a:extLst>
            </p:cNvPr>
            <p:cNvSpPr/>
            <p:nvPr/>
          </p:nvSpPr>
          <p:spPr>
            <a:xfrm>
              <a:off x="755008" y="335270"/>
              <a:ext cx="10528300" cy="857885"/>
            </a:xfrm>
            <a:custGeom>
              <a:avLst/>
              <a:gdLst/>
              <a:ahLst/>
              <a:cxnLst/>
              <a:rect l="l" t="t" r="r" b="b"/>
              <a:pathLst>
                <a:path w="10528300" h="857885" extrusionOk="0">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7" name="Google Shape;69;p7">
            <a:extLst>
              <a:ext uri="{FF2B5EF4-FFF2-40B4-BE49-F238E27FC236}">
                <a16:creationId xmlns:a16="http://schemas.microsoft.com/office/drawing/2014/main" id="{DD2629A9-EE08-BD53-4212-6A471DA38285}"/>
              </a:ext>
            </a:extLst>
          </p:cNvPr>
          <p:cNvSpPr txBox="1">
            <a:spLocks/>
          </p:cNvSpPr>
          <p:nvPr/>
        </p:nvSpPr>
        <p:spPr>
          <a:xfrm>
            <a:off x="74885" y="595654"/>
            <a:ext cx="11888430" cy="359073"/>
          </a:xfrm>
          <a:prstGeom prst="rect">
            <a:avLst/>
          </a:prstGeom>
          <a:noFill/>
          <a:ln>
            <a:noFill/>
          </a:ln>
        </p:spPr>
        <p:txBody>
          <a:bodyPr spcFirstLastPara="1" wrap="square" lIns="0" tIns="12700" rIns="0" bIns="0" anchor="t" anchorCtr="0">
            <a:sp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marL="12700" algn="ctr"/>
            <a:r>
              <a:rPr lang="en-IN" sz="2500" dirty="0">
                <a:solidFill>
                  <a:schemeClr val="bg1"/>
                </a:solidFill>
              </a:rPr>
              <a:t>Real-Time Pedestrian Detection in Autonomous Systems using Deep Learning</a:t>
            </a:r>
          </a:p>
        </p:txBody>
      </p:sp>
      <p:sp>
        <p:nvSpPr>
          <p:cNvPr id="28" name="Google Shape;70;p7">
            <a:extLst>
              <a:ext uri="{FF2B5EF4-FFF2-40B4-BE49-F238E27FC236}">
                <a16:creationId xmlns:a16="http://schemas.microsoft.com/office/drawing/2014/main" id="{DEB27BB5-29B8-C2C4-09BC-9F56723F6083}"/>
              </a:ext>
            </a:extLst>
          </p:cNvPr>
          <p:cNvSpPr txBox="1"/>
          <p:nvPr/>
        </p:nvSpPr>
        <p:spPr>
          <a:xfrm>
            <a:off x="5987420" y="1278968"/>
            <a:ext cx="217170" cy="2692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600" i="1">
                <a:latin typeface="Times New Roman"/>
                <a:ea typeface="Times New Roman"/>
                <a:cs typeface="Times New Roman"/>
                <a:sym typeface="Times New Roman"/>
              </a:rPr>
              <a:t>by</a:t>
            </a:r>
            <a:endParaRPr sz="1600">
              <a:latin typeface="Times New Roman"/>
              <a:ea typeface="Times New Roman"/>
              <a:cs typeface="Times New Roman"/>
              <a:sym typeface="Times New Roman"/>
            </a:endParaRPr>
          </a:p>
        </p:txBody>
      </p:sp>
      <p:pic>
        <p:nvPicPr>
          <p:cNvPr id="29" name="Google Shape;71;p7">
            <a:extLst>
              <a:ext uri="{FF2B5EF4-FFF2-40B4-BE49-F238E27FC236}">
                <a16:creationId xmlns:a16="http://schemas.microsoft.com/office/drawing/2014/main" id="{345ABA0B-8250-3158-7F59-D6C9D5DBCEC4}"/>
              </a:ext>
            </a:extLst>
          </p:cNvPr>
          <p:cNvPicPr preferRelativeResize="0"/>
          <p:nvPr/>
        </p:nvPicPr>
        <p:blipFill rotWithShape="1">
          <a:blip r:embed="rId3">
            <a:alphaModFix/>
          </a:blip>
          <a:srcRect/>
          <a:stretch/>
        </p:blipFill>
        <p:spPr>
          <a:xfrm>
            <a:off x="5342105" y="3477045"/>
            <a:ext cx="1843672" cy="1685486"/>
          </a:xfrm>
          <a:prstGeom prst="rect">
            <a:avLst/>
          </a:prstGeom>
          <a:noFill/>
          <a:ln>
            <a:noFill/>
          </a:ln>
        </p:spPr>
      </p:pic>
      <p:sp>
        <p:nvSpPr>
          <p:cNvPr id="30" name="Google Shape;72;p7">
            <a:extLst>
              <a:ext uri="{FF2B5EF4-FFF2-40B4-BE49-F238E27FC236}">
                <a16:creationId xmlns:a16="http://schemas.microsoft.com/office/drawing/2014/main" id="{96CC1A5B-BED9-16FD-BF94-CB11C8A73010}"/>
              </a:ext>
            </a:extLst>
          </p:cNvPr>
          <p:cNvSpPr txBox="1">
            <a:spLocks/>
          </p:cNvSpPr>
          <p:nvPr/>
        </p:nvSpPr>
        <p:spPr>
          <a:xfrm>
            <a:off x="1072332" y="6612029"/>
            <a:ext cx="5572768" cy="318549"/>
          </a:xfrm>
          <a:prstGeom prst="rect">
            <a:avLst/>
          </a:prstGeom>
          <a:noFill/>
          <a:ln>
            <a:noFill/>
          </a:ln>
        </p:spPr>
        <p:txBody>
          <a:bodyPr spcFirstLastPara="1" wrap="square" lIns="0" tIns="0" rIns="0" bIns="0" anchor="t"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15312"/>
              </a:lnSpc>
            </a:pPr>
            <a:r>
              <a:rPr lang="en-IN" cap="small" dirty="0">
                <a:solidFill>
                  <a:schemeClr val="bg2"/>
                </a:solidFill>
                <a:latin typeface="Times New Roman" panose="02020603050405020304" pitchFamily="18" charset="0"/>
                <a:cs typeface="Times New Roman" panose="02020603050405020304" pitchFamily="18" charset="0"/>
              </a:rPr>
              <a:t>Dept. of Computer Science and Engineering </a:t>
            </a:r>
            <a:r>
              <a:rPr lang="en-IN" sz="1600" cap="small" dirty="0">
                <a:solidFill>
                  <a:schemeClr val="bg2"/>
                </a:solidFill>
                <a:latin typeface="Times New Roman" panose="02020603050405020304" pitchFamily="18" charset="0"/>
                <a:cs typeface="Times New Roman" panose="02020603050405020304" pitchFamily="18" charset="0"/>
              </a:rPr>
              <a:t>(AI&amp;ML)</a:t>
            </a:r>
            <a:endParaRPr lang="en-IN" dirty="0">
              <a:solidFill>
                <a:schemeClr val="bg2"/>
              </a:solidFill>
              <a:latin typeface="Times New Roman" panose="02020603050405020304" pitchFamily="18" charset="0"/>
              <a:cs typeface="Times New Roman" panose="02020603050405020304" pitchFamily="18" charset="0"/>
            </a:endParaRPr>
          </a:p>
        </p:txBody>
      </p:sp>
      <p:sp>
        <p:nvSpPr>
          <p:cNvPr id="31" name="Google Shape;73;p7">
            <a:extLst>
              <a:ext uri="{FF2B5EF4-FFF2-40B4-BE49-F238E27FC236}">
                <a16:creationId xmlns:a16="http://schemas.microsoft.com/office/drawing/2014/main" id="{5A21287C-DAC8-1498-C755-E13E3F4F59A6}"/>
              </a:ext>
            </a:extLst>
          </p:cNvPr>
          <p:cNvSpPr txBox="1"/>
          <p:nvPr/>
        </p:nvSpPr>
        <p:spPr>
          <a:xfrm>
            <a:off x="6645100" y="6571348"/>
            <a:ext cx="6190180" cy="323165"/>
          </a:xfrm>
          <a:prstGeom prst="rect">
            <a:avLst/>
          </a:prstGeom>
          <a:noFill/>
          <a:ln>
            <a:noFill/>
          </a:ln>
        </p:spPr>
        <p:txBody>
          <a:bodyPr spcFirstLastPara="1" wrap="square" lIns="91425" tIns="45700" rIns="91425" bIns="45700" anchor="t" anchorCtr="0">
            <a:spAutoFit/>
          </a:bodyPr>
          <a:lstStyle/>
          <a:p>
            <a:pPr marL="12700" lvl="0" indent="0" algn="l" rtl="0">
              <a:lnSpc>
                <a:spcPct val="102500"/>
              </a:lnSpc>
              <a:spcBef>
                <a:spcPts val="0"/>
              </a:spcBef>
              <a:spcAft>
                <a:spcPts val="0"/>
              </a:spcAft>
              <a:buNone/>
            </a:pPr>
            <a:r>
              <a:rPr lang="en-US" sz="1800" cap="small">
                <a:solidFill>
                  <a:srgbClr val="FFFFFF"/>
                </a:solidFill>
                <a:latin typeface="Times New Roman"/>
                <a:ea typeface="Times New Roman"/>
                <a:cs typeface="Times New Roman"/>
                <a:sym typeface="Times New Roman"/>
              </a:rPr>
              <a:t>Srinivasa Ramanujan Institute of Technology</a:t>
            </a:r>
            <a:endParaRPr sz="1800">
              <a:latin typeface="Times New Roman"/>
              <a:ea typeface="Times New Roman"/>
              <a:cs typeface="Times New Roman"/>
              <a:sym typeface="Times New Roman"/>
            </a:endParaRPr>
          </a:p>
        </p:txBody>
      </p:sp>
      <p:sp>
        <p:nvSpPr>
          <p:cNvPr id="33" name="TextBox 32">
            <a:extLst>
              <a:ext uri="{FF2B5EF4-FFF2-40B4-BE49-F238E27FC236}">
                <a16:creationId xmlns:a16="http://schemas.microsoft.com/office/drawing/2014/main" id="{C58D559B-98B8-1685-5CC4-2B77A574A2C0}"/>
              </a:ext>
            </a:extLst>
          </p:cNvPr>
          <p:cNvSpPr txBox="1"/>
          <p:nvPr/>
        </p:nvSpPr>
        <p:spPr>
          <a:xfrm>
            <a:off x="3081503" y="2643069"/>
            <a:ext cx="6418728" cy="851515"/>
          </a:xfrm>
          <a:prstGeom prst="rect">
            <a:avLst/>
          </a:prstGeom>
          <a:noFill/>
        </p:spPr>
        <p:txBody>
          <a:bodyPr wrap="square">
            <a:spAutoFit/>
          </a:bodyPr>
          <a:lstStyle/>
          <a:p>
            <a:pPr algn="ctr">
              <a:spcBef>
                <a:spcPts val="300"/>
              </a:spcBef>
            </a:pPr>
            <a:r>
              <a:rPr lang="en-US" sz="1200" b="0" i="1" dirty="0">
                <a:latin typeface="Times New Roman" panose="02020603050405020304" pitchFamily="18" charset="0"/>
                <a:cs typeface="Times New Roman" panose="02020603050405020304" pitchFamily="18" charset="0"/>
              </a:rPr>
              <a:t>Under the guidance of</a:t>
            </a:r>
          </a:p>
          <a:p>
            <a:pPr algn="ctr">
              <a:spcBef>
                <a:spcPts val="200"/>
              </a:spcBef>
            </a:pPr>
            <a:r>
              <a:rPr 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Mr. A. Kiran Kumar  </a:t>
            </a:r>
            <a:r>
              <a:rPr lang="en-US" sz="2000" b="0" baseline="-2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 Tech., ( Ph. D).</a:t>
            </a:r>
            <a:endParaRPr lang="en-IN" sz="2000" b="0" baseline="-2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spcBef>
                <a:spcPts val="200"/>
              </a:spcBef>
            </a:pPr>
            <a:r>
              <a:rPr lang="en-IN" sz="1200" b="0" dirty="0">
                <a:latin typeface="Times New Roman" panose="02020603050405020304" pitchFamily="18" charset="0"/>
                <a:cs typeface="Times New Roman" panose="02020603050405020304" pitchFamily="18" charset="0"/>
              </a:rPr>
              <a:t>Assistant Professor</a:t>
            </a:r>
          </a:p>
        </p:txBody>
      </p:sp>
    </p:spTree>
    <p:extLst>
      <p:ext uri="{BB962C8B-B14F-4D97-AF65-F5344CB8AC3E}">
        <p14:creationId xmlns:p14="http://schemas.microsoft.com/office/powerpoint/2010/main" val="3655500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92D7B-CF16-46D8-8243-8661747A4014}"/>
              </a:ext>
            </a:extLst>
          </p:cNvPr>
          <p:cNvSpPr>
            <a:spLocks noGrp="1"/>
          </p:cNvSpPr>
          <p:nvPr>
            <p:ph type="title"/>
          </p:nvPr>
        </p:nvSpPr>
        <p:spPr/>
        <p:txBody>
          <a:bodyPr/>
          <a:lstStyle/>
          <a:p>
            <a:r>
              <a:rPr lang="en-US" dirty="0"/>
              <a:t>Contents</a:t>
            </a:r>
            <a:endParaRPr lang="en-IN" dirty="0"/>
          </a:p>
        </p:txBody>
      </p:sp>
      <p:sp>
        <p:nvSpPr>
          <p:cNvPr id="3" name="Content Placeholder 2">
            <a:extLst>
              <a:ext uri="{FF2B5EF4-FFF2-40B4-BE49-F238E27FC236}">
                <a16:creationId xmlns:a16="http://schemas.microsoft.com/office/drawing/2014/main" id="{0B9CA917-AD8E-4861-804D-4A5A6A205591}"/>
              </a:ext>
            </a:extLst>
          </p:cNvPr>
          <p:cNvSpPr>
            <a:spLocks noGrp="1"/>
          </p:cNvSpPr>
          <p:nvPr>
            <p:ph idx="1"/>
          </p:nvPr>
        </p:nvSpPr>
        <p:spPr/>
        <p:txBody>
          <a:bodyPr>
            <a:normAutofit lnSpcReduction="10000"/>
          </a:bodyPr>
          <a:lstStyle/>
          <a:p>
            <a:pPr marL="462280" indent="-462280">
              <a:buBlip>
                <a:blip>
                  <a:extLst>
                    <a:ext uri="{96DAC541-7B7A-43D3-8B79-37D633B846F1}">
                      <asvg:svgBlip xmlns:asvg="http://schemas.microsoft.com/office/drawing/2016/SVG/main" r:embed="rId2"/>
                    </a:ext>
                  </a:extLst>
                </a:blip>
              </a:buBlip>
            </a:pPr>
            <a:r>
              <a:rPr lang="en-US" dirty="0"/>
              <a:t>Abstract</a:t>
            </a:r>
          </a:p>
          <a:p>
            <a:pPr marL="462280" indent="-462280">
              <a:buBlip>
                <a:blip>
                  <a:extLst>
                    <a:ext uri="{96DAC541-7B7A-43D3-8B79-37D633B846F1}">
                      <asvg:svgBlip xmlns:asvg="http://schemas.microsoft.com/office/drawing/2016/SVG/main" r:embed="rId2"/>
                    </a:ext>
                  </a:extLst>
                </a:blip>
              </a:buBlip>
            </a:pPr>
            <a:r>
              <a:rPr lang="en-US" dirty="0"/>
              <a:t>Problem Statement</a:t>
            </a:r>
          </a:p>
          <a:p>
            <a:pPr marL="462280" indent="-462280">
              <a:buBlip>
                <a:blip>
                  <a:extLst>
                    <a:ext uri="{96DAC541-7B7A-43D3-8B79-37D633B846F1}">
                      <asvg:svgBlip xmlns:asvg="http://schemas.microsoft.com/office/drawing/2016/SVG/main" r:embed="rId2"/>
                    </a:ext>
                  </a:extLst>
                </a:blip>
              </a:buBlip>
            </a:pPr>
            <a:r>
              <a:rPr lang="en-US" altLang="en-IN" dirty="0"/>
              <a:t>Objectives of Project</a:t>
            </a:r>
          </a:p>
          <a:p>
            <a:pPr marL="462280" indent="-462280">
              <a:buBlip>
                <a:blip>
                  <a:extLst>
                    <a:ext uri="{96DAC541-7B7A-43D3-8B79-37D633B846F1}">
                      <asvg:svgBlip xmlns:asvg="http://schemas.microsoft.com/office/drawing/2016/SVG/main" r:embed="rId2"/>
                    </a:ext>
                  </a:extLst>
                </a:blip>
              </a:buBlip>
            </a:pPr>
            <a:r>
              <a:rPr lang="en-US" altLang="en-IN" dirty="0"/>
              <a:t>Literature Survey </a:t>
            </a:r>
          </a:p>
          <a:p>
            <a:pPr marL="462280" indent="-462280">
              <a:buBlip>
                <a:blip>
                  <a:extLst>
                    <a:ext uri="{96DAC541-7B7A-43D3-8B79-37D633B846F1}">
                      <asvg:svgBlip xmlns:asvg="http://schemas.microsoft.com/office/drawing/2016/SVG/main" r:embed="rId2"/>
                    </a:ext>
                  </a:extLst>
                </a:blip>
              </a:buBlip>
            </a:pPr>
            <a:r>
              <a:rPr lang="en-US" dirty="0"/>
              <a:t>Existing Systems</a:t>
            </a:r>
          </a:p>
          <a:p>
            <a:pPr marL="462280" indent="-462280">
              <a:buBlip>
                <a:blip>
                  <a:extLst>
                    <a:ext uri="{96DAC541-7B7A-43D3-8B79-37D633B846F1}">
                      <asvg:svgBlip xmlns:asvg="http://schemas.microsoft.com/office/drawing/2016/SVG/main" r:embed="rId2"/>
                    </a:ext>
                  </a:extLst>
                </a:blip>
              </a:buBlip>
            </a:pPr>
            <a:r>
              <a:rPr lang="en-US" dirty="0"/>
              <a:t>Proposed Work-(Methods to be followed for proposed system)</a:t>
            </a:r>
          </a:p>
          <a:p>
            <a:pPr marL="462280" indent="-462280">
              <a:buBlip>
                <a:blip>
                  <a:extLst>
                    <a:ext uri="{96DAC541-7B7A-43D3-8B79-37D633B846F1}">
                      <asvg:svgBlip xmlns:asvg="http://schemas.microsoft.com/office/drawing/2016/SVG/main" r:embed="rId2"/>
                    </a:ext>
                  </a:extLst>
                </a:blip>
              </a:buBlip>
            </a:pPr>
            <a:r>
              <a:rPr lang="en-US" dirty="0"/>
              <a:t>Architecture, UML diagrams, data flow</a:t>
            </a:r>
          </a:p>
          <a:p>
            <a:pPr marL="462280" indent="-462280">
              <a:buBlip>
                <a:blip>
                  <a:extLst>
                    <a:ext uri="{96DAC541-7B7A-43D3-8B79-37D633B846F1}">
                      <asvg:svgBlip xmlns:asvg="http://schemas.microsoft.com/office/drawing/2016/SVG/main" r:embed="rId2"/>
                    </a:ext>
                  </a:extLst>
                </a:blip>
              </a:buBlip>
            </a:pPr>
            <a:r>
              <a:rPr lang="en-US" dirty="0"/>
              <a:t>Implementation</a:t>
            </a:r>
          </a:p>
          <a:p>
            <a:pPr marL="462280" indent="-462280">
              <a:buBlip>
                <a:blip>
                  <a:extLst>
                    <a:ext uri="{96DAC541-7B7A-43D3-8B79-37D633B846F1}">
                      <asvg:svgBlip xmlns:asvg="http://schemas.microsoft.com/office/drawing/2016/SVG/main" r:embed="rId2"/>
                    </a:ext>
                  </a:extLst>
                </a:blip>
              </a:buBlip>
            </a:pPr>
            <a:r>
              <a:rPr lang="en-US" dirty="0"/>
              <a:t>Results &amp; Analysis</a:t>
            </a:r>
          </a:p>
          <a:p>
            <a:pPr marL="462280" indent="-462280">
              <a:buBlip>
                <a:blip>
                  <a:extLst>
                    <a:ext uri="{96DAC541-7B7A-43D3-8B79-37D633B846F1}">
                      <asvg:svgBlip xmlns:asvg="http://schemas.microsoft.com/office/drawing/2016/SVG/main" r:embed="rId2"/>
                    </a:ext>
                  </a:extLst>
                </a:blip>
              </a:buBlip>
            </a:pPr>
            <a:r>
              <a:rPr lang="en-IN" dirty="0"/>
              <a:t>References</a:t>
            </a:r>
          </a:p>
          <a:p>
            <a:pPr marL="462280" indent="-462280">
              <a:buBlip>
                <a:blip>
                  <a:extLst>
                    <a:ext uri="{96DAC541-7B7A-43D3-8B79-37D633B846F1}">
                      <asvg:svgBlip xmlns:asvg="http://schemas.microsoft.com/office/drawing/2016/SVG/main" r:embed="rId2"/>
                    </a:ext>
                  </a:extLst>
                </a:blip>
              </a:buBlip>
            </a:pPr>
            <a:r>
              <a:rPr lang="en-IN" dirty="0"/>
              <a:t>GitHub Link</a:t>
            </a:r>
            <a:endParaRPr lang="en-US" dirty="0"/>
          </a:p>
          <a:p>
            <a:pPr marL="0" indent="0">
              <a:buNone/>
            </a:pPr>
            <a:endParaRPr lang="en-IN" dirty="0"/>
          </a:p>
        </p:txBody>
      </p:sp>
    </p:spTree>
    <p:extLst>
      <p:ext uri="{BB962C8B-B14F-4D97-AF65-F5344CB8AC3E}">
        <p14:creationId xmlns:p14="http://schemas.microsoft.com/office/powerpoint/2010/main" val="532094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endParaRPr lang="en-IN" dirty="0"/>
          </a:p>
        </p:txBody>
      </p:sp>
      <p:sp>
        <p:nvSpPr>
          <p:cNvPr id="6" name="Content Placeholder 2">
            <a:extLst>
              <a:ext uri="{FF2B5EF4-FFF2-40B4-BE49-F238E27FC236}">
                <a16:creationId xmlns:a16="http://schemas.microsoft.com/office/drawing/2014/main" id="{8D3944A0-0FCB-46FB-9E73-72A37CA2B00B}"/>
              </a:ext>
            </a:extLst>
          </p:cNvPr>
          <p:cNvSpPr>
            <a:spLocks noGrp="1"/>
          </p:cNvSpPr>
          <p:nvPr>
            <p:ph idx="1"/>
          </p:nvPr>
        </p:nvSpPr>
        <p:spPr>
          <a:xfrm>
            <a:off x="-194942" y="1230281"/>
            <a:ext cx="11779135" cy="5394960"/>
          </a:xfrm>
        </p:spPr>
        <p:txBody>
          <a:bodyPr>
            <a:noAutofit/>
          </a:bodyPr>
          <a:lstStyle/>
          <a:p>
            <a:pPr marL="457200" indent="0">
              <a:buNone/>
            </a:pPr>
            <a:r>
              <a:rPr lang="en-IN" sz="2200" dirty="0"/>
              <a:t>The general topic of this study is pedestrian detection in autonomous systems, with the specific research problem focusing on the limitations of current deep learning frameworks, particularly YOLOv8, in handling partially occluded, small-scale, and densely clustered pedestrians. The main objective of the research is to design improved architectures that enhance detection robustness while maintaining real-time performance, thereby advancing safe navigation and collision avoidance in complex urban environments. To achieve these goals, we introduce four enhanced models collectively termed YOLOv9, which incorporate adaptive attention mechanisms, multi-scale feature fusion, and temporal context </a:t>
            </a:r>
            <a:r>
              <a:rPr lang="en-IN" sz="2200" dirty="0" err="1"/>
              <a:t>modeling</a:t>
            </a:r>
            <a:r>
              <a:rPr lang="en-IN" sz="2200" dirty="0"/>
              <a:t>. The methods employed involve extensive benchmarking across standard pedestrian datasets, with performance evaluated using precision, recall, and mean average precision (</a:t>
            </a:r>
            <a:r>
              <a:rPr lang="en-IN" sz="2200" dirty="0" err="1"/>
              <a:t>mAP</a:t>
            </a:r>
            <a:r>
              <a:rPr lang="en-IN" sz="2200" dirty="0"/>
              <a:t>) as key metrics. The results demonstrate that YOLOv9 significantly outperforms YOLOv8, achieving higher precision and recall, particularly in challenging scenarios characterized by occlusion, scale variation, and dense crowding, while preserving the speed advantages of the YOLO framework. In conclusion, the findings underscore the importance of architectural innovation in pedestrian detection, highlight the effectiveness of attention-driven and multi-scale approaches, and suggest that YOLOv9 provides a more robust solution for autonomous navigation systems, laying the groundwork for future advancements in adaptive deep learning models.</a:t>
            </a:r>
            <a:endParaRPr lang="en-US" sz="2200" dirty="0"/>
          </a:p>
        </p:txBody>
      </p:sp>
    </p:spTree>
    <p:extLst>
      <p:ext uri="{BB962C8B-B14F-4D97-AF65-F5344CB8AC3E}">
        <p14:creationId xmlns:p14="http://schemas.microsoft.com/office/powerpoint/2010/main" val="1751120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7AC86CD8-CB6D-4B54-951B-2D0FC1B8710A}"/>
              </a:ext>
            </a:extLst>
          </p:cNvPr>
          <p:cNvSpPr>
            <a:spLocks noGrp="1"/>
          </p:cNvSpPr>
          <p:nvPr>
            <p:ph idx="1"/>
          </p:nvPr>
        </p:nvSpPr>
        <p:spPr>
          <a:xfrm>
            <a:off x="199505" y="1097279"/>
            <a:ext cx="11779135" cy="5394960"/>
          </a:xfrm>
        </p:spPr>
        <p:txBody>
          <a:bodyPr>
            <a:normAutofit/>
          </a:bodyPr>
          <a:lstStyle/>
          <a:p>
            <a:pPr marL="0" indent="0">
              <a:buNone/>
            </a:pPr>
            <a:r>
              <a:rPr lang="en-IN" dirty="0"/>
              <a:t>Pedestrian detection is a crucial task in autonomous systems, directly impacting the safety and reliability of navigation in dynamic environments. Existing deep learning models like YOLOv8 offer notable performance but still struggle with challenges such as occluded pedestrians, varying scales, low-light conditions, and dense crowd scenarios. These limitations reduce detection accuracy and may lead to critical failures in real-world autonomous applications. There is a need for more advanced models that can effectively handle complex scenarios while maintaining high precision and robustness. This project addresses these challenges by proposing improved YOLO variant—YOLOv9—with enhanced detection capabilities.</a:t>
            </a:r>
            <a:endParaRPr lang="en-US" dirty="0"/>
          </a:p>
        </p:txBody>
      </p:sp>
      <p:sp>
        <p:nvSpPr>
          <p:cNvPr id="5" name="Title 1">
            <a:extLst>
              <a:ext uri="{FF2B5EF4-FFF2-40B4-BE49-F238E27FC236}">
                <a16:creationId xmlns:a16="http://schemas.microsoft.com/office/drawing/2014/main" id="{887D7ABE-3220-2A99-C418-478847A7F2DB}"/>
              </a:ext>
            </a:extLst>
          </p:cNvPr>
          <p:cNvSpPr>
            <a:spLocks noGrp="1"/>
          </p:cNvSpPr>
          <p:nvPr/>
        </p:nvSpPr>
        <p:spPr>
          <a:xfrm>
            <a:off x="0" y="238706"/>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dirty="0"/>
              <a:t>Problem Statement</a:t>
            </a:r>
          </a:p>
        </p:txBody>
      </p:sp>
    </p:spTree>
    <p:extLst>
      <p:ext uri="{BB962C8B-B14F-4D97-AF65-F5344CB8AC3E}">
        <p14:creationId xmlns:p14="http://schemas.microsoft.com/office/powerpoint/2010/main" val="316781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8192DDE-6EE4-C9A4-2EC8-3F5C4479198D}"/>
              </a:ext>
            </a:extLst>
          </p:cNvPr>
          <p:cNvSpPr>
            <a:spLocks noGrp="1"/>
          </p:cNvSpPr>
          <p:nvPr/>
        </p:nvSpPr>
        <p:spPr>
          <a:xfrm>
            <a:off x="0" y="25557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l" defTabSz="914400" rtl="0" eaLnBrk="1" latinLnBrk="0" hangingPunct="1">
              <a:lnSpc>
                <a:spcPct val="90000"/>
              </a:lnSpc>
              <a:spcBef>
                <a:spcPct val="0"/>
              </a:spcBef>
              <a:buNone/>
              <a:defRPr sz="4400" b="0" kern="1200" cap="none" spc="0">
                <a:ln w="0"/>
                <a:solidFill>
                  <a:schemeClr val="bg1"/>
                </a:solidFill>
                <a:effectLst>
                  <a:outerShdw blurRad="38100" dist="25400" dir="5400000" algn="ctr" rotWithShape="0">
                    <a:srgbClr val="6E747A">
                      <a:alpha val="43000"/>
                    </a:srgbClr>
                  </a:outerShdw>
                </a:effectLst>
                <a:latin typeface="Times New Roman" panose="02020603050405020304" pitchFamily="18" charset="0"/>
                <a:ea typeface="+mj-ea"/>
                <a:cs typeface="Times New Roman" panose="02020603050405020304" pitchFamily="18" charset="0"/>
              </a:defRPr>
            </a:lvl1pPr>
          </a:lstStyle>
          <a:p>
            <a:r>
              <a:rPr lang="en-US" altLang="en-IN" dirty="0"/>
              <a:t>Objectives of Project</a:t>
            </a:r>
          </a:p>
        </p:txBody>
      </p:sp>
      <p:sp>
        <p:nvSpPr>
          <p:cNvPr id="5" name="Content Placeholder 2">
            <a:extLst>
              <a:ext uri="{FF2B5EF4-FFF2-40B4-BE49-F238E27FC236}">
                <a16:creationId xmlns:a16="http://schemas.microsoft.com/office/drawing/2014/main" id="{17A11C3B-48D2-7C9A-EE51-360C59387D4E}"/>
              </a:ext>
            </a:extLst>
          </p:cNvPr>
          <p:cNvSpPr>
            <a:spLocks noGrp="1"/>
          </p:cNvSpPr>
          <p:nvPr/>
        </p:nvSpPr>
        <p:spPr>
          <a:xfrm>
            <a:off x="206432" y="850015"/>
            <a:ext cx="11779135" cy="5394960"/>
          </a:xfrm>
          <a:prstGeom prst="rect">
            <a:avLst/>
          </a:prstGeom>
        </p:spPr>
        <p:txBody>
          <a:bodyPr vert="horz" lIns="91440" tIns="45720" rIns="91440" bIns="45720" rtlCol="0">
            <a:noAutofit/>
          </a:bodyPr>
          <a:lstStyle>
            <a:lvl1pPr marL="228600" indent="-228600" algn="just" defTabSz="914400" rtl="0" eaLnBrk="1" latinLnBrk="0" hangingPunct="1">
              <a:lnSpc>
                <a:spcPct val="90000"/>
              </a:lnSpc>
              <a:spcBef>
                <a:spcPts val="10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q"/>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br>
              <a:rPr lang="en-IN" sz="2400" dirty="0"/>
            </a:br>
            <a:r>
              <a:rPr lang="en-IN" sz="2400" dirty="0"/>
              <a:t>• The rapid growth of autonomous systems, especially in transportation and surveillance, requires highly accurate and robust pedestrian detection to ensure public safety and prevent accidents.</a:t>
            </a:r>
          </a:p>
          <a:p>
            <a:pPr marL="0" indent="0">
              <a:buNone/>
            </a:pPr>
            <a:r>
              <a:rPr lang="en-IN" sz="2400" dirty="0"/>
              <a:t>• Existing models such as YOLOv8 have shown significant progress in real-time object detection.</a:t>
            </a:r>
          </a:p>
          <a:p>
            <a:pPr marL="0" indent="0">
              <a:buNone/>
            </a:pPr>
            <a:r>
              <a:rPr lang="en-IN" sz="2400" dirty="0"/>
              <a:t>• However, YOLOv8 faces limitations in detecting pedestrians under occlusion, varying scales, and complex backgrounds, highlighting the need for improvement.</a:t>
            </a:r>
          </a:p>
          <a:p>
            <a:pPr marL="0" indent="0">
              <a:buNone/>
            </a:pPr>
            <a:r>
              <a:rPr lang="en-IN" sz="2400" dirty="0"/>
              <a:t>• This challenge motivated the design of enhanced deep learning models capable of overcoming these detection issues.</a:t>
            </a:r>
          </a:p>
          <a:p>
            <a:pPr marL="0" indent="0">
              <a:buNone/>
            </a:pPr>
            <a:r>
              <a:rPr lang="en-IN" sz="2400" dirty="0"/>
              <a:t>• We introduce YOLOv9 incorporating architectural advancements to improve detection robustness.</a:t>
            </a:r>
          </a:p>
          <a:p>
            <a:pPr marL="0" indent="0">
              <a:buNone/>
            </a:pPr>
            <a:r>
              <a:rPr lang="en-IN" sz="2400" dirty="0"/>
              <a:t>• The goal is to contribute to the development of more reliable pedestrian detection systems that can support real-world deployment in autonomous environments.				</a:t>
            </a:r>
            <a:br>
              <a:rPr lang="en-IN" sz="2400" dirty="0"/>
            </a:br>
            <a:endParaRPr lang="en-IN" sz="2400" dirty="0"/>
          </a:p>
        </p:txBody>
      </p:sp>
    </p:spTree>
    <p:extLst>
      <p:ext uri="{BB962C8B-B14F-4D97-AF65-F5344CB8AC3E}">
        <p14:creationId xmlns:p14="http://schemas.microsoft.com/office/powerpoint/2010/main" val="1718603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FC4F9560-C85B-D9CC-7685-D572E930B443}"/>
              </a:ext>
            </a:extLst>
          </p:cNvPr>
          <p:cNvSpPr>
            <a:spLocks noGrp="1"/>
          </p:cNvSpPr>
          <p:nvPr>
            <p:ph type="title"/>
          </p:nvPr>
        </p:nvSpPr>
        <p:spPr>
          <a:xfrm>
            <a:off x="-2" y="232759"/>
            <a:ext cx="12192000" cy="714892"/>
          </a:xfrm>
        </p:spPr>
        <p:txBody>
          <a:bodyPr/>
          <a:lstStyle/>
          <a:p>
            <a:r>
              <a:rPr lang="en-IN" dirty="0"/>
              <a:t>Literature survey</a:t>
            </a:r>
          </a:p>
        </p:txBody>
      </p:sp>
      <p:sp>
        <p:nvSpPr>
          <p:cNvPr id="17" name="Content Placeholder 2">
            <a:extLst>
              <a:ext uri="{FF2B5EF4-FFF2-40B4-BE49-F238E27FC236}">
                <a16:creationId xmlns:a16="http://schemas.microsoft.com/office/drawing/2014/main" id="{55003AF2-0A1F-B143-4F18-502598295632}"/>
              </a:ext>
            </a:extLst>
          </p:cNvPr>
          <p:cNvSpPr>
            <a:spLocks noGrp="1"/>
          </p:cNvSpPr>
          <p:nvPr>
            <p:ph idx="1"/>
          </p:nvPr>
        </p:nvSpPr>
        <p:spPr>
          <a:xfrm>
            <a:off x="199505" y="1097279"/>
            <a:ext cx="11779135" cy="5394960"/>
          </a:xfrm>
        </p:spPr>
        <p:txBody>
          <a:bodyPr>
            <a:normAutofit/>
          </a:bodyPr>
          <a:lstStyle/>
          <a:p>
            <a:pPr marL="0" indent="0">
              <a:buNone/>
            </a:pPr>
            <a:endParaRPr lang="en-US" dirty="0"/>
          </a:p>
          <a:p>
            <a:endParaRPr lang="en-US" dirty="0"/>
          </a:p>
          <a:p>
            <a:endParaRPr lang="en-US" dirty="0"/>
          </a:p>
          <a:p>
            <a:pPr marL="0" indent="0">
              <a:buNone/>
            </a:pPr>
            <a:endParaRPr lang="en-US" b="1" dirty="0"/>
          </a:p>
          <a:p>
            <a:pPr marL="0" indent="0">
              <a:buNone/>
            </a:pPr>
            <a:br>
              <a:rPr lang="en-US" dirty="0"/>
            </a:br>
            <a:endParaRPr lang="en-IN" dirty="0"/>
          </a:p>
        </p:txBody>
      </p:sp>
      <p:graphicFrame>
        <p:nvGraphicFramePr>
          <p:cNvPr id="26" name="Google Shape;129;p11">
            <a:extLst>
              <a:ext uri="{FF2B5EF4-FFF2-40B4-BE49-F238E27FC236}">
                <a16:creationId xmlns:a16="http://schemas.microsoft.com/office/drawing/2014/main" id="{E485D7FD-AADE-00DC-8A07-28C11068EB9C}"/>
              </a:ext>
            </a:extLst>
          </p:cNvPr>
          <p:cNvGraphicFramePr/>
          <p:nvPr>
            <p:extLst>
              <p:ext uri="{D42A27DB-BD31-4B8C-83A1-F6EECF244321}">
                <p14:modId xmlns:p14="http://schemas.microsoft.com/office/powerpoint/2010/main" val="2463511666"/>
              </p:ext>
            </p:extLst>
          </p:nvPr>
        </p:nvGraphicFramePr>
        <p:xfrm>
          <a:off x="0" y="947651"/>
          <a:ext cx="12191997" cy="5677590"/>
        </p:xfrm>
        <a:graphic>
          <a:graphicData uri="http://schemas.openxmlformats.org/drawingml/2006/table">
            <a:tbl>
              <a:tblPr firstRow="1">
                <a:tableStyleId>{5C22544A-7EE6-4342-B048-85BDC9FD1C3A}</a:tableStyleId>
              </a:tblPr>
              <a:tblGrid>
                <a:gridCol w="535883">
                  <a:extLst>
                    <a:ext uri="{9D8B030D-6E8A-4147-A177-3AD203B41FA5}">
                      <a16:colId xmlns:a16="http://schemas.microsoft.com/office/drawing/2014/main" val="20000"/>
                    </a:ext>
                  </a:extLst>
                </a:gridCol>
                <a:gridCol w="2107887">
                  <a:extLst>
                    <a:ext uri="{9D8B030D-6E8A-4147-A177-3AD203B41FA5}">
                      <a16:colId xmlns:a16="http://schemas.microsoft.com/office/drawing/2014/main" val="20001"/>
                    </a:ext>
                  </a:extLst>
                </a:gridCol>
                <a:gridCol w="1594919">
                  <a:extLst>
                    <a:ext uri="{9D8B030D-6E8A-4147-A177-3AD203B41FA5}">
                      <a16:colId xmlns:a16="http://schemas.microsoft.com/office/drawing/2014/main" val="20002"/>
                    </a:ext>
                  </a:extLst>
                </a:gridCol>
                <a:gridCol w="1614242">
                  <a:extLst>
                    <a:ext uri="{9D8B030D-6E8A-4147-A177-3AD203B41FA5}">
                      <a16:colId xmlns:a16="http://schemas.microsoft.com/office/drawing/2014/main" val="20003"/>
                    </a:ext>
                  </a:extLst>
                </a:gridCol>
                <a:gridCol w="1985830">
                  <a:extLst>
                    <a:ext uri="{9D8B030D-6E8A-4147-A177-3AD203B41FA5}">
                      <a16:colId xmlns:a16="http://schemas.microsoft.com/office/drawing/2014/main" val="20004"/>
                    </a:ext>
                  </a:extLst>
                </a:gridCol>
                <a:gridCol w="2308809">
                  <a:extLst>
                    <a:ext uri="{9D8B030D-6E8A-4147-A177-3AD203B41FA5}">
                      <a16:colId xmlns:a16="http://schemas.microsoft.com/office/drawing/2014/main" val="20005"/>
                    </a:ext>
                  </a:extLst>
                </a:gridCol>
                <a:gridCol w="2044427">
                  <a:extLst>
                    <a:ext uri="{9D8B030D-6E8A-4147-A177-3AD203B41FA5}">
                      <a16:colId xmlns:a16="http://schemas.microsoft.com/office/drawing/2014/main" val="20006"/>
                    </a:ext>
                  </a:extLst>
                </a:gridCol>
              </a:tblGrid>
              <a:tr h="647641">
                <a:tc>
                  <a:txBody>
                    <a:bodyPr/>
                    <a:lstStyle/>
                    <a:p>
                      <a:pPr marL="85725" marR="0" lvl="0" indent="0" algn="l" rtl="0">
                        <a:lnSpc>
                          <a:spcPct val="100000"/>
                        </a:lnSpc>
                        <a:spcBef>
                          <a:spcPts val="0"/>
                        </a:spcBef>
                        <a:spcAft>
                          <a:spcPts val="0"/>
                        </a:spcAft>
                        <a:buNone/>
                      </a:pPr>
                      <a:r>
                        <a:rPr lang="en-US" sz="1800" b="1" u="none" strike="noStrike" cap="none" dirty="0">
                          <a:solidFill>
                            <a:srgbClr val="FFFFFF"/>
                          </a:solidFill>
                          <a:sym typeface="Calibri"/>
                        </a:rPr>
                        <a:t>No</a:t>
                      </a:r>
                      <a:endParaRPr sz="1800" u="none" strike="noStrike" cap="none" dirty="0">
                        <a:latin typeface="Calibri"/>
                        <a:ea typeface="Calibri"/>
                        <a:cs typeface="Calibri"/>
                        <a:sym typeface="Calibri"/>
                      </a:endParaRPr>
                    </a:p>
                  </a:txBody>
                  <a:tcPr marL="0" marR="0" marT="28575" marB="0"/>
                </a:tc>
                <a:tc>
                  <a:txBody>
                    <a:bodyPr/>
                    <a:lstStyle/>
                    <a:p>
                      <a:pPr marL="85725" marR="0" lvl="0" indent="0" algn="l" rtl="0">
                        <a:lnSpc>
                          <a:spcPct val="100000"/>
                        </a:lnSpc>
                        <a:spcBef>
                          <a:spcPts val="0"/>
                        </a:spcBef>
                        <a:spcAft>
                          <a:spcPts val="0"/>
                        </a:spcAft>
                        <a:buNone/>
                      </a:pPr>
                      <a:r>
                        <a:rPr lang="en-US" sz="1800" b="1" u="none" strike="noStrike" cap="none" dirty="0">
                          <a:solidFill>
                            <a:srgbClr val="FFFFFF"/>
                          </a:solidFill>
                          <a:sym typeface="Calibri"/>
                        </a:rPr>
                        <a:t>Title</a:t>
                      </a:r>
                      <a:endParaRPr sz="1800" u="none" strike="noStrike" cap="none" dirty="0">
                        <a:latin typeface="Calibri"/>
                        <a:ea typeface="Calibri"/>
                        <a:cs typeface="Calibri"/>
                        <a:sym typeface="Calibri"/>
                      </a:endParaRPr>
                    </a:p>
                  </a:txBody>
                  <a:tcPr marL="0" marR="0" marT="28575" marB="0"/>
                </a:tc>
                <a:tc>
                  <a:txBody>
                    <a:bodyPr/>
                    <a:lstStyle/>
                    <a:p>
                      <a:pPr marL="85725" marR="0" lvl="0" indent="0" algn="l" rtl="0">
                        <a:lnSpc>
                          <a:spcPct val="100000"/>
                        </a:lnSpc>
                        <a:spcBef>
                          <a:spcPts val="0"/>
                        </a:spcBef>
                        <a:spcAft>
                          <a:spcPts val="0"/>
                        </a:spcAft>
                        <a:buNone/>
                      </a:pPr>
                      <a:r>
                        <a:rPr lang="en-US" sz="1800" b="1" u="none" strike="noStrike" cap="none" dirty="0">
                          <a:solidFill>
                            <a:srgbClr val="FFFFFF"/>
                          </a:solidFill>
                          <a:sym typeface="Calibri"/>
                        </a:rPr>
                        <a:t>Author</a:t>
                      </a:r>
                      <a:endParaRPr sz="1800" u="none" strike="noStrike" cap="none" dirty="0">
                        <a:latin typeface="Calibri"/>
                        <a:ea typeface="Calibri"/>
                        <a:cs typeface="Calibri"/>
                        <a:sym typeface="Calibri"/>
                      </a:endParaRPr>
                    </a:p>
                  </a:txBody>
                  <a:tcPr marL="0" marR="0" marT="28575" marB="0"/>
                </a:tc>
                <a:tc>
                  <a:txBody>
                    <a:bodyPr/>
                    <a:lstStyle/>
                    <a:p>
                      <a:pPr marL="85725" marR="137160" lvl="0" indent="0" algn="l" rtl="0">
                        <a:lnSpc>
                          <a:spcPct val="100000"/>
                        </a:lnSpc>
                        <a:spcBef>
                          <a:spcPts val="0"/>
                        </a:spcBef>
                        <a:spcAft>
                          <a:spcPts val="0"/>
                        </a:spcAft>
                        <a:buNone/>
                      </a:pPr>
                      <a:r>
                        <a:rPr lang="en-US" sz="1800" b="1" u="none" strike="noStrike" cap="none" dirty="0">
                          <a:solidFill>
                            <a:srgbClr val="FFFFFF"/>
                          </a:solidFill>
                          <a:sym typeface="Calibri"/>
                        </a:rPr>
                        <a:t>Journal Name &amp; Year</a:t>
                      </a:r>
                      <a:endParaRPr sz="1800" u="none" strike="noStrike" cap="none" dirty="0">
                        <a:latin typeface="Calibri"/>
                        <a:ea typeface="Calibri"/>
                        <a:cs typeface="Calibri"/>
                        <a:sym typeface="Calibri"/>
                      </a:endParaRPr>
                    </a:p>
                  </a:txBody>
                  <a:tcPr marL="0" marR="0" marT="28575" marB="0"/>
                </a:tc>
                <a:tc>
                  <a:txBody>
                    <a:bodyPr/>
                    <a:lstStyle/>
                    <a:p>
                      <a:pPr marL="85090" marR="521334" lvl="0" indent="0" algn="l" rtl="0">
                        <a:lnSpc>
                          <a:spcPct val="100000"/>
                        </a:lnSpc>
                        <a:spcBef>
                          <a:spcPts val="0"/>
                        </a:spcBef>
                        <a:spcAft>
                          <a:spcPts val="0"/>
                        </a:spcAft>
                        <a:buNone/>
                      </a:pPr>
                      <a:r>
                        <a:rPr lang="en-US" sz="1800" b="1" u="none" strike="noStrike" cap="none" dirty="0">
                          <a:solidFill>
                            <a:srgbClr val="FFFFFF"/>
                          </a:solidFill>
                          <a:sym typeface="Calibri"/>
                        </a:rPr>
                        <a:t>Methodology Adapted</a:t>
                      </a:r>
                      <a:endParaRPr sz="1800" u="none" strike="noStrike" cap="none" dirty="0">
                        <a:latin typeface="Calibri"/>
                        <a:ea typeface="Calibri"/>
                        <a:cs typeface="Calibri"/>
                        <a:sym typeface="Calibri"/>
                      </a:endParaRPr>
                    </a:p>
                  </a:txBody>
                  <a:tcPr marL="0" marR="0" marT="28575" marB="0"/>
                </a:tc>
                <a:tc>
                  <a:txBody>
                    <a:bodyPr/>
                    <a:lstStyle/>
                    <a:p>
                      <a:pPr marL="85725" marR="0" lvl="0" indent="0" algn="l" rtl="0">
                        <a:lnSpc>
                          <a:spcPct val="100000"/>
                        </a:lnSpc>
                        <a:spcBef>
                          <a:spcPts val="0"/>
                        </a:spcBef>
                        <a:spcAft>
                          <a:spcPts val="0"/>
                        </a:spcAft>
                        <a:buNone/>
                      </a:pPr>
                      <a:r>
                        <a:rPr lang="en-US" sz="1800" b="1" u="none" strike="noStrike" cap="none" dirty="0">
                          <a:solidFill>
                            <a:srgbClr val="FFFFFF"/>
                          </a:solidFill>
                          <a:sym typeface="Calibri"/>
                        </a:rPr>
                        <a:t>Key Findings</a:t>
                      </a:r>
                      <a:endParaRPr sz="1800" u="none" strike="noStrike" cap="none" dirty="0">
                        <a:latin typeface="Calibri"/>
                        <a:ea typeface="Calibri"/>
                        <a:cs typeface="Calibri"/>
                        <a:sym typeface="Calibri"/>
                      </a:endParaRPr>
                    </a:p>
                  </a:txBody>
                  <a:tcPr marL="0" marR="0" marT="28575" marB="0"/>
                </a:tc>
                <a:tc>
                  <a:txBody>
                    <a:bodyPr/>
                    <a:lstStyle/>
                    <a:p>
                      <a:pPr marL="85725" marR="0" lvl="0" indent="0" algn="l" rtl="0">
                        <a:lnSpc>
                          <a:spcPct val="100000"/>
                        </a:lnSpc>
                        <a:spcBef>
                          <a:spcPts val="0"/>
                        </a:spcBef>
                        <a:spcAft>
                          <a:spcPts val="0"/>
                        </a:spcAft>
                        <a:buNone/>
                      </a:pPr>
                      <a:r>
                        <a:rPr lang="en-US" sz="1800" b="1" u="none" strike="noStrike" cap="none">
                          <a:solidFill>
                            <a:srgbClr val="FFFFFF"/>
                          </a:solidFill>
                          <a:sym typeface="Calibri"/>
                        </a:rPr>
                        <a:t>Gaps</a:t>
                      </a:r>
                      <a:endParaRPr sz="1800" u="none" strike="noStrike" cap="none">
                        <a:latin typeface="Calibri"/>
                        <a:ea typeface="Calibri"/>
                        <a:cs typeface="Calibri"/>
                        <a:sym typeface="Calibri"/>
                      </a:endParaRPr>
                    </a:p>
                  </a:txBody>
                  <a:tcPr marL="0" marR="0" marT="28575" marB="0"/>
                </a:tc>
                <a:extLst>
                  <a:ext uri="{0D108BD9-81ED-4DB2-BD59-A6C34878D82A}">
                    <a16:rowId xmlns:a16="http://schemas.microsoft.com/office/drawing/2014/main" val="10000"/>
                  </a:ext>
                </a:extLst>
              </a:tr>
              <a:tr h="5029949">
                <a:tc>
                  <a:txBody>
                    <a:bodyPr/>
                    <a:lstStyle/>
                    <a:p>
                      <a:pPr marL="85725" marR="0" lvl="0" indent="0" algn="l" rtl="0">
                        <a:lnSpc>
                          <a:spcPct val="100000"/>
                        </a:lnSpc>
                        <a:spcBef>
                          <a:spcPts val="0"/>
                        </a:spcBef>
                        <a:spcAft>
                          <a:spcPts val="0"/>
                        </a:spcAft>
                        <a:buNone/>
                      </a:pPr>
                      <a:r>
                        <a:rPr lang="en-US" sz="1600" u="none" strike="noStrike" cap="none" dirty="0">
                          <a:sym typeface="Calibri"/>
                        </a:rPr>
                        <a:t>1.</a:t>
                      </a:r>
                    </a:p>
                    <a:p>
                      <a:pPr marL="85725" marR="0" lvl="0" indent="0" algn="l" rtl="0">
                        <a:lnSpc>
                          <a:spcPct val="100000"/>
                        </a:lnSpc>
                        <a:spcBef>
                          <a:spcPts val="0"/>
                        </a:spcBef>
                        <a:spcAft>
                          <a:spcPts val="0"/>
                        </a:spcAft>
                        <a:buNone/>
                      </a:pPr>
                      <a:endParaRPr lang="en-US" sz="1600" u="none" strike="noStrike" cap="none" dirty="0">
                        <a:sym typeface="Calibri"/>
                      </a:endParaRPr>
                    </a:p>
                    <a:p>
                      <a:pPr marL="85725" marR="0" lvl="0" indent="0" algn="l" rtl="0">
                        <a:lnSpc>
                          <a:spcPct val="100000"/>
                        </a:lnSpc>
                        <a:spcBef>
                          <a:spcPts val="0"/>
                        </a:spcBef>
                        <a:spcAft>
                          <a:spcPts val="0"/>
                        </a:spcAft>
                        <a:buNone/>
                      </a:pPr>
                      <a:endParaRPr lang="en-US" sz="1600" u="none" strike="noStrike" cap="none" dirty="0">
                        <a:sym typeface="Calibri"/>
                      </a:endParaRPr>
                    </a:p>
                    <a:p>
                      <a:pPr marL="85725" marR="0" lvl="0" indent="0" algn="l" rtl="0">
                        <a:lnSpc>
                          <a:spcPct val="100000"/>
                        </a:lnSpc>
                        <a:spcBef>
                          <a:spcPts val="0"/>
                        </a:spcBef>
                        <a:spcAft>
                          <a:spcPts val="0"/>
                        </a:spcAft>
                        <a:buNone/>
                      </a:pPr>
                      <a:endParaRPr lang="en-US" sz="1600" u="none" strike="noStrike" cap="none" dirty="0">
                        <a:sym typeface="Calibri"/>
                      </a:endParaRPr>
                    </a:p>
                    <a:p>
                      <a:pPr marL="85725" marR="0" lvl="0" indent="0" algn="l" rtl="0">
                        <a:lnSpc>
                          <a:spcPct val="100000"/>
                        </a:lnSpc>
                        <a:spcBef>
                          <a:spcPts val="0"/>
                        </a:spcBef>
                        <a:spcAft>
                          <a:spcPts val="0"/>
                        </a:spcAft>
                        <a:buNone/>
                      </a:pPr>
                      <a:endParaRPr lang="en-US" sz="1600" u="none" strike="noStrike" cap="none" dirty="0">
                        <a:sym typeface="Calibri"/>
                      </a:endParaRPr>
                    </a:p>
                    <a:p>
                      <a:pPr marL="85725" marR="0" lvl="0" indent="0" algn="l" rtl="0">
                        <a:lnSpc>
                          <a:spcPct val="100000"/>
                        </a:lnSpc>
                        <a:spcBef>
                          <a:spcPts val="0"/>
                        </a:spcBef>
                        <a:spcAft>
                          <a:spcPts val="0"/>
                        </a:spcAft>
                        <a:buNone/>
                      </a:pPr>
                      <a:endParaRPr lang="en-US" sz="1600" u="none" strike="noStrike" cap="none" dirty="0">
                        <a:sym typeface="Calibri"/>
                      </a:endParaRPr>
                    </a:p>
                    <a:p>
                      <a:pPr marL="85725" marR="0" lvl="0" indent="0" algn="l" rtl="0">
                        <a:lnSpc>
                          <a:spcPct val="100000"/>
                        </a:lnSpc>
                        <a:spcBef>
                          <a:spcPts val="0"/>
                        </a:spcBef>
                        <a:spcAft>
                          <a:spcPts val="0"/>
                        </a:spcAft>
                        <a:buNone/>
                      </a:pPr>
                      <a:endParaRPr lang="en-US" sz="1600" u="none" strike="noStrike" cap="none" dirty="0">
                        <a:sym typeface="Calibri"/>
                      </a:endParaRPr>
                    </a:p>
                    <a:p>
                      <a:pPr marL="85725" marR="0" lvl="0" indent="0" algn="l" rtl="0">
                        <a:lnSpc>
                          <a:spcPct val="100000"/>
                        </a:lnSpc>
                        <a:spcBef>
                          <a:spcPts val="0"/>
                        </a:spcBef>
                        <a:spcAft>
                          <a:spcPts val="0"/>
                        </a:spcAft>
                        <a:buNone/>
                      </a:pPr>
                      <a:endParaRPr lang="en-US" sz="1600" u="none" strike="noStrike" cap="none" dirty="0">
                        <a:sym typeface="Calibri"/>
                      </a:endParaRPr>
                    </a:p>
                    <a:p>
                      <a:pPr marL="85725" marR="0" lvl="0" indent="0" algn="l" rtl="0">
                        <a:lnSpc>
                          <a:spcPct val="100000"/>
                        </a:lnSpc>
                        <a:spcBef>
                          <a:spcPts val="0"/>
                        </a:spcBef>
                        <a:spcAft>
                          <a:spcPts val="0"/>
                        </a:spcAft>
                        <a:buNone/>
                      </a:pPr>
                      <a:endParaRPr lang="en-US" sz="1600" u="none" strike="noStrike" cap="none" dirty="0">
                        <a:sym typeface="Calibri"/>
                      </a:endParaRPr>
                    </a:p>
                    <a:p>
                      <a:pPr marL="85725" marR="0" lvl="0" indent="0" algn="l" rtl="0">
                        <a:lnSpc>
                          <a:spcPct val="100000"/>
                        </a:lnSpc>
                        <a:spcBef>
                          <a:spcPts val="0"/>
                        </a:spcBef>
                        <a:spcAft>
                          <a:spcPts val="0"/>
                        </a:spcAft>
                        <a:buNone/>
                      </a:pPr>
                      <a:r>
                        <a:rPr lang="en-US" sz="1600" u="none" strike="noStrike" cap="none" dirty="0">
                          <a:sym typeface="Calibri"/>
                        </a:rPr>
                        <a:t>2.</a:t>
                      </a:r>
                    </a:p>
                    <a:p>
                      <a:pPr marL="85725" marR="0"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0"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0"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0"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0"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0"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0"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0" lvl="0" indent="0" algn="l" rtl="0">
                        <a:lnSpc>
                          <a:spcPct val="100000"/>
                        </a:lnSpc>
                        <a:spcBef>
                          <a:spcPts val="0"/>
                        </a:spcBef>
                        <a:spcAft>
                          <a:spcPts val="0"/>
                        </a:spcAft>
                        <a:buNone/>
                      </a:pPr>
                      <a:r>
                        <a:rPr lang="en-US" sz="1600" u="none" strike="noStrike" cap="none" dirty="0">
                          <a:latin typeface="Calibri"/>
                          <a:ea typeface="Calibri"/>
                          <a:cs typeface="Calibri"/>
                          <a:sym typeface="Calibri"/>
                        </a:rPr>
                        <a:t>3.</a:t>
                      </a:r>
                      <a:endParaRPr sz="1600" u="none" strike="noStrike" cap="none" dirty="0">
                        <a:latin typeface="Calibri"/>
                        <a:ea typeface="Calibri"/>
                        <a:cs typeface="Calibri"/>
                        <a:sym typeface="Calibri"/>
                      </a:endParaRPr>
                    </a:p>
                  </a:txBody>
                  <a:tcPr marL="0" marR="0" marT="28575" marB="0">
                    <a:lnB w="12700" cap="flat" cmpd="sng" algn="ctr">
                      <a:solidFill>
                        <a:schemeClr val="tx1"/>
                      </a:solidFill>
                      <a:prstDash val="solid"/>
                      <a:round/>
                      <a:headEnd type="none" w="med" len="med"/>
                      <a:tailEnd type="none" w="med" len="med"/>
                    </a:lnB>
                  </a:tcPr>
                </a:tc>
                <a:tc>
                  <a:txBody>
                    <a:bodyPr/>
                    <a:lstStyle/>
                    <a:p>
                      <a:pPr marL="85725" marR="172720" lvl="0" indent="0" algn="l" rtl="0">
                        <a:lnSpc>
                          <a:spcPct val="100000"/>
                        </a:lnSpc>
                        <a:spcBef>
                          <a:spcPts val="0"/>
                        </a:spcBef>
                        <a:spcAft>
                          <a:spcPts val="0"/>
                        </a:spcAft>
                        <a:buNone/>
                      </a:pPr>
                      <a:r>
                        <a:rPr lang="en-US" sz="1600" u="none" strike="noStrike" cap="none" dirty="0">
                          <a:sym typeface="Calibri"/>
                        </a:rPr>
                        <a:t>A Survey of Deep Learning </a:t>
                      </a:r>
                      <a:r>
                        <a:rPr lang="en-US" sz="1600" u="none" strike="noStrike" cap="none" dirty="0" err="1">
                          <a:sym typeface="Calibri"/>
                        </a:rPr>
                        <a:t>Approches</a:t>
                      </a:r>
                      <a:r>
                        <a:rPr lang="en-US" sz="1600" u="none" strike="noStrike" cap="none" dirty="0">
                          <a:sym typeface="Calibri"/>
                        </a:rPr>
                        <a:t> for Pedestrian Detection in Autonomous Systems</a:t>
                      </a:r>
                    </a:p>
                    <a:p>
                      <a:pPr marL="85725" marR="172720" lvl="0" indent="0" algn="l" rtl="0">
                        <a:lnSpc>
                          <a:spcPct val="100000"/>
                        </a:lnSpc>
                        <a:spcBef>
                          <a:spcPts val="0"/>
                        </a:spcBef>
                        <a:spcAft>
                          <a:spcPts val="0"/>
                        </a:spcAft>
                        <a:buNone/>
                      </a:pPr>
                      <a:endParaRPr lang="en-US" sz="1600" u="none" strike="noStrike" cap="none" dirty="0">
                        <a:sym typeface="Calibri"/>
                      </a:endParaRPr>
                    </a:p>
                    <a:p>
                      <a:pPr marL="85725" marR="172720" lvl="0" indent="0" algn="l" rtl="0">
                        <a:lnSpc>
                          <a:spcPct val="100000"/>
                        </a:lnSpc>
                        <a:spcBef>
                          <a:spcPts val="0"/>
                        </a:spcBef>
                        <a:spcAft>
                          <a:spcPts val="0"/>
                        </a:spcAft>
                        <a:buNone/>
                      </a:pPr>
                      <a:endParaRPr lang="en-US" sz="1600" u="none" strike="noStrike" cap="none" dirty="0">
                        <a:sym typeface="Calibri"/>
                      </a:endParaRPr>
                    </a:p>
                    <a:p>
                      <a:pPr marL="85725" marR="172720" lvl="0" indent="0" algn="l" rtl="0">
                        <a:lnSpc>
                          <a:spcPct val="100000"/>
                        </a:lnSpc>
                        <a:spcBef>
                          <a:spcPts val="0"/>
                        </a:spcBef>
                        <a:spcAft>
                          <a:spcPts val="0"/>
                        </a:spcAft>
                        <a:buNone/>
                      </a:pPr>
                      <a:endParaRPr lang="en-IN" sz="1600" u="none" strike="noStrike" cap="none" dirty="0">
                        <a:sym typeface="Calibri"/>
                      </a:endParaRPr>
                    </a:p>
                    <a:p>
                      <a:pPr marL="85725" marR="172720" lvl="0" indent="0" algn="l" rtl="0">
                        <a:lnSpc>
                          <a:spcPct val="100000"/>
                        </a:lnSpc>
                        <a:spcBef>
                          <a:spcPts val="0"/>
                        </a:spcBef>
                        <a:spcAft>
                          <a:spcPts val="0"/>
                        </a:spcAft>
                        <a:buNone/>
                      </a:pPr>
                      <a:endParaRPr lang="en-IN" sz="1600" u="none" strike="noStrike" cap="none" dirty="0">
                        <a:sym typeface="Calibri"/>
                      </a:endParaRPr>
                    </a:p>
                    <a:p>
                      <a:pPr marL="85725" marR="172720" lvl="0" indent="0" algn="l" rtl="0">
                        <a:lnSpc>
                          <a:spcPct val="100000"/>
                        </a:lnSpc>
                        <a:spcBef>
                          <a:spcPts val="0"/>
                        </a:spcBef>
                        <a:spcAft>
                          <a:spcPts val="0"/>
                        </a:spcAft>
                        <a:buNone/>
                      </a:pPr>
                      <a:r>
                        <a:rPr lang="en-IN" sz="1600" u="none" strike="noStrike" cap="none" dirty="0">
                          <a:sym typeface="Calibri"/>
                        </a:rPr>
                        <a:t>Object Detection Learning Techniques for Autonomous Vehicle Applications</a:t>
                      </a:r>
                    </a:p>
                    <a:p>
                      <a:pPr marL="85725" marR="172720" lvl="0" indent="0" algn="l" rtl="0">
                        <a:lnSpc>
                          <a:spcPct val="100000"/>
                        </a:lnSpc>
                        <a:spcBef>
                          <a:spcPts val="0"/>
                        </a:spcBef>
                        <a:spcAft>
                          <a:spcPts val="0"/>
                        </a:spcAft>
                        <a:buNone/>
                      </a:pPr>
                      <a:endParaRPr lang="en-IN" sz="1600" u="none" strike="noStrike" cap="none" dirty="0">
                        <a:sym typeface="Calibri"/>
                      </a:endParaRPr>
                    </a:p>
                    <a:p>
                      <a:pPr marL="85725" marR="172720" lvl="0" indent="0" algn="l" rtl="0">
                        <a:lnSpc>
                          <a:spcPct val="100000"/>
                        </a:lnSpc>
                        <a:spcBef>
                          <a:spcPts val="0"/>
                        </a:spcBef>
                        <a:spcAft>
                          <a:spcPts val="0"/>
                        </a:spcAft>
                        <a:buNone/>
                      </a:pPr>
                      <a:endParaRPr lang="en-IN" sz="1600" u="none" strike="noStrike" cap="none" dirty="0">
                        <a:sym typeface="Calibri"/>
                      </a:endParaRPr>
                    </a:p>
                    <a:p>
                      <a:pPr marL="85725" marR="172720" lvl="0" indent="0" algn="l" rtl="0">
                        <a:lnSpc>
                          <a:spcPct val="100000"/>
                        </a:lnSpc>
                        <a:spcBef>
                          <a:spcPts val="0"/>
                        </a:spcBef>
                        <a:spcAft>
                          <a:spcPts val="0"/>
                        </a:spcAft>
                        <a:buNone/>
                      </a:pPr>
                      <a:endParaRPr lang="en-IN" sz="1600" u="none" strike="noStrike" cap="none" dirty="0">
                        <a:sym typeface="Calibri"/>
                      </a:endParaRPr>
                    </a:p>
                    <a:p>
                      <a:pPr marL="85725" marR="172720" lvl="0" indent="0" algn="l" rtl="0">
                        <a:lnSpc>
                          <a:spcPct val="100000"/>
                        </a:lnSpc>
                        <a:spcBef>
                          <a:spcPts val="0"/>
                        </a:spcBef>
                        <a:spcAft>
                          <a:spcPts val="0"/>
                        </a:spcAft>
                        <a:buNone/>
                      </a:pPr>
                      <a:endParaRPr lang="en-IN" sz="1600" u="none" strike="noStrike" cap="none" dirty="0">
                        <a:sym typeface="Calibri"/>
                      </a:endParaRPr>
                    </a:p>
                    <a:p>
                      <a:pPr marL="85725" marR="172720" lvl="0" indent="0" algn="l" rtl="0">
                        <a:lnSpc>
                          <a:spcPct val="100000"/>
                        </a:lnSpc>
                        <a:spcBef>
                          <a:spcPts val="0"/>
                        </a:spcBef>
                        <a:spcAft>
                          <a:spcPts val="0"/>
                        </a:spcAft>
                        <a:buNone/>
                      </a:pPr>
                      <a:r>
                        <a:rPr lang="en-IN" sz="1600" dirty="0">
                          <a:effectLst/>
                        </a:rPr>
                        <a:t>One-Stage Pedestrian Detection Using </a:t>
                      </a:r>
                      <a:r>
                        <a:rPr lang="en-IN" sz="1600" dirty="0" err="1">
                          <a:effectLst/>
                        </a:rPr>
                        <a:t>ResNet</a:t>
                      </a:r>
                      <a:r>
                        <a:rPr lang="en-IN" sz="1600" dirty="0">
                          <a:effectLst/>
                        </a:rPr>
                        <a:t> + SSD</a:t>
                      </a:r>
                      <a:endParaRPr lang="en-IN" sz="1600" u="none" strike="noStrike" cap="none" dirty="0">
                        <a:latin typeface="Calibri"/>
                        <a:ea typeface="Calibri"/>
                        <a:cs typeface="Calibri"/>
                        <a:sym typeface="Calibri"/>
                      </a:endParaRPr>
                    </a:p>
                  </a:txBody>
                  <a:tcPr marL="0" marR="0" marT="28575" marB="0">
                    <a:lnB w="12700" cap="flat" cmpd="sng" algn="ctr">
                      <a:solidFill>
                        <a:schemeClr val="tx1"/>
                      </a:solidFill>
                      <a:prstDash val="solid"/>
                      <a:round/>
                      <a:headEnd type="none" w="med" len="med"/>
                      <a:tailEnd type="none" w="med" len="med"/>
                    </a:lnB>
                  </a:tcPr>
                </a:tc>
                <a:tc>
                  <a:txBody>
                    <a:bodyPr/>
                    <a:lstStyle/>
                    <a:p>
                      <a:pPr marL="85725" marR="504825" lvl="0" indent="0" algn="l" rtl="0">
                        <a:lnSpc>
                          <a:spcPct val="100000"/>
                        </a:lnSpc>
                        <a:spcBef>
                          <a:spcPts val="0"/>
                        </a:spcBef>
                        <a:spcAft>
                          <a:spcPts val="0"/>
                        </a:spcAft>
                        <a:buNone/>
                      </a:pPr>
                      <a:r>
                        <a:rPr lang="en-US" sz="1600" u="none" strike="noStrike" cap="none" dirty="0">
                          <a:sym typeface="Calibri"/>
                        </a:rPr>
                        <a:t>Majdi Sukkar, </a:t>
                      </a:r>
                      <a:r>
                        <a:rPr lang="en-US" sz="1600" u="none" strike="noStrike" cap="none" dirty="0" err="1">
                          <a:sym typeface="Calibri"/>
                        </a:rPr>
                        <a:t>Rajendrasinh</a:t>
                      </a:r>
                      <a:r>
                        <a:rPr lang="en-US" sz="1600" u="none" strike="noStrike" cap="none" dirty="0">
                          <a:sym typeface="Calibri"/>
                        </a:rPr>
                        <a:t> Jadeja, Madhu Shukla</a:t>
                      </a:r>
                    </a:p>
                    <a:p>
                      <a:pPr marL="85725" marR="504825" lvl="0" indent="0" algn="l" rtl="0">
                        <a:lnSpc>
                          <a:spcPct val="100000"/>
                        </a:lnSpc>
                        <a:spcBef>
                          <a:spcPts val="0"/>
                        </a:spcBef>
                        <a:spcAft>
                          <a:spcPts val="0"/>
                        </a:spcAft>
                        <a:buNone/>
                      </a:pPr>
                      <a:endParaRPr lang="en-US" sz="1600" u="none" strike="noStrike" cap="none" dirty="0">
                        <a:sym typeface="Calibri"/>
                      </a:endParaRPr>
                    </a:p>
                    <a:p>
                      <a:pPr marL="85725" marR="504825" lvl="0" indent="0" algn="l" rtl="0">
                        <a:lnSpc>
                          <a:spcPct val="100000"/>
                        </a:lnSpc>
                        <a:spcBef>
                          <a:spcPts val="0"/>
                        </a:spcBef>
                        <a:spcAft>
                          <a:spcPts val="0"/>
                        </a:spcAft>
                        <a:buNone/>
                      </a:pPr>
                      <a:endParaRPr lang="en-US" sz="1600" u="none" strike="noStrike" cap="none" dirty="0">
                        <a:sym typeface="Calibri"/>
                      </a:endParaRPr>
                    </a:p>
                    <a:p>
                      <a:pPr marL="85725" marR="504825" lvl="0" indent="0" algn="l" rtl="0">
                        <a:lnSpc>
                          <a:spcPct val="100000"/>
                        </a:lnSpc>
                        <a:spcBef>
                          <a:spcPts val="0"/>
                        </a:spcBef>
                        <a:spcAft>
                          <a:spcPts val="0"/>
                        </a:spcAft>
                        <a:buNone/>
                      </a:pPr>
                      <a:endParaRPr lang="en-US" sz="1600" u="none" strike="noStrike" cap="none" dirty="0">
                        <a:sym typeface="Calibri"/>
                      </a:endParaRPr>
                    </a:p>
                    <a:p>
                      <a:pPr marL="85725" marR="504825" lvl="0" indent="0" algn="l" rtl="0">
                        <a:lnSpc>
                          <a:spcPct val="100000"/>
                        </a:lnSpc>
                        <a:spcBef>
                          <a:spcPts val="0"/>
                        </a:spcBef>
                        <a:spcAft>
                          <a:spcPts val="0"/>
                        </a:spcAft>
                        <a:buNone/>
                      </a:pPr>
                      <a:r>
                        <a:rPr lang="en-US" sz="1600" u="none" strike="noStrike" cap="none" dirty="0">
                          <a:sym typeface="Calibri"/>
                        </a:rPr>
                        <a:t>Mehdi Masmoudi et al.</a:t>
                      </a:r>
                    </a:p>
                    <a:p>
                      <a:pPr marL="85725" marR="504825"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504825"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504825"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504825"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504825" lvl="0" indent="0" algn="l" rtl="0">
                        <a:lnSpc>
                          <a:spcPct val="100000"/>
                        </a:lnSpc>
                        <a:spcBef>
                          <a:spcPts val="0"/>
                        </a:spcBef>
                        <a:spcAft>
                          <a:spcPts val="0"/>
                        </a:spcAft>
                        <a:buNone/>
                      </a:pPr>
                      <a:endParaRPr lang="en-US" sz="1600" u="none" strike="noStrike" cap="none" dirty="0">
                        <a:latin typeface="Calibri"/>
                        <a:ea typeface="Calibri"/>
                        <a:cs typeface="Calibri"/>
                        <a:sym typeface="Calibri"/>
                      </a:endParaRPr>
                    </a:p>
                    <a:p>
                      <a:pPr marL="85725" marR="504825" lvl="0" indent="0" algn="l" rtl="0">
                        <a:lnSpc>
                          <a:spcPct val="100000"/>
                        </a:lnSpc>
                        <a:spcBef>
                          <a:spcPts val="0"/>
                        </a:spcBef>
                        <a:spcAft>
                          <a:spcPts val="0"/>
                        </a:spcAft>
                        <a:buNone/>
                      </a:pPr>
                      <a:r>
                        <a:rPr lang="en-IN" sz="1600" dirty="0">
                          <a:effectLst/>
                        </a:rPr>
                        <a:t>Wang et al.</a:t>
                      </a:r>
                      <a:endParaRPr lang="en-US" sz="1600" u="none" strike="noStrike" cap="none" dirty="0">
                        <a:latin typeface="Calibri"/>
                        <a:ea typeface="Calibri"/>
                        <a:cs typeface="Calibri"/>
                        <a:sym typeface="Calibri"/>
                      </a:endParaRPr>
                    </a:p>
                  </a:txBody>
                  <a:tcPr marL="0" marR="0" marT="28575" marB="0">
                    <a:lnB w="12700" cap="flat" cmpd="sng" algn="ctr">
                      <a:solidFill>
                        <a:schemeClr val="tx1"/>
                      </a:solidFill>
                      <a:prstDash val="solid"/>
                      <a:round/>
                      <a:headEnd type="none" w="med" len="med"/>
                      <a:tailEnd type="none" w="med" len="med"/>
                    </a:lnB>
                  </a:tcPr>
                </a:tc>
                <a:tc>
                  <a:txBody>
                    <a:bodyPr/>
                    <a:lstStyle/>
                    <a:p>
                      <a:pPr marL="85725" marR="104139" lvl="0" indent="0" algn="l" rtl="0">
                        <a:lnSpc>
                          <a:spcPct val="100000"/>
                        </a:lnSpc>
                        <a:spcBef>
                          <a:spcPts val="0"/>
                        </a:spcBef>
                        <a:spcAft>
                          <a:spcPts val="0"/>
                        </a:spcAft>
                        <a:buNone/>
                      </a:pPr>
                      <a:r>
                        <a:rPr lang="en-US" sz="1600" u="none" strike="noStrike" cap="none" dirty="0">
                          <a:sym typeface="Calibri"/>
                        </a:rPr>
                        <a:t>IEEE </a:t>
                      </a:r>
                      <a:r>
                        <a:rPr lang="en-US" sz="1600" u="none" strike="noStrike" cap="none" dirty="0" err="1">
                          <a:sym typeface="Calibri"/>
                        </a:rPr>
                        <a:t>Acess</a:t>
                      </a:r>
                      <a:r>
                        <a:rPr lang="en-US" sz="1600" u="none" strike="noStrike" cap="none" dirty="0">
                          <a:sym typeface="Calibri"/>
                        </a:rPr>
                        <a:t> Journal &amp; 2024</a:t>
                      </a:r>
                    </a:p>
                    <a:p>
                      <a:pPr marL="85725" marR="104139" lvl="0" indent="0" algn="l" rtl="0">
                        <a:lnSpc>
                          <a:spcPct val="100000"/>
                        </a:lnSpc>
                        <a:spcBef>
                          <a:spcPts val="0"/>
                        </a:spcBef>
                        <a:spcAft>
                          <a:spcPts val="0"/>
                        </a:spcAft>
                        <a:buNone/>
                      </a:pPr>
                      <a:endParaRPr lang="en-US" sz="1600" u="none" strike="noStrike" cap="none" dirty="0">
                        <a:sym typeface="Calibri"/>
                      </a:endParaRPr>
                    </a:p>
                    <a:p>
                      <a:pPr marL="85725" marR="104139" lvl="0" indent="0" algn="l" rtl="0">
                        <a:lnSpc>
                          <a:spcPct val="100000"/>
                        </a:lnSpc>
                        <a:spcBef>
                          <a:spcPts val="0"/>
                        </a:spcBef>
                        <a:spcAft>
                          <a:spcPts val="0"/>
                        </a:spcAft>
                        <a:buNone/>
                      </a:pPr>
                      <a:endParaRPr lang="en-US" sz="1600" u="none" strike="noStrike" cap="none" dirty="0">
                        <a:sym typeface="Calibri"/>
                      </a:endParaRPr>
                    </a:p>
                    <a:p>
                      <a:pPr marL="85725" marR="104139" lvl="0" indent="0" algn="l" rtl="0">
                        <a:lnSpc>
                          <a:spcPct val="100000"/>
                        </a:lnSpc>
                        <a:spcBef>
                          <a:spcPts val="0"/>
                        </a:spcBef>
                        <a:spcAft>
                          <a:spcPts val="0"/>
                        </a:spcAft>
                        <a:buNone/>
                      </a:pPr>
                      <a:endParaRPr lang="en-US" sz="1600" u="none" strike="noStrike" cap="none" dirty="0">
                        <a:sym typeface="Calibri"/>
                      </a:endParaRPr>
                    </a:p>
                    <a:p>
                      <a:pPr marL="85725" marR="104139" lvl="0" indent="0" algn="l" rtl="0">
                        <a:lnSpc>
                          <a:spcPct val="100000"/>
                        </a:lnSpc>
                        <a:spcBef>
                          <a:spcPts val="0"/>
                        </a:spcBef>
                        <a:spcAft>
                          <a:spcPts val="0"/>
                        </a:spcAft>
                        <a:buNone/>
                      </a:pPr>
                      <a:endParaRPr lang="en-US" sz="1600" u="none" strike="noStrike" cap="none" dirty="0">
                        <a:sym typeface="Calibri"/>
                      </a:endParaRPr>
                    </a:p>
                    <a:p>
                      <a:pPr marL="85725" marR="104139" lvl="0" indent="0" algn="l" rtl="0">
                        <a:lnSpc>
                          <a:spcPct val="100000"/>
                        </a:lnSpc>
                        <a:spcBef>
                          <a:spcPts val="0"/>
                        </a:spcBef>
                        <a:spcAft>
                          <a:spcPts val="0"/>
                        </a:spcAft>
                        <a:buNone/>
                      </a:pPr>
                      <a:endParaRPr lang="en-US" sz="1600" u="none" strike="noStrike" cap="none" dirty="0">
                        <a:sym typeface="Calibri"/>
                      </a:endParaRPr>
                    </a:p>
                    <a:p>
                      <a:pPr marL="85725" marR="104139" lvl="0" indent="0" algn="l" rtl="0">
                        <a:lnSpc>
                          <a:spcPct val="100000"/>
                        </a:lnSpc>
                        <a:spcBef>
                          <a:spcPts val="0"/>
                        </a:spcBef>
                        <a:spcAft>
                          <a:spcPts val="0"/>
                        </a:spcAft>
                        <a:buNone/>
                      </a:pPr>
                      <a:endParaRPr lang="en-US" sz="1600" u="none" strike="noStrike" cap="none" dirty="0">
                        <a:sym typeface="Calibri"/>
                      </a:endParaRPr>
                    </a:p>
                    <a:p>
                      <a:pPr marL="85725" marR="104139" lvl="0" indent="0" algn="l" rtl="0">
                        <a:lnSpc>
                          <a:spcPct val="100000"/>
                        </a:lnSpc>
                        <a:spcBef>
                          <a:spcPts val="0"/>
                        </a:spcBef>
                        <a:spcAft>
                          <a:spcPts val="0"/>
                        </a:spcAft>
                        <a:buNone/>
                      </a:pPr>
                      <a:endParaRPr lang="en-IN" sz="1600" dirty="0">
                        <a:effectLst/>
                      </a:endParaRPr>
                    </a:p>
                    <a:p>
                      <a:pPr marL="85725" marR="104139" lvl="0" indent="0" algn="l" rtl="0">
                        <a:lnSpc>
                          <a:spcPct val="100000"/>
                        </a:lnSpc>
                        <a:spcBef>
                          <a:spcPts val="0"/>
                        </a:spcBef>
                        <a:spcAft>
                          <a:spcPts val="0"/>
                        </a:spcAft>
                        <a:buNone/>
                      </a:pPr>
                      <a:r>
                        <a:rPr lang="en-IN" sz="1600" dirty="0">
                          <a:effectLst/>
                        </a:rPr>
                        <a:t>IEEE ICVES, 2019</a:t>
                      </a:r>
                    </a:p>
                    <a:p>
                      <a:pPr marL="85725" marR="104139" lvl="0" indent="0" algn="l" rtl="0">
                        <a:lnSpc>
                          <a:spcPct val="100000"/>
                        </a:lnSpc>
                        <a:spcBef>
                          <a:spcPts val="0"/>
                        </a:spcBef>
                        <a:spcAft>
                          <a:spcPts val="0"/>
                        </a:spcAft>
                        <a:buNone/>
                      </a:pPr>
                      <a:endParaRPr lang="en-IN" sz="1600" u="none" strike="noStrike" cap="none" dirty="0">
                        <a:effectLst/>
                        <a:latin typeface="Calibri"/>
                        <a:ea typeface="Calibri"/>
                        <a:cs typeface="Calibri"/>
                        <a:sym typeface="Calibri"/>
                      </a:endParaRPr>
                    </a:p>
                    <a:p>
                      <a:pPr marL="85725" marR="104139" lvl="0" indent="0" algn="l" rtl="0">
                        <a:lnSpc>
                          <a:spcPct val="100000"/>
                        </a:lnSpc>
                        <a:spcBef>
                          <a:spcPts val="0"/>
                        </a:spcBef>
                        <a:spcAft>
                          <a:spcPts val="0"/>
                        </a:spcAft>
                        <a:buNone/>
                      </a:pPr>
                      <a:endParaRPr lang="en-IN" sz="1600" u="none" strike="noStrike" cap="none" dirty="0">
                        <a:effectLst/>
                        <a:latin typeface="Calibri"/>
                        <a:ea typeface="Calibri"/>
                        <a:cs typeface="Calibri"/>
                        <a:sym typeface="Calibri"/>
                      </a:endParaRPr>
                    </a:p>
                    <a:p>
                      <a:pPr marL="85725" marR="104139" lvl="0" indent="0" algn="l" rtl="0">
                        <a:lnSpc>
                          <a:spcPct val="100000"/>
                        </a:lnSpc>
                        <a:spcBef>
                          <a:spcPts val="0"/>
                        </a:spcBef>
                        <a:spcAft>
                          <a:spcPts val="0"/>
                        </a:spcAft>
                        <a:buNone/>
                      </a:pPr>
                      <a:endParaRPr lang="en-IN" sz="1600" u="none" strike="noStrike" cap="none" dirty="0">
                        <a:effectLst/>
                        <a:latin typeface="Calibri"/>
                        <a:ea typeface="Calibri"/>
                        <a:cs typeface="Calibri"/>
                        <a:sym typeface="Calibri"/>
                      </a:endParaRPr>
                    </a:p>
                    <a:p>
                      <a:pPr marL="85725" marR="104139" lvl="0" indent="0" algn="l" rtl="0">
                        <a:lnSpc>
                          <a:spcPct val="100000"/>
                        </a:lnSpc>
                        <a:spcBef>
                          <a:spcPts val="0"/>
                        </a:spcBef>
                        <a:spcAft>
                          <a:spcPts val="0"/>
                        </a:spcAft>
                        <a:buNone/>
                      </a:pPr>
                      <a:endParaRPr lang="en-IN" sz="1600" u="none" strike="noStrike" cap="none" dirty="0">
                        <a:effectLst/>
                        <a:latin typeface="Calibri"/>
                        <a:ea typeface="Calibri"/>
                        <a:cs typeface="Calibri"/>
                        <a:sym typeface="Calibri"/>
                      </a:endParaRPr>
                    </a:p>
                    <a:p>
                      <a:pPr marL="85725" marR="104139" lvl="0" indent="0" algn="l" rtl="0">
                        <a:lnSpc>
                          <a:spcPct val="100000"/>
                        </a:lnSpc>
                        <a:spcBef>
                          <a:spcPts val="0"/>
                        </a:spcBef>
                        <a:spcAft>
                          <a:spcPts val="0"/>
                        </a:spcAft>
                        <a:buNone/>
                      </a:pPr>
                      <a:endParaRPr lang="en-IN" sz="1600" u="none" strike="noStrike" cap="none" dirty="0">
                        <a:effectLst/>
                        <a:latin typeface="Calibri"/>
                        <a:ea typeface="Calibri"/>
                        <a:cs typeface="Calibri"/>
                        <a:sym typeface="Calibri"/>
                      </a:endParaRPr>
                    </a:p>
                    <a:p>
                      <a:pPr marL="85725" marR="104139" lvl="0" indent="0" algn="l" rtl="0">
                        <a:lnSpc>
                          <a:spcPct val="100000"/>
                        </a:lnSpc>
                        <a:spcBef>
                          <a:spcPts val="0"/>
                        </a:spcBef>
                        <a:spcAft>
                          <a:spcPts val="0"/>
                        </a:spcAft>
                        <a:buNone/>
                      </a:pPr>
                      <a:endParaRPr lang="en-IN" sz="1600" u="none" strike="noStrike" cap="none" dirty="0">
                        <a:effectLst/>
                        <a:latin typeface="Calibri"/>
                        <a:ea typeface="Calibri"/>
                        <a:cs typeface="Calibri"/>
                        <a:sym typeface="Calibri"/>
                      </a:endParaRPr>
                    </a:p>
                    <a:p>
                      <a:pPr marL="85725" marR="104139" lvl="0" indent="0" algn="l" rtl="0">
                        <a:lnSpc>
                          <a:spcPct val="100000"/>
                        </a:lnSpc>
                        <a:spcBef>
                          <a:spcPts val="0"/>
                        </a:spcBef>
                        <a:spcAft>
                          <a:spcPts val="0"/>
                        </a:spcAft>
                        <a:buNone/>
                      </a:pPr>
                      <a:endParaRPr lang="en-IN" sz="1600" u="none" strike="noStrike" cap="none" dirty="0">
                        <a:effectLst/>
                        <a:latin typeface="Calibri"/>
                        <a:ea typeface="Calibri"/>
                        <a:cs typeface="Calibri"/>
                        <a:sym typeface="Calibri"/>
                      </a:endParaRPr>
                    </a:p>
                    <a:p>
                      <a:pPr marL="85725" marR="104139" lvl="0" indent="0" algn="l" rtl="0">
                        <a:lnSpc>
                          <a:spcPct val="100000"/>
                        </a:lnSpc>
                        <a:spcBef>
                          <a:spcPts val="0"/>
                        </a:spcBef>
                        <a:spcAft>
                          <a:spcPts val="0"/>
                        </a:spcAft>
                        <a:buNone/>
                      </a:pPr>
                      <a:r>
                        <a:rPr lang="en-IN" sz="1600" dirty="0"/>
                        <a:t>IEEE Explore, 2019</a:t>
                      </a:r>
                      <a:endParaRPr sz="1600" u="none" strike="noStrike" cap="none" dirty="0">
                        <a:latin typeface="Calibri"/>
                        <a:ea typeface="Calibri"/>
                        <a:cs typeface="Calibri"/>
                        <a:sym typeface="Calibri"/>
                      </a:endParaRPr>
                    </a:p>
                  </a:txBody>
                  <a:tcPr marL="0" marR="0" marT="28575" marB="0">
                    <a:lnB w="12700" cap="flat" cmpd="sng" algn="ctr">
                      <a:solidFill>
                        <a:schemeClr val="tx1"/>
                      </a:solidFill>
                      <a:prstDash val="solid"/>
                      <a:round/>
                      <a:headEnd type="none" w="med" len="med"/>
                      <a:tailEnd type="none" w="med" len="med"/>
                    </a:lnB>
                  </a:tcPr>
                </a:tc>
                <a:tc>
                  <a:txBody>
                    <a:bodyPr/>
                    <a:lstStyle/>
                    <a:p>
                      <a:pPr marL="85090" marR="462915" lvl="0" indent="0" algn="l" rtl="0">
                        <a:lnSpc>
                          <a:spcPct val="100000"/>
                        </a:lnSpc>
                        <a:spcBef>
                          <a:spcPts val="0"/>
                        </a:spcBef>
                        <a:spcAft>
                          <a:spcPts val="0"/>
                        </a:spcAft>
                        <a:buNone/>
                      </a:pPr>
                      <a:r>
                        <a:rPr lang="en-US" sz="1600" u="none" strike="noStrike" cap="none" dirty="0">
                          <a:sym typeface="Calibri"/>
                        </a:rPr>
                        <a:t>Deep Learning Techniques</a:t>
                      </a:r>
                    </a:p>
                    <a:p>
                      <a:pPr marL="85090" marR="462915" lvl="0" indent="0" algn="l" rtl="0">
                        <a:lnSpc>
                          <a:spcPct val="100000"/>
                        </a:lnSpc>
                        <a:spcBef>
                          <a:spcPts val="0"/>
                        </a:spcBef>
                        <a:spcAft>
                          <a:spcPts val="0"/>
                        </a:spcAft>
                        <a:buNone/>
                      </a:pPr>
                      <a:endParaRPr lang="en-US" sz="1600" u="none" strike="noStrike" cap="none" dirty="0">
                        <a:sym typeface="Calibri"/>
                      </a:endParaRPr>
                    </a:p>
                    <a:p>
                      <a:pPr marL="85090" marR="462915" lvl="0" indent="0" algn="l" rtl="0">
                        <a:lnSpc>
                          <a:spcPct val="100000"/>
                        </a:lnSpc>
                        <a:spcBef>
                          <a:spcPts val="0"/>
                        </a:spcBef>
                        <a:spcAft>
                          <a:spcPts val="0"/>
                        </a:spcAft>
                        <a:buNone/>
                      </a:pPr>
                      <a:endParaRPr lang="en-US" sz="1600" u="none" strike="noStrike" cap="none" dirty="0">
                        <a:sym typeface="Calibri"/>
                      </a:endParaRPr>
                    </a:p>
                    <a:p>
                      <a:pPr marL="85090" marR="462915" lvl="0" indent="0" algn="l" rtl="0">
                        <a:lnSpc>
                          <a:spcPct val="100000"/>
                        </a:lnSpc>
                        <a:spcBef>
                          <a:spcPts val="0"/>
                        </a:spcBef>
                        <a:spcAft>
                          <a:spcPts val="0"/>
                        </a:spcAft>
                        <a:buNone/>
                      </a:pPr>
                      <a:endParaRPr lang="en-US" sz="1600" u="none" strike="noStrike" cap="none" dirty="0">
                        <a:sym typeface="Calibri"/>
                      </a:endParaRPr>
                    </a:p>
                    <a:p>
                      <a:pPr marL="85090" marR="462915" lvl="0" indent="0" algn="l" rtl="0">
                        <a:lnSpc>
                          <a:spcPct val="100000"/>
                        </a:lnSpc>
                        <a:spcBef>
                          <a:spcPts val="0"/>
                        </a:spcBef>
                        <a:spcAft>
                          <a:spcPts val="0"/>
                        </a:spcAft>
                        <a:buNone/>
                      </a:pPr>
                      <a:endParaRPr lang="en-US" sz="1600" u="none" strike="noStrike" cap="none" dirty="0">
                        <a:sym typeface="Calibri"/>
                      </a:endParaRPr>
                    </a:p>
                    <a:p>
                      <a:pPr marL="85090" marR="462915" lvl="0" indent="0" algn="l" rtl="0">
                        <a:lnSpc>
                          <a:spcPct val="100000"/>
                        </a:lnSpc>
                        <a:spcBef>
                          <a:spcPts val="0"/>
                        </a:spcBef>
                        <a:spcAft>
                          <a:spcPts val="0"/>
                        </a:spcAft>
                        <a:buNone/>
                      </a:pPr>
                      <a:endParaRPr lang="en-US" sz="1600" u="none" strike="noStrike" cap="none" dirty="0">
                        <a:sym typeface="Calibri"/>
                      </a:endParaRPr>
                    </a:p>
                    <a:p>
                      <a:pPr marL="85090" marR="462915" lvl="0" indent="0" algn="l" rtl="0">
                        <a:lnSpc>
                          <a:spcPct val="100000"/>
                        </a:lnSpc>
                        <a:spcBef>
                          <a:spcPts val="0"/>
                        </a:spcBef>
                        <a:spcAft>
                          <a:spcPts val="0"/>
                        </a:spcAft>
                        <a:buNone/>
                      </a:pPr>
                      <a:endParaRPr lang="en-US" sz="1600" u="none" strike="noStrike" cap="none" dirty="0">
                        <a:sym typeface="Calibri"/>
                      </a:endParaRPr>
                    </a:p>
                    <a:p>
                      <a:pPr marL="85090" marR="462915" lvl="0" indent="0" algn="l" rtl="0">
                        <a:lnSpc>
                          <a:spcPct val="100000"/>
                        </a:lnSpc>
                        <a:spcBef>
                          <a:spcPts val="0"/>
                        </a:spcBef>
                        <a:spcAft>
                          <a:spcPts val="0"/>
                        </a:spcAft>
                        <a:buNone/>
                      </a:pPr>
                      <a:endParaRPr lang="en-IN" sz="1600" u="none" strike="noStrike" cap="none" dirty="0">
                        <a:sym typeface="Calibri"/>
                      </a:endParaRPr>
                    </a:p>
                    <a:p>
                      <a:pPr marL="85090" marR="462915" lvl="0" indent="0" algn="l" rtl="0">
                        <a:lnSpc>
                          <a:spcPct val="100000"/>
                        </a:lnSpc>
                        <a:spcBef>
                          <a:spcPts val="0"/>
                        </a:spcBef>
                        <a:spcAft>
                          <a:spcPts val="0"/>
                        </a:spcAft>
                        <a:buNone/>
                      </a:pPr>
                      <a:r>
                        <a:rPr lang="en-IN" sz="1600" u="none" strike="noStrike" cap="none" dirty="0">
                          <a:sym typeface="Calibri"/>
                        </a:rPr>
                        <a:t>SVM, YOLO, SSD</a:t>
                      </a:r>
                    </a:p>
                    <a:p>
                      <a:pPr marL="85090" marR="46291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090" marR="46291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090" marR="46291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090" marR="46291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090" marR="46291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090" marR="46291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090" marR="46291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090" marR="462915" lvl="0" indent="0" algn="l" rtl="0">
                        <a:lnSpc>
                          <a:spcPct val="100000"/>
                        </a:lnSpc>
                        <a:spcBef>
                          <a:spcPts val="0"/>
                        </a:spcBef>
                        <a:spcAft>
                          <a:spcPts val="0"/>
                        </a:spcAft>
                        <a:buNone/>
                      </a:pPr>
                      <a:r>
                        <a:rPr lang="en-IN" sz="1600" dirty="0" err="1">
                          <a:effectLst/>
                        </a:rPr>
                        <a:t>ResNet</a:t>
                      </a:r>
                      <a:r>
                        <a:rPr lang="en-IN" sz="1600" dirty="0">
                          <a:effectLst/>
                        </a:rPr>
                        <a:t> + SSD</a:t>
                      </a:r>
                      <a:endParaRPr sz="1600" u="none" strike="noStrike" cap="none" dirty="0">
                        <a:latin typeface="Calibri"/>
                        <a:ea typeface="Calibri"/>
                        <a:cs typeface="Calibri"/>
                        <a:sym typeface="Calibri"/>
                      </a:endParaRPr>
                    </a:p>
                  </a:txBody>
                  <a:tcPr marL="0" marR="0" marT="28575" marB="0">
                    <a:lnB w="12700" cap="flat" cmpd="sng" algn="ctr">
                      <a:solidFill>
                        <a:schemeClr val="tx1"/>
                      </a:solidFill>
                      <a:prstDash val="solid"/>
                      <a:round/>
                      <a:headEnd type="none" w="med" len="med"/>
                      <a:tailEnd type="none" w="med" len="med"/>
                    </a:lnB>
                  </a:tcPr>
                </a:tc>
                <a:tc>
                  <a:txBody>
                    <a:bodyPr/>
                    <a:lstStyle/>
                    <a:p>
                      <a:pPr marL="85725" marR="192405" lvl="0" indent="0" algn="l" rtl="0">
                        <a:lnSpc>
                          <a:spcPct val="100000"/>
                        </a:lnSpc>
                        <a:spcBef>
                          <a:spcPts val="0"/>
                        </a:spcBef>
                        <a:spcAft>
                          <a:spcPts val="0"/>
                        </a:spcAft>
                        <a:buNone/>
                      </a:pPr>
                      <a:r>
                        <a:rPr lang="en-US" sz="1600" u="none" strike="noStrike" cap="none" dirty="0" err="1">
                          <a:sym typeface="Calibri"/>
                        </a:rPr>
                        <a:t>Enchanced</a:t>
                      </a:r>
                      <a:r>
                        <a:rPr lang="en-US" sz="1600" u="none" strike="noStrike" cap="none" dirty="0">
                          <a:sym typeface="Calibri"/>
                        </a:rPr>
                        <a:t> Detection Frameworks,</a:t>
                      </a:r>
                    </a:p>
                    <a:p>
                      <a:pPr marL="85725" marR="192405" lvl="0" indent="0" algn="l" rtl="0">
                        <a:lnSpc>
                          <a:spcPct val="100000"/>
                        </a:lnSpc>
                        <a:spcBef>
                          <a:spcPts val="0"/>
                        </a:spcBef>
                        <a:spcAft>
                          <a:spcPts val="0"/>
                        </a:spcAft>
                        <a:buNone/>
                      </a:pPr>
                      <a:r>
                        <a:rPr lang="en-US" sz="1600" u="none" strike="noStrike" cap="none" dirty="0">
                          <a:sym typeface="Calibri"/>
                        </a:rPr>
                        <a:t>Real Time Processing,</a:t>
                      </a:r>
                    </a:p>
                    <a:p>
                      <a:pPr marL="85725" marR="192405" lvl="0" indent="0" algn="l" rtl="0">
                        <a:lnSpc>
                          <a:spcPct val="100000"/>
                        </a:lnSpc>
                        <a:spcBef>
                          <a:spcPts val="0"/>
                        </a:spcBef>
                        <a:spcAft>
                          <a:spcPts val="0"/>
                        </a:spcAft>
                        <a:buNone/>
                      </a:pPr>
                      <a:r>
                        <a:rPr lang="en-US" sz="1600" u="none" strike="noStrike" cap="none" dirty="0">
                          <a:sym typeface="Calibri"/>
                        </a:rPr>
                        <a:t>Research Directions</a:t>
                      </a:r>
                    </a:p>
                    <a:p>
                      <a:pPr marL="85725" marR="192405" lvl="0" indent="0" algn="l" rtl="0">
                        <a:lnSpc>
                          <a:spcPct val="100000"/>
                        </a:lnSpc>
                        <a:spcBef>
                          <a:spcPts val="0"/>
                        </a:spcBef>
                        <a:spcAft>
                          <a:spcPts val="0"/>
                        </a:spcAft>
                        <a:buNone/>
                      </a:pPr>
                      <a:endParaRPr lang="en-US" sz="1600" u="none" strike="noStrike" cap="none" dirty="0">
                        <a:sym typeface="Calibri"/>
                      </a:endParaRPr>
                    </a:p>
                    <a:p>
                      <a:pPr marL="85725" marR="192405" lvl="0" indent="0" algn="l" rtl="0">
                        <a:lnSpc>
                          <a:spcPct val="100000"/>
                        </a:lnSpc>
                        <a:spcBef>
                          <a:spcPts val="0"/>
                        </a:spcBef>
                        <a:spcAft>
                          <a:spcPts val="0"/>
                        </a:spcAft>
                        <a:buNone/>
                      </a:pPr>
                      <a:endParaRPr lang="en-US" sz="1600" u="none" strike="noStrike" cap="none" dirty="0">
                        <a:sym typeface="Calibri"/>
                      </a:endParaRPr>
                    </a:p>
                    <a:p>
                      <a:pPr marL="85725" marR="192405" lvl="0" indent="0" algn="l" rtl="0">
                        <a:lnSpc>
                          <a:spcPct val="100000"/>
                        </a:lnSpc>
                        <a:spcBef>
                          <a:spcPts val="0"/>
                        </a:spcBef>
                        <a:spcAft>
                          <a:spcPts val="0"/>
                        </a:spcAft>
                        <a:buNone/>
                      </a:pPr>
                      <a:endParaRPr lang="en-IN" sz="1600" u="none" strike="noStrike" cap="none" dirty="0">
                        <a:sym typeface="Calibri"/>
                      </a:endParaRPr>
                    </a:p>
                    <a:p>
                      <a:pPr marL="85725" marR="192405" lvl="0" indent="0" algn="l" rtl="0">
                        <a:lnSpc>
                          <a:spcPct val="100000"/>
                        </a:lnSpc>
                        <a:spcBef>
                          <a:spcPts val="0"/>
                        </a:spcBef>
                        <a:spcAft>
                          <a:spcPts val="0"/>
                        </a:spcAft>
                        <a:buNone/>
                      </a:pPr>
                      <a:endParaRPr lang="en-IN" sz="1600" u="none" strike="noStrike" cap="none" dirty="0">
                        <a:sym typeface="Calibri"/>
                      </a:endParaRPr>
                    </a:p>
                    <a:p>
                      <a:pPr marL="85725" marR="192405" lvl="0" indent="0" algn="l" rtl="0">
                        <a:lnSpc>
                          <a:spcPct val="100000"/>
                        </a:lnSpc>
                        <a:spcBef>
                          <a:spcPts val="0"/>
                        </a:spcBef>
                        <a:spcAft>
                          <a:spcPts val="0"/>
                        </a:spcAft>
                        <a:buNone/>
                      </a:pPr>
                      <a:endParaRPr lang="en-IN" sz="1600" u="none" strike="noStrike" cap="none" dirty="0">
                        <a:sym typeface="Calibri"/>
                      </a:endParaRPr>
                    </a:p>
                    <a:p>
                      <a:pPr marL="85725" marR="192405" lvl="0" indent="0" algn="l" rtl="0">
                        <a:lnSpc>
                          <a:spcPct val="100000"/>
                        </a:lnSpc>
                        <a:spcBef>
                          <a:spcPts val="0"/>
                        </a:spcBef>
                        <a:spcAft>
                          <a:spcPts val="0"/>
                        </a:spcAft>
                        <a:buNone/>
                      </a:pPr>
                      <a:r>
                        <a:rPr lang="en-IN" sz="1600" u="none" strike="noStrike" cap="none" dirty="0">
                          <a:sym typeface="Calibri"/>
                        </a:rPr>
                        <a:t>YOLO is fast but struggles with small objects; SSD better for multi-scale detection</a:t>
                      </a:r>
                    </a:p>
                    <a:p>
                      <a:pPr marL="85725" marR="19240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725" marR="19240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725" marR="19240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725" marR="192405" lvl="0" indent="0" algn="l" rtl="0">
                        <a:lnSpc>
                          <a:spcPct val="100000"/>
                        </a:lnSpc>
                        <a:spcBef>
                          <a:spcPts val="0"/>
                        </a:spcBef>
                        <a:spcAft>
                          <a:spcPts val="0"/>
                        </a:spcAft>
                        <a:buNone/>
                      </a:pPr>
                      <a:r>
                        <a:rPr lang="en-IN" sz="1600" dirty="0">
                          <a:effectLst/>
                        </a:rPr>
                        <a:t>Multi-scale feature maps, real-time detection, improved occlusion handling</a:t>
                      </a:r>
                      <a:endParaRPr sz="1600" u="none" strike="noStrike" cap="none" dirty="0">
                        <a:latin typeface="Calibri"/>
                        <a:ea typeface="Calibri"/>
                        <a:cs typeface="Calibri"/>
                        <a:sym typeface="Calibri"/>
                      </a:endParaRPr>
                    </a:p>
                  </a:txBody>
                  <a:tcPr marL="0" marR="0" marT="28575" marB="0">
                    <a:lnB w="12700" cap="flat" cmpd="sng" algn="ctr">
                      <a:solidFill>
                        <a:schemeClr val="tx1"/>
                      </a:solidFill>
                      <a:prstDash val="solid"/>
                      <a:round/>
                      <a:headEnd type="none" w="med" len="med"/>
                      <a:tailEnd type="none" w="med" len="med"/>
                    </a:lnB>
                  </a:tcPr>
                </a:tc>
                <a:tc>
                  <a:txBody>
                    <a:bodyPr/>
                    <a:lstStyle/>
                    <a:p>
                      <a:pPr marL="85725" marR="348615" lvl="0" indent="0" algn="just" rtl="0">
                        <a:lnSpc>
                          <a:spcPct val="100000"/>
                        </a:lnSpc>
                        <a:spcBef>
                          <a:spcPts val="0"/>
                        </a:spcBef>
                        <a:spcAft>
                          <a:spcPts val="0"/>
                        </a:spcAft>
                        <a:buNone/>
                      </a:pPr>
                      <a:r>
                        <a:rPr lang="en-US" sz="1600" u="none" strike="noStrike" cap="none" dirty="0">
                          <a:sym typeface="Calibri"/>
                        </a:rPr>
                        <a:t>Exploring these models on a diverse datasets which has low-visibility conditions, shadows, occlusions etc.,</a:t>
                      </a:r>
                    </a:p>
                    <a:p>
                      <a:pPr marL="85725" marR="348615" lvl="0" indent="0" algn="just" rtl="0">
                        <a:lnSpc>
                          <a:spcPct val="100000"/>
                        </a:lnSpc>
                        <a:spcBef>
                          <a:spcPts val="0"/>
                        </a:spcBef>
                        <a:spcAft>
                          <a:spcPts val="0"/>
                        </a:spcAft>
                        <a:buNone/>
                      </a:pPr>
                      <a:endParaRPr lang="en-US" sz="1600" u="none" strike="noStrike" cap="none" dirty="0">
                        <a:sym typeface="Calibri"/>
                      </a:endParaRPr>
                    </a:p>
                    <a:p>
                      <a:pPr marL="85725" marR="348615" lvl="0" indent="0" algn="l" rtl="0">
                        <a:lnSpc>
                          <a:spcPct val="100000"/>
                        </a:lnSpc>
                        <a:spcBef>
                          <a:spcPts val="0"/>
                        </a:spcBef>
                        <a:spcAft>
                          <a:spcPts val="0"/>
                        </a:spcAft>
                        <a:buNone/>
                      </a:pPr>
                      <a:r>
                        <a:rPr lang="en-IN" sz="1600" u="none" strike="noStrike" cap="none" dirty="0">
                          <a:sym typeface="Calibri"/>
                        </a:rPr>
                        <a:t>YOLO limitations in occlusion and small-scale detection; SVM unsuitable for real-time</a:t>
                      </a:r>
                    </a:p>
                    <a:p>
                      <a:pPr marL="85725" marR="348615" lvl="0" indent="0" algn="l" rtl="0">
                        <a:lnSpc>
                          <a:spcPct val="100000"/>
                        </a:lnSpc>
                        <a:spcBef>
                          <a:spcPts val="0"/>
                        </a:spcBef>
                        <a:spcAft>
                          <a:spcPts val="0"/>
                        </a:spcAft>
                        <a:buNone/>
                      </a:pPr>
                      <a:endParaRPr lang="en-IN" sz="1600" u="none" strike="noStrike" cap="none" dirty="0">
                        <a:latin typeface="Calibri"/>
                        <a:ea typeface="Calibri"/>
                        <a:cs typeface="Calibri"/>
                        <a:sym typeface="Calibri"/>
                      </a:endParaRPr>
                    </a:p>
                    <a:p>
                      <a:pPr marL="85725" marR="348615" lvl="0" indent="0" algn="l" rtl="0">
                        <a:lnSpc>
                          <a:spcPct val="100000"/>
                        </a:lnSpc>
                        <a:spcBef>
                          <a:spcPts val="0"/>
                        </a:spcBef>
                        <a:spcAft>
                          <a:spcPts val="0"/>
                        </a:spcAft>
                        <a:buNone/>
                      </a:pPr>
                      <a:r>
                        <a:rPr lang="en-IN" sz="1600" dirty="0">
                          <a:effectLst/>
                        </a:rPr>
                        <a:t>Still challenged by dense crowds and small pedestrians</a:t>
                      </a:r>
                      <a:endParaRPr lang="en-US" sz="1600" u="none" strike="noStrike" cap="none" dirty="0">
                        <a:latin typeface="Calibri"/>
                        <a:ea typeface="Calibri"/>
                        <a:cs typeface="Calibri"/>
                        <a:sym typeface="Calibri"/>
                      </a:endParaRPr>
                    </a:p>
                  </a:txBody>
                  <a:tcPr marL="0" marR="0" marT="28575"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78443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4B1F9-5637-475E-835E-7AA9BC8EA59B}"/>
              </a:ext>
            </a:extLst>
          </p:cNvPr>
          <p:cNvSpPr>
            <a:spLocks noGrp="1"/>
          </p:cNvSpPr>
          <p:nvPr>
            <p:ph type="title"/>
          </p:nvPr>
        </p:nvSpPr>
        <p:spPr/>
        <p:txBody>
          <a:bodyPr/>
          <a:lstStyle/>
          <a:p>
            <a:r>
              <a:rPr lang="en-US" dirty="0"/>
              <a:t>Existing System</a:t>
            </a:r>
            <a:endParaRPr lang="en-IN" dirty="0"/>
          </a:p>
        </p:txBody>
      </p:sp>
      <p:sp>
        <p:nvSpPr>
          <p:cNvPr id="6" name="Content Placeholder 2">
            <a:extLst>
              <a:ext uri="{FF2B5EF4-FFF2-40B4-BE49-F238E27FC236}">
                <a16:creationId xmlns:a16="http://schemas.microsoft.com/office/drawing/2014/main" id="{850BE218-ECB6-4FB1-B8BC-19C069DC6AF6}"/>
              </a:ext>
            </a:extLst>
          </p:cNvPr>
          <p:cNvSpPr>
            <a:spLocks noGrp="1"/>
          </p:cNvSpPr>
          <p:nvPr>
            <p:ph idx="1"/>
          </p:nvPr>
        </p:nvSpPr>
        <p:spPr>
          <a:xfrm>
            <a:off x="199505" y="1097279"/>
            <a:ext cx="11779135" cy="5394960"/>
          </a:xfrm>
        </p:spPr>
        <p:txBody>
          <a:bodyPr>
            <a:normAutofit/>
          </a:bodyPr>
          <a:lstStyle/>
          <a:p>
            <a:pPr>
              <a:buFont typeface="Arial" panose="020B0604020202020204" pitchFamily="34" charset="0"/>
              <a:buChar char="•"/>
            </a:pPr>
            <a:r>
              <a:rPr lang="en-IN" dirty="0"/>
              <a:t> Relies mainly on deep learning models like YOLOv8.</a:t>
            </a:r>
          </a:p>
          <a:p>
            <a:pPr marL="0" indent="0">
              <a:buNone/>
            </a:pPr>
            <a:r>
              <a:rPr lang="en-IN" dirty="0"/>
              <a:t>•  Provides improved accuracy and faster detection compared to earlier versions.</a:t>
            </a:r>
          </a:p>
          <a:p>
            <a:pPr marL="0" indent="0">
              <a:buNone/>
            </a:pPr>
            <a:r>
              <a:rPr lang="en-IN" dirty="0"/>
              <a:t>• Uses anchor-free mechanisms and enhanced feature extraction for general object detection.</a:t>
            </a:r>
          </a:p>
          <a:p>
            <a:pPr marL="0" indent="0">
              <a:buNone/>
            </a:pPr>
            <a:r>
              <a:rPr lang="en-IN" dirty="0"/>
              <a:t>• Limitations: struggles with occlusion, low resolution, cluttered backgrounds, and scale/pose variations.</a:t>
            </a:r>
          </a:p>
          <a:p>
            <a:pPr marL="0" indent="0">
              <a:buNone/>
            </a:pPr>
            <a:r>
              <a:rPr lang="en-IN" dirty="0"/>
              <a:t>• Lacks adaptability to motion context and temporal consistency, reducing </a:t>
            </a:r>
            <a:r>
              <a:rPr lang="en-IN" dirty="0" err="1"/>
              <a:t>robustnesss</a:t>
            </a:r>
            <a:r>
              <a:rPr lang="en-IN" dirty="0"/>
              <a:t> in autonomous driving and surveillance.</a:t>
            </a:r>
          </a:p>
          <a:p>
            <a:pPr>
              <a:buFont typeface="Arial" panose="020B0604020202020204" pitchFamily="34" charset="0"/>
              <a:buChar char="•"/>
            </a:pPr>
            <a:r>
              <a:rPr lang="en-IN" dirty="0"/>
              <a:t>Confuses pedestrians with similar background elements.</a:t>
            </a:r>
          </a:p>
          <a:p>
            <a:pPr>
              <a:buFont typeface="Arial" panose="020B0604020202020204" pitchFamily="34" charset="0"/>
              <a:buChar char="•"/>
            </a:pPr>
            <a:r>
              <a:rPr lang="en-IN" dirty="0"/>
              <a:t>Limited adaptability in dense, dynamic environments.</a:t>
            </a:r>
          </a:p>
          <a:p>
            <a:pPr marL="0" indent="0">
              <a:buNone/>
            </a:pPr>
            <a:endParaRPr lang="en-US" dirty="0"/>
          </a:p>
        </p:txBody>
      </p:sp>
    </p:spTree>
    <p:extLst>
      <p:ext uri="{BB962C8B-B14F-4D97-AF65-F5344CB8AC3E}">
        <p14:creationId xmlns:p14="http://schemas.microsoft.com/office/powerpoint/2010/main" val="1021553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DBC374-E01A-BFF3-9910-B41A99FD23C5}"/>
              </a:ext>
            </a:extLst>
          </p:cNvPr>
          <p:cNvSpPr>
            <a:spLocks noGrp="1"/>
          </p:cNvSpPr>
          <p:nvPr>
            <p:ph type="title"/>
          </p:nvPr>
        </p:nvSpPr>
        <p:spPr>
          <a:xfrm>
            <a:off x="-2" y="232759"/>
            <a:ext cx="12192000" cy="714892"/>
          </a:xfrm>
        </p:spPr>
        <p:txBody>
          <a:bodyPr/>
          <a:lstStyle/>
          <a:p>
            <a:r>
              <a:rPr lang="en-IN" dirty="0"/>
              <a:t>Proposed Work</a:t>
            </a:r>
          </a:p>
        </p:txBody>
      </p:sp>
      <p:sp>
        <p:nvSpPr>
          <p:cNvPr id="9" name="TextBox 8">
            <a:extLst>
              <a:ext uri="{FF2B5EF4-FFF2-40B4-BE49-F238E27FC236}">
                <a16:creationId xmlns:a16="http://schemas.microsoft.com/office/drawing/2014/main" id="{C667C128-B402-4F58-04BC-32BC0E6B9614}"/>
              </a:ext>
            </a:extLst>
          </p:cNvPr>
          <p:cNvSpPr txBox="1"/>
          <p:nvPr/>
        </p:nvSpPr>
        <p:spPr>
          <a:xfrm>
            <a:off x="134471" y="1030941"/>
            <a:ext cx="12057527" cy="4524315"/>
          </a:xfrm>
          <a:prstGeom prst="rect">
            <a:avLst/>
          </a:prstGeom>
          <a:noFill/>
        </p:spPr>
        <p:txBody>
          <a:bodyPr wrap="square">
            <a:spAutoFit/>
          </a:bodyPr>
          <a:lstStyle/>
          <a:p>
            <a:pPr marL="504825" lvl="0" indent="-492125">
              <a:buSzPts val="2800"/>
              <a:buFont typeface="Lucida Sans"/>
              <a:buChar char="□"/>
            </a:pPr>
            <a:r>
              <a:rPr lang="en-US" sz="2400" b="1" dirty="0">
                <a:latin typeface="Times New Roman"/>
                <a:ea typeface="Times New Roman"/>
                <a:cs typeface="Times New Roman"/>
                <a:sym typeface="Times New Roman"/>
              </a:rPr>
              <a:t>Introduction of YOLOv9:</a:t>
            </a:r>
          </a:p>
          <a:p>
            <a:pPr marL="12700" lvl="0">
              <a:buSzPts val="2800"/>
            </a:pPr>
            <a:r>
              <a:rPr lang="en-US" sz="2400" dirty="0">
                <a:latin typeface="Times New Roman"/>
                <a:ea typeface="Times New Roman"/>
                <a:cs typeface="Times New Roman"/>
                <a:sym typeface="Times New Roman"/>
              </a:rPr>
              <a:t>	Cross-attention for occlusion.</a:t>
            </a:r>
          </a:p>
          <a:p>
            <a:pPr marL="12700" lvl="0">
              <a:buSzPts val="2800"/>
            </a:pPr>
            <a:r>
              <a:rPr lang="en-US" sz="2400" dirty="0">
                <a:latin typeface="Times New Roman"/>
                <a:ea typeface="Times New Roman"/>
                <a:cs typeface="Times New Roman"/>
                <a:sym typeface="Times New Roman"/>
              </a:rPr>
              <a:t>	Multi-scale fusion for size variation.</a:t>
            </a:r>
          </a:p>
          <a:p>
            <a:pPr marL="12700" lvl="0">
              <a:buSzPts val="2800"/>
            </a:pPr>
            <a:r>
              <a:rPr lang="en-US" sz="2400" dirty="0">
                <a:latin typeface="Times New Roman"/>
                <a:ea typeface="Times New Roman"/>
                <a:cs typeface="Times New Roman"/>
                <a:sym typeface="Times New Roman"/>
              </a:rPr>
              <a:t>	Hybrid enhancements for real-time deployment.</a:t>
            </a:r>
          </a:p>
          <a:p>
            <a:pPr marL="12700" lvl="0">
              <a:buSzPts val="2800"/>
            </a:pPr>
            <a:r>
              <a:rPr lang="en-US" sz="2400" dirty="0">
                <a:latin typeface="Times New Roman"/>
                <a:ea typeface="Times New Roman"/>
                <a:cs typeface="Times New Roman"/>
                <a:sym typeface="Times New Roman"/>
              </a:rPr>
              <a:t>      - Training on benchmark datasets with advanced augmentation.</a:t>
            </a:r>
          </a:p>
          <a:p>
            <a:pPr marL="12700" lvl="0">
              <a:buSzPts val="2800"/>
            </a:pPr>
            <a:endParaRPr lang="en-US" sz="2400" dirty="0">
              <a:latin typeface="Times New Roman"/>
              <a:ea typeface="Times New Roman"/>
              <a:cs typeface="Times New Roman"/>
              <a:sym typeface="Times New Roman"/>
            </a:endParaRPr>
          </a:p>
          <a:p>
            <a:pPr marL="504825" lvl="0" indent="-492125">
              <a:buSzPts val="2800"/>
              <a:buFont typeface="Lucida Sans"/>
              <a:buChar char="□"/>
            </a:pPr>
            <a:r>
              <a:rPr lang="en-US" sz="2400" b="1" dirty="0">
                <a:latin typeface="Times New Roman"/>
                <a:ea typeface="Times New Roman"/>
                <a:cs typeface="Times New Roman"/>
                <a:sym typeface="Times New Roman"/>
              </a:rPr>
              <a:t>Implementation</a:t>
            </a:r>
          </a:p>
          <a:p>
            <a:pPr marL="12700" lvl="0">
              <a:buSzPts val="2800"/>
            </a:pPr>
            <a:r>
              <a:rPr lang="en-US" sz="2400" dirty="0">
                <a:latin typeface="Times New Roman"/>
                <a:ea typeface="Times New Roman"/>
                <a:cs typeface="Times New Roman"/>
                <a:sym typeface="Times New Roman"/>
              </a:rPr>
              <a:t>	Data Collection: Caltech, </a:t>
            </a:r>
            <a:r>
              <a:rPr lang="en-US" sz="2400" dirty="0" err="1">
                <a:latin typeface="Times New Roman"/>
                <a:ea typeface="Times New Roman"/>
                <a:cs typeface="Times New Roman"/>
                <a:sym typeface="Times New Roman"/>
              </a:rPr>
              <a:t>CityPersons</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CrowdHuman</a:t>
            </a:r>
            <a:r>
              <a:rPr lang="en-US" sz="2400" dirty="0">
                <a:latin typeface="Times New Roman"/>
                <a:ea typeface="Times New Roman"/>
                <a:cs typeface="Times New Roman"/>
                <a:sym typeface="Times New Roman"/>
              </a:rPr>
              <a:t>.</a:t>
            </a:r>
          </a:p>
          <a:p>
            <a:pPr marL="12700" lvl="0">
              <a:buSzPts val="2800"/>
            </a:pPr>
            <a:r>
              <a:rPr lang="en-US" sz="2400" dirty="0">
                <a:latin typeface="Times New Roman"/>
                <a:ea typeface="Times New Roman"/>
                <a:cs typeface="Times New Roman"/>
                <a:sym typeface="Times New Roman"/>
              </a:rPr>
              <a:t>	Preprocessing: Normalization, augmentation (spatial + photometric).</a:t>
            </a:r>
          </a:p>
          <a:p>
            <a:pPr marL="12700" lvl="0">
              <a:buSzPts val="2800"/>
            </a:pPr>
            <a:r>
              <a:rPr lang="en-US" sz="2400" dirty="0">
                <a:latin typeface="Times New Roman"/>
                <a:ea typeface="Times New Roman"/>
                <a:cs typeface="Times New Roman"/>
                <a:sym typeface="Times New Roman"/>
              </a:rPr>
              <a:t>	Training: </a:t>
            </a:r>
            <a:r>
              <a:rPr lang="en-US" sz="2400" dirty="0" err="1">
                <a:latin typeface="Times New Roman"/>
                <a:ea typeface="Times New Roman"/>
                <a:cs typeface="Times New Roman"/>
                <a:sym typeface="Times New Roman"/>
              </a:rPr>
              <a:t>AdamW</a:t>
            </a:r>
            <a:r>
              <a:rPr lang="en-US" sz="2400" dirty="0">
                <a:latin typeface="Times New Roman"/>
                <a:ea typeface="Times New Roman"/>
                <a:cs typeface="Times New Roman"/>
                <a:sym typeface="Times New Roman"/>
              </a:rPr>
              <a:t> optimizer, </a:t>
            </a:r>
            <a:r>
              <a:rPr lang="en-US" sz="2400" dirty="0" err="1">
                <a:latin typeface="Times New Roman"/>
                <a:ea typeface="Times New Roman"/>
                <a:cs typeface="Times New Roman"/>
                <a:sym typeface="Times New Roman"/>
              </a:rPr>
              <a:t>CIoU</a:t>
            </a:r>
            <a:r>
              <a:rPr lang="en-US" sz="2400" dirty="0">
                <a:latin typeface="Times New Roman"/>
                <a:ea typeface="Times New Roman"/>
                <a:cs typeface="Times New Roman"/>
                <a:sym typeface="Times New Roman"/>
              </a:rPr>
              <a:t> loss, mixed precision.</a:t>
            </a:r>
          </a:p>
          <a:p>
            <a:pPr marL="12700" lvl="0">
              <a:buSzPts val="2800"/>
            </a:pPr>
            <a:r>
              <a:rPr lang="en-US" sz="2400" dirty="0">
                <a:latin typeface="Times New Roman"/>
                <a:ea typeface="Times New Roman"/>
                <a:cs typeface="Times New Roman"/>
                <a:sym typeface="Times New Roman"/>
              </a:rPr>
              <a:t>	Evaluation: mAP@0.5, precision/recall, FPS.</a:t>
            </a:r>
          </a:p>
          <a:p>
            <a:pPr marL="12700" lvl="0">
              <a:buSzPts val="2800"/>
            </a:pPr>
            <a:r>
              <a:rPr lang="en-US" sz="2400" dirty="0">
                <a:latin typeface="Times New Roman"/>
                <a:ea typeface="Times New Roman"/>
                <a:cs typeface="Times New Roman"/>
                <a:sym typeface="Times New Roman"/>
              </a:rPr>
              <a:t>	Deployment: </a:t>
            </a:r>
            <a:r>
              <a:rPr lang="en-US" sz="2400" dirty="0" err="1">
                <a:latin typeface="Times New Roman"/>
                <a:ea typeface="Times New Roman"/>
                <a:cs typeface="Times New Roman"/>
                <a:sym typeface="Times New Roman"/>
              </a:rPr>
              <a:t>Vercel</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PyTorch</a:t>
            </a:r>
            <a:r>
              <a:rPr lang="en-US" sz="2400" dirty="0">
                <a:latin typeface="Times New Roman"/>
                <a:ea typeface="Times New Roman"/>
                <a:cs typeface="Times New Roman"/>
                <a:sym typeface="Times New Roman"/>
              </a:rPr>
              <a:t> models.</a:t>
            </a:r>
          </a:p>
        </p:txBody>
      </p:sp>
    </p:spTree>
    <p:extLst>
      <p:ext uri="{BB962C8B-B14F-4D97-AF65-F5344CB8AC3E}">
        <p14:creationId xmlns:p14="http://schemas.microsoft.com/office/powerpoint/2010/main" val="3465084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FB14C-716A-D5E3-0372-706F5885F7B0}"/>
              </a:ext>
            </a:extLst>
          </p:cNvPr>
          <p:cNvSpPr>
            <a:spLocks noGrp="1"/>
          </p:cNvSpPr>
          <p:nvPr>
            <p:ph type="title"/>
          </p:nvPr>
        </p:nvSpPr>
        <p:spPr/>
        <p:txBody>
          <a:bodyPr/>
          <a:lstStyle/>
          <a:p>
            <a:r>
              <a:rPr lang="en-IN" dirty="0"/>
              <a:t>Requirements (functional and non-functional)</a:t>
            </a:r>
          </a:p>
        </p:txBody>
      </p:sp>
      <p:sp>
        <p:nvSpPr>
          <p:cNvPr id="3" name="Content Placeholder 2">
            <a:extLst>
              <a:ext uri="{FF2B5EF4-FFF2-40B4-BE49-F238E27FC236}">
                <a16:creationId xmlns:a16="http://schemas.microsoft.com/office/drawing/2014/main" id="{253311BD-9CA3-F901-F90B-94C66678C3F9}"/>
              </a:ext>
            </a:extLst>
          </p:cNvPr>
          <p:cNvSpPr>
            <a:spLocks noGrp="1"/>
          </p:cNvSpPr>
          <p:nvPr>
            <p:ph idx="1"/>
          </p:nvPr>
        </p:nvSpPr>
        <p:spPr/>
        <p:txBody>
          <a:bodyPr/>
          <a:lstStyle/>
          <a:p>
            <a:pPr marL="0" indent="0">
              <a:buNone/>
            </a:pPr>
            <a:r>
              <a:rPr lang="en-IN" b="1" dirty="0"/>
              <a:t>Functional Requirements</a:t>
            </a:r>
          </a:p>
          <a:p>
            <a:pPr lvl="1">
              <a:buFont typeface="Wingdings" panose="05000000000000000000" pitchFamily="2" charset="2"/>
              <a:buChar char="Ø"/>
            </a:pPr>
            <a:r>
              <a:rPr lang="en-IN" sz="2800" dirty="0"/>
              <a:t>Upload images</a:t>
            </a:r>
          </a:p>
          <a:p>
            <a:pPr lvl="1">
              <a:buFont typeface="Wingdings" panose="05000000000000000000" pitchFamily="2" charset="2"/>
              <a:buChar char="Ø"/>
            </a:pPr>
            <a:r>
              <a:rPr lang="en-IN" sz="2800" dirty="0"/>
              <a:t>Detect pedestrians</a:t>
            </a:r>
          </a:p>
          <a:p>
            <a:pPr lvl="1">
              <a:buFont typeface="Wingdings" panose="05000000000000000000" pitchFamily="2" charset="2"/>
              <a:buChar char="Ø"/>
            </a:pPr>
            <a:r>
              <a:rPr lang="en-IN" sz="2800" dirty="0"/>
              <a:t>Return bounding boxes &amp; confidence</a:t>
            </a:r>
          </a:p>
          <a:p>
            <a:pPr marL="0" indent="0">
              <a:buNone/>
            </a:pPr>
            <a:endParaRPr lang="en-IN" dirty="0"/>
          </a:p>
          <a:p>
            <a:pPr marL="0" indent="0">
              <a:buNone/>
            </a:pPr>
            <a:r>
              <a:rPr lang="en-IN" b="1" dirty="0"/>
              <a:t>Non-Functional Requirements</a:t>
            </a:r>
          </a:p>
          <a:p>
            <a:pPr lvl="1">
              <a:buFont typeface="Wingdings" panose="05000000000000000000" pitchFamily="2" charset="2"/>
              <a:buChar char="Ø"/>
            </a:pPr>
            <a:r>
              <a:rPr lang="en-IN" sz="2800" dirty="0"/>
              <a:t>Real-time performance</a:t>
            </a:r>
          </a:p>
          <a:p>
            <a:pPr lvl="1">
              <a:buFont typeface="Wingdings" panose="05000000000000000000" pitchFamily="2" charset="2"/>
              <a:buChar char="Ø"/>
            </a:pPr>
            <a:r>
              <a:rPr lang="en-IN" sz="2800" dirty="0"/>
              <a:t>High accuracy under occlusion</a:t>
            </a:r>
          </a:p>
          <a:p>
            <a:pPr lvl="1">
              <a:buFont typeface="Wingdings" panose="05000000000000000000" pitchFamily="2" charset="2"/>
              <a:buChar char="Ø"/>
            </a:pPr>
            <a:r>
              <a:rPr lang="en-IN" sz="2800" dirty="0"/>
              <a:t>Scalability &amp; reliability</a:t>
            </a:r>
          </a:p>
          <a:p>
            <a:pPr marL="0" indent="0">
              <a:buNone/>
            </a:pPr>
            <a:endParaRPr lang="en-IN" dirty="0"/>
          </a:p>
        </p:txBody>
      </p:sp>
    </p:spTree>
    <p:extLst>
      <p:ext uri="{BB962C8B-B14F-4D97-AF65-F5344CB8AC3E}">
        <p14:creationId xmlns:p14="http://schemas.microsoft.com/office/powerpoint/2010/main" val="138376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736B952-DBD8-F2CF-7909-A0AEE480D7BD}"/>
              </a:ext>
            </a:extLst>
          </p:cNvPr>
          <p:cNvSpPr>
            <a:spLocks noGrp="1"/>
          </p:cNvSpPr>
          <p:nvPr>
            <p:ph type="title"/>
          </p:nvPr>
        </p:nvSpPr>
        <p:spPr>
          <a:xfrm>
            <a:off x="-2" y="232759"/>
            <a:ext cx="12192000" cy="714892"/>
          </a:xfrm>
        </p:spPr>
        <p:txBody>
          <a:bodyPr/>
          <a:lstStyle/>
          <a:p>
            <a:r>
              <a:rPr lang="en-US" dirty="0"/>
              <a:t>Architecture</a:t>
            </a:r>
            <a:endParaRPr lang="en-IN" dirty="0"/>
          </a:p>
        </p:txBody>
      </p:sp>
      <p:pic>
        <p:nvPicPr>
          <p:cNvPr id="12" name="Picture 11">
            <a:extLst>
              <a:ext uri="{FF2B5EF4-FFF2-40B4-BE49-F238E27FC236}">
                <a16:creationId xmlns:a16="http://schemas.microsoft.com/office/drawing/2014/main" id="{D1DF7C66-315A-9A1D-C4B4-086F8DB369D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5408" y="1129554"/>
            <a:ext cx="2590240" cy="5405718"/>
          </a:xfrm>
          <a:prstGeom prst="rect">
            <a:avLst/>
          </a:prstGeom>
          <a:noFill/>
          <a:ln>
            <a:noFill/>
          </a:ln>
        </p:spPr>
      </p:pic>
      <p:pic>
        <p:nvPicPr>
          <p:cNvPr id="3" name="Picture 2">
            <a:extLst>
              <a:ext uri="{FF2B5EF4-FFF2-40B4-BE49-F238E27FC236}">
                <a16:creationId xmlns:a16="http://schemas.microsoft.com/office/drawing/2014/main" id="{32409094-0290-3261-B723-53AE16B53A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5648" y="991232"/>
            <a:ext cx="8111746" cy="5405718"/>
          </a:xfrm>
          <a:prstGeom prst="rect">
            <a:avLst/>
          </a:prstGeom>
        </p:spPr>
      </p:pic>
    </p:spTree>
    <p:extLst>
      <p:ext uri="{BB962C8B-B14F-4D97-AF65-F5344CB8AC3E}">
        <p14:creationId xmlns:p14="http://schemas.microsoft.com/office/powerpoint/2010/main" val="3108479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6FD97-99E5-84B5-C830-BF0F45FBA3B2}"/>
              </a:ext>
            </a:extLst>
          </p:cNvPr>
          <p:cNvSpPr>
            <a:spLocks noGrp="1"/>
          </p:cNvSpPr>
          <p:nvPr>
            <p:ph type="title"/>
          </p:nvPr>
        </p:nvSpPr>
        <p:spPr/>
        <p:txBody>
          <a:bodyPr/>
          <a:lstStyle/>
          <a:p>
            <a:r>
              <a:rPr lang="en-IN" dirty="0"/>
              <a:t>UML Diagrams</a:t>
            </a:r>
          </a:p>
        </p:txBody>
      </p:sp>
      <p:pic>
        <p:nvPicPr>
          <p:cNvPr id="4" name="Content Placeholder 3">
            <a:extLst>
              <a:ext uri="{FF2B5EF4-FFF2-40B4-BE49-F238E27FC236}">
                <a16:creationId xmlns:a16="http://schemas.microsoft.com/office/drawing/2014/main" id="{41A9AF53-9A92-501F-FE29-0B0CAA66B3F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64746" y="1079034"/>
            <a:ext cx="4515174" cy="5395912"/>
          </a:xfrm>
          <a:prstGeom prst="rect">
            <a:avLst/>
          </a:prstGeom>
          <a:noFill/>
          <a:ln>
            <a:noFill/>
          </a:ln>
        </p:spPr>
      </p:pic>
      <p:pic>
        <p:nvPicPr>
          <p:cNvPr id="5" name="Picture 4">
            <a:extLst>
              <a:ext uri="{FF2B5EF4-FFF2-40B4-BE49-F238E27FC236}">
                <a16:creationId xmlns:a16="http://schemas.microsoft.com/office/drawing/2014/main" id="{C87BF186-0139-EB90-90E2-BB419AE1B6C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43482" y="1079034"/>
            <a:ext cx="3968539" cy="5492049"/>
          </a:xfrm>
          <a:prstGeom prst="rect">
            <a:avLst/>
          </a:prstGeom>
          <a:noFill/>
          <a:ln>
            <a:noFill/>
          </a:ln>
        </p:spPr>
      </p:pic>
    </p:spTree>
    <p:extLst>
      <p:ext uri="{BB962C8B-B14F-4D97-AF65-F5344CB8AC3E}">
        <p14:creationId xmlns:p14="http://schemas.microsoft.com/office/powerpoint/2010/main" val="2619292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99207-5946-98F9-A49A-B706635527BE}"/>
              </a:ext>
            </a:extLst>
          </p:cNvPr>
          <p:cNvSpPr>
            <a:spLocks noGrp="1"/>
          </p:cNvSpPr>
          <p:nvPr>
            <p:ph type="title"/>
          </p:nvPr>
        </p:nvSpPr>
        <p:spPr/>
        <p:txBody>
          <a:bodyPr/>
          <a:lstStyle/>
          <a:p>
            <a:r>
              <a:rPr lang="en-US" dirty="0"/>
              <a:t>Implementation</a:t>
            </a:r>
            <a:br>
              <a:rPr lang="en-US" dirty="0"/>
            </a:br>
            <a:endParaRPr lang="en-IN" dirty="0"/>
          </a:p>
        </p:txBody>
      </p:sp>
      <p:sp>
        <p:nvSpPr>
          <p:cNvPr id="3" name="Content Placeholder 2">
            <a:extLst>
              <a:ext uri="{FF2B5EF4-FFF2-40B4-BE49-F238E27FC236}">
                <a16:creationId xmlns:a16="http://schemas.microsoft.com/office/drawing/2014/main" id="{56FFC978-5793-C8FD-9B5D-42F4AA61E4B2}"/>
              </a:ext>
            </a:extLst>
          </p:cNvPr>
          <p:cNvSpPr>
            <a:spLocks noGrp="1"/>
          </p:cNvSpPr>
          <p:nvPr>
            <p:ph idx="1"/>
          </p:nvPr>
        </p:nvSpPr>
        <p:spPr>
          <a:xfrm>
            <a:off x="307082" y="1230281"/>
            <a:ext cx="11779135" cy="5394960"/>
          </a:xfrm>
        </p:spPr>
        <p:txBody>
          <a:bodyPr/>
          <a:lstStyle/>
          <a:p>
            <a:r>
              <a:rPr lang="en-IN" b="1" dirty="0"/>
              <a:t>Dataset Collection: </a:t>
            </a:r>
          </a:p>
          <a:p>
            <a:pPr lvl="1">
              <a:buFont typeface="Arial" panose="020B0604020202020204" pitchFamily="34" charset="0"/>
              <a:buChar char="•"/>
            </a:pPr>
            <a:r>
              <a:rPr lang="en-IN" dirty="0"/>
              <a:t>KITTI Dataset – Road scene images</a:t>
            </a:r>
          </a:p>
          <a:p>
            <a:pPr lvl="1">
              <a:buFont typeface="Arial" panose="020B0604020202020204" pitchFamily="34" charset="0"/>
              <a:buChar char="•"/>
            </a:pPr>
            <a:r>
              <a:rPr lang="en-IN" dirty="0" err="1"/>
              <a:t>CityPersons</a:t>
            </a:r>
            <a:r>
              <a:rPr lang="en-IN" dirty="0"/>
              <a:t> Dataset – Urban pedestrian images </a:t>
            </a:r>
          </a:p>
          <a:p>
            <a:pPr lvl="1">
              <a:buFont typeface="Arial" panose="020B0604020202020204" pitchFamily="34" charset="0"/>
              <a:buChar char="•"/>
            </a:pPr>
            <a:r>
              <a:rPr lang="en-IN" dirty="0" err="1"/>
              <a:t>CrowdHuman</a:t>
            </a:r>
            <a:r>
              <a:rPr lang="en-IN" dirty="0"/>
              <a:t> Dataset – Dense crowd images </a:t>
            </a:r>
            <a:endParaRPr lang="en-IN" b="1" dirty="0"/>
          </a:p>
          <a:p>
            <a:r>
              <a:rPr lang="en-IN" b="1" dirty="0"/>
              <a:t>Data Preprocessing: </a:t>
            </a:r>
          </a:p>
          <a:p>
            <a:pPr lvl="1">
              <a:buFont typeface="Arial" panose="020B0604020202020204" pitchFamily="34" charset="0"/>
              <a:buChar char="•"/>
            </a:pPr>
            <a:r>
              <a:rPr lang="en-IN" dirty="0"/>
              <a:t>Image Resizing: All images resized to 640 × 640</a:t>
            </a:r>
          </a:p>
          <a:p>
            <a:pPr lvl="1">
              <a:buFont typeface="Arial" panose="020B0604020202020204" pitchFamily="34" charset="0"/>
              <a:buChar char="•"/>
            </a:pPr>
            <a:r>
              <a:rPr lang="en-IN" dirty="0"/>
              <a:t>Normalization: Pixel values scaled to [0,1] </a:t>
            </a:r>
          </a:p>
          <a:p>
            <a:pPr lvl="1">
              <a:buFont typeface="Arial" panose="020B0604020202020204" pitchFamily="34" charset="0"/>
              <a:buChar char="•"/>
            </a:pPr>
            <a:r>
              <a:rPr lang="en-IN" dirty="0"/>
              <a:t>Data Augmentation: </a:t>
            </a:r>
          </a:p>
          <a:p>
            <a:pPr lvl="2">
              <a:buFont typeface="Wingdings" panose="05000000000000000000" pitchFamily="2" charset="2"/>
              <a:buChar char="ü"/>
            </a:pPr>
            <a:r>
              <a:rPr lang="en-IN" dirty="0"/>
              <a:t>Horizontal flipping </a:t>
            </a:r>
          </a:p>
          <a:p>
            <a:pPr lvl="2">
              <a:buFont typeface="Wingdings" panose="05000000000000000000" pitchFamily="2" charset="2"/>
              <a:buChar char="ü"/>
            </a:pPr>
            <a:r>
              <a:rPr lang="en-IN" dirty="0"/>
              <a:t>Rotation </a:t>
            </a:r>
          </a:p>
          <a:p>
            <a:pPr lvl="2">
              <a:buFont typeface="Wingdings" panose="05000000000000000000" pitchFamily="2" charset="2"/>
              <a:buChar char="ü"/>
            </a:pPr>
            <a:r>
              <a:rPr lang="en-IN" dirty="0"/>
              <a:t>Scaling </a:t>
            </a:r>
          </a:p>
          <a:p>
            <a:pPr lvl="2">
              <a:buFont typeface="Wingdings" panose="05000000000000000000" pitchFamily="2" charset="2"/>
              <a:buChar char="ü"/>
            </a:pPr>
            <a:r>
              <a:rPr lang="en-IN" dirty="0"/>
              <a:t>Brightness and contrast adjustment </a:t>
            </a:r>
            <a:endParaRPr lang="en-IN" b="1" dirty="0"/>
          </a:p>
          <a:p>
            <a:pPr lvl="1">
              <a:buFont typeface="Arial" panose="020B0604020202020204" pitchFamily="34" charset="0"/>
              <a:buChar char="•"/>
            </a:pPr>
            <a:endParaRPr lang="en-IN" b="1" dirty="0"/>
          </a:p>
        </p:txBody>
      </p:sp>
      <p:pic>
        <p:nvPicPr>
          <p:cNvPr id="1028" name="Picture 4">
            <a:extLst>
              <a:ext uri="{FF2B5EF4-FFF2-40B4-BE49-F238E27FC236}">
                <a16:creationId xmlns:a16="http://schemas.microsoft.com/office/drawing/2014/main" id="{C6E7981D-7231-62D1-E1F7-A8C031BD8B8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05770" y="1230281"/>
            <a:ext cx="2558302" cy="155550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9ED53B27-64EB-5128-5FDB-C52F16BBFB7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37342" y="1230281"/>
            <a:ext cx="2368428" cy="1578952"/>
          </a:xfrm>
          <a:prstGeom prst="rect">
            <a:avLst/>
          </a:prstGeom>
          <a:noFill/>
          <a:extLst>
            <a:ext uri="{909E8E84-426E-40DD-AFC4-6F175D3DCCD1}">
              <a14:hiddenFill xmlns:a14="http://schemas.microsoft.com/office/drawing/2010/main">
                <a:solidFill>
                  <a:srgbClr val="FFFFFF"/>
                </a:solidFill>
              </a14:hiddenFill>
            </a:ext>
          </a:extLst>
        </p:spPr>
      </p:pic>
      <p:pic>
        <p:nvPicPr>
          <p:cNvPr id="8" name="Content Placeholder 7">
            <a:extLst>
              <a:ext uri="{FF2B5EF4-FFF2-40B4-BE49-F238E27FC236}">
                <a16:creationId xmlns:a16="http://schemas.microsoft.com/office/drawing/2014/main" id="{7D8A1557-5CEF-4A18-18DC-2CFC8A09D86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7033988" y="3186568"/>
            <a:ext cx="5158010" cy="3438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3559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D954E-1F6B-BAD1-C1A1-D28E9403314F}"/>
              </a:ext>
            </a:extLst>
          </p:cNvPr>
          <p:cNvSpPr>
            <a:spLocks noGrp="1"/>
          </p:cNvSpPr>
          <p:nvPr>
            <p:ph type="title"/>
          </p:nvPr>
        </p:nvSpPr>
        <p:spPr/>
        <p:txBody>
          <a:bodyPr/>
          <a:lstStyle/>
          <a:p>
            <a:r>
              <a:rPr lang="en-US" dirty="0"/>
              <a:t>Conti..</a:t>
            </a:r>
            <a:endParaRPr lang="en-IN" dirty="0"/>
          </a:p>
        </p:txBody>
      </p:sp>
      <p:sp>
        <p:nvSpPr>
          <p:cNvPr id="4" name="AutoShape 2" descr="डेटा संवर्धन तकनीकें">
            <a:extLst>
              <a:ext uri="{FF2B5EF4-FFF2-40B4-BE49-F238E27FC236}">
                <a16:creationId xmlns:a16="http://schemas.microsoft.com/office/drawing/2014/main" id="{7D83738D-7B36-4D64-F2FE-F3C7973B95A7}"/>
              </a:ext>
            </a:extLst>
          </p:cNvPr>
          <p:cNvSpPr>
            <a:spLocks noChangeAspect="1" noChangeArrowheads="1"/>
          </p:cNvSpPr>
          <p:nvPr/>
        </p:nvSpPr>
        <p:spPr bwMode="auto">
          <a:xfrm>
            <a:off x="2716306" y="3276600"/>
            <a:ext cx="3532094" cy="353209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Content Placeholder 8">
            <a:extLst>
              <a:ext uri="{FF2B5EF4-FFF2-40B4-BE49-F238E27FC236}">
                <a16:creationId xmlns:a16="http://schemas.microsoft.com/office/drawing/2014/main" id="{253DC02B-2092-E207-96D3-A8CE342611DF}"/>
              </a:ext>
            </a:extLst>
          </p:cNvPr>
          <p:cNvSpPr>
            <a:spLocks noGrp="1"/>
          </p:cNvSpPr>
          <p:nvPr>
            <p:ph idx="1"/>
          </p:nvPr>
        </p:nvSpPr>
        <p:spPr>
          <a:xfrm>
            <a:off x="199504" y="1097278"/>
            <a:ext cx="12422801" cy="5711415"/>
          </a:xfrm>
        </p:spPr>
        <p:txBody>
          <a:bodyPr>
            <a:normAutofit fontScale="85000" lnSpcReduction="20000"/>
          </a:bodyPr>
          <a:lstStyle/>
          <a:p>
            <a:r>
              <a:rPr lang="en-IN" b="1" dirty="0"/>
              <a:t>Model Development </a:t>
            </a:r>
          </a:p>
          <a:p>
            <a:pPr marL="0" indent="0">
              <a:buNone/>
            </a:pPr>
            <a:r>
              <a:rPr lang="en-IN" dirty="0"/>
              <a:t>The system uses a YOLO-based object detection model designed for fast and accurate detection.</a:t>
            </a:r>
          </a:p>
          <a:p>
            <a:pPr marL="457200" lvl="1" indent="0">
              <a:buNone/>
            </a:pPr>
            <a:r>
              <a:rPr lang="en-IN" dirty="0"/>
              <a:t> </a:t>
            </a:r>
            <a:r>
              <a:rPr lang="en-IN" b="1" dirty="0"/>
              <a:t>Model Structure:</a:t>
            </a:r>
          </a:p>
          <a:p>
            <a:pPr marL="457200" lvl="1" indent="0">
              <a:buNone/>
            </a:pPr>
            <a:r>
              <a:rPr lang="en-IN" b="1" dirty="0"/>
              <a:t>	 </a:t>
            </a:r>
            <a:r>
              <a:rPr lang="en-IN" dirty="0"/>
              <a:t>• Backbone: Extracts image features</a:t>
            </a:r>
          </a:p>
          <a:p>
            <a:pPr marL="457200" lvl="1" indent="0">
              <a:buNone/>
            </a:pPr>
            <a:r>
              <a:rPr lang="en-IN" dirty="0"/>
              <a:t>	 • Neck: Combines features from multiple scales</a:t>
            </a:r>
          </a:p>
          <a:p>
            <a:pPr marL="457200" lvl="1" indent="0">
              <a:buNone/>
            </a:pPr>
            <a:r>
              <a:rPr lang="en-IN" dirty="0"/>
              <a:t>	 • Head: Predicts bounding boxes and confidence scores </a:t>
            </a:r>
          </a:p>
          <a:p>
            <a:pPr algn="l"/>
            <a:r>
              <a:rPr lang="en-IN" b="1" dirty="0"/>
              <a:t>Model Training</a:t>
            </a:r>
          </a:p>
          <a:p>
            <a:pPr marL="0" indent="0" algn="l">
              <a:buNone/>
            </a:pPr>
            <a:r>
              <a:rPr lang="en-IN" b="1" dirty="0"/>
              <a:t> </a:t>
            </a:r>
            <a:r>
              <a:rPr lang="en-IN" sz="2400" dirty="0"/>
              <a:t>The model is trained using </a:t>
            </a:r>
            <a:r>
              <a:rPr lang="en-IN" sz="2400" dirty="0" err="1"/>
              <a:t>labeled</a:t>
            </a:r>
            <a:r>
              <a:rPr lang="en-IN" sz="2400" dirty="0"/>
              <a:t> image datasets.</a:t>
            </a:r>
          </a:p>
          <a:p>
            <a:pPr marL="0" indent="0" algn="l">
              <a:buNone/>
            </a:pPr>
            <a:r>
              <a:rPr lang="en-IN" sz="2400" dirty="0"/>
              <a:t>	 Training Configuration:</a:t>
            </a:r>
          </a:p>
          <a:p>
            <a:pPr marL="0" indent="0" algn="l">
              <a:buNone/>
            </a:pPr>
            <a:r>
              <a:rPr lang="en-IN" sz="2400" dirty="0"/>
              <a:t>		• Optimizer: </a:t>
            </a:r>
            <a:r>
              <a:rPr lang="en-IN" sz="2400" dirty="0" err="1"/>
              <a:t>AdamW</a:t>
            </a:r>
            <a:r>
              <a:rPr lang="en-IN" sz="2400" dirty="0"/>
              <a:t> </a:t>
            </a:r>
          </a:p>
          <a:p>
            <a:pPr marL="0" indent="0" algn="l">
              <a:buNone/>
            </a:pPr>
            <a:r>
              <a:rPr lang="en-IN" sz="2400" dirty="0"/>
              <a:t>		• Learning Rate: 0.001 </a:t>
            </a:r>
          </a:p>
          <a:p>
            <a:pPr marL="0" indent="0" algn="l">
              <a:buNone/>
            </a:pPr>
            <a:r>
              <a:rPr lang="en-IN" sz="2400" dirty="0"/>
              <a:t>		• Batch Size: 32 </a:t>
            </a:r>
          </a:p>
          <a:p>
            <a:pPr marL="0" indent="0" algn="l">
              <a:buNone/>
            </a:pPr>
            <a:r>
              <a:rPr lang="en-IN" sz="2400" dirty="0"/>
              <a:t>		• Epochs: 300 </a:t>
            </a:r>
          </a:p>
          <a:p>
            <a:pPr marL="0" indent="0" algn="l">
              <a:buNone/>
            </a:pPr>
            <a:r>
              <a:rPr lang="en-IN" sz="2400" dirty="0"/>
              <a:t>		• Loss Function:</a:t>
            </a:r>
          </a:p>
          <a:p>
            <a:pPr marL="0" indent="0" algn="l">
              <a:buNone/>
            </a:pPr>
            <a:r>
              <a:rPr lang="en-IN" sz="2400" dirty="0"/>
              <a:t>		      </a:t>
            </a:r>
            <a:r>
              <a:rPr lang="en-IN" sz="2400" dirty="0" err="1"/>
              <a:t>CIoU</a:t>
            </a:r>
            <a:r>
              <a:rPr lang="en-IN" sz="2400" dirty="0"/>
              <a:t> (bounding box loss) </a:t>
            </a:r>
          </a:p>
          <a:p>
            <a:pPr marL="0" indent="0" algn="l">
              <a:buNone/>
            </a:pPr>
            <a:r>
              <a:rPr lang="en-IN" sz="2400" dirty="0"/>
              <a:t>Training is performed on GPU-enabled systems for efficiency.</a:t>
            </a:r>
          </a:p>
          <a:p>
            <a:pPr marL="457200" lvl="1" indent="0">
              <a:buNone/>
            </a:pPr>
            <a:endParaRPr lang="en-IN" dirty="0"/>
          </a:p>
        </p:txBody>
      </p:sp>
    </p:spTree>
    <p:extLst>
      <p:ext uri="{BB962C8B-B14F-4D97-AF65-F5344CB8AC3E}">
        <p14:creationId xmlns:p14="http://schemas.microsoft.com/office/powerpoint/2010/main" val="3202090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9F238-6804-F751-9F4D-A09E2DC435D8}"/>
              </a:ext>
            </a:extLst>
          </p:cNvPr>
          <p:cNvSpPr>
            <a:spLocks noGrp="1"/>
          </p:cNvSpPr>
          <p:nvPr>
            <p:ph type="title"/>
          </p:nvPr>
        </p:nvSpPr>
        <p:spPr/>
        <p:txBody>
          <a:bodyPr/>
          <a:lstStyle/>
          <a:p>
            <a:r>
              <a:rPr lang="en-US" dirty="0"/>
              <a:t>Conti..</a:t>
            </a:r>
            <a:endParaRPr lang="en-IN" dirty="0"/>
          </a:p>
        </p:txBody>
      </p:sp>
      <p:sp>
        <p:nvSpPr>
          <p:cNvPr id="3" name="Content Placeholder 2">
            <a:extLst>
              <a:ext uri="{FF2B5EF4-FFF2-40B4-BE49-F238E27FC236}">
                <a16:creationId xmlns:a16="http://schemas.microsoft.com/office/drawing/2014/main" id="{220BADE5-7318-520D-3C44-42CA284E3466}"/>
              </a:ext>
            </a:extLst>
          </p:cNvPr>
          <p:cNvSpPr>
            <a:spLocks noGrp="1"/>
          </p:cNvSpPr>
          <p:nvPr>
            <p:ph idx="1"/>
          </p:nvPr>
        </p:nvSpPr>
        <p:spPr/>
        <p:txBody>
          <a:bodyPr/>
          <a:lstStyle/>
          <a:p>
            <a:r>
              <a:rPr lang="en-IN" b="1" dirty="0"/>
              <a:t>Model Evaluation </a:t>
            </a:r>
          </a:p>
          <a:p>
            <a:pPr marL="0" indent="0">
              <a:buNone/>
            </a:pPr>
            <a:r>
              <a:rPr lang="en-IN" dirty="0"/>
              <a:t>The trained model is evaluated using standard metrics:</a:t>
            </a:r>
          </a:p>
          <a:p>
            <a:pPr marL="0" indent="0">
              <a:buNone/>
            </a:pPr>
            <a:r>
              <a:rPr lang="en-IN" dirty="0"/>
              <a:t>	 • mAP@0.5: Measures detection accuracy </a:t>
            </a:r>
          </a:p>
          <a:p>
            <a:pPr marL="0" indent="0">
              <a:buNone/>
            </a:pPr>
            <a:r>
              <a:rPr lang="en-IN" dirty="0"/>
              <a:t>	 • Precision: Correct detections</a:t>
            </a:r>
          </a:p>
          <a:p>
            <a:pPr marL="0" indent="0">
              <a:buNone/>
            </a:pPr>
            <a:r>
              <a:rPr lang="en-IN" dirty="0"/>
              <a:t>	 • Recall: Detection coverage </a:t>
            </a:r>
          </a:p>
          <a:p>
            <a:r>
              <a:rPr lang="en-IN" b="1" dirty="0"/>
              <a:t>Output Generation + Site Creation </a:t>
            </a:r>
          </a:p>
          <a:p>
            <a:pPr marL="0" indent="0">
              <a:buNone/>
            </a:pPr>
            <a:r>
              <a:rPr lang="en-IN" dirty="0"/>
              <a:t>The output consists of: </a:t>
            </a:r>
          </a:p>
          <a:p>
            <a:pPr marL="0" indent="0">
              <a:buNone/>
            </a:pPr>
            <a:r>
              <a:rPr lang="en-IN" dirty="0"/>
              <a:t>	• Bounding boxes around detected pedestrians</a:t>
            </a:r>
          </a:p>
          <a:p>
            <a:pPr marL="0" indent="0">
              <a:buNone/>
            </a:pPr>
            <a:r>
              <a:rPr lang="en-IN" dirty="0"/>
              <a:t>	• Confidence scores </a:t>
            </a:r>
          </a:p>
          <a:p>
            <a:pPr marL="0" indent="0">
              <a:buNone/>
            </a:pPr>
            <a:r>
              <a:rPr lang="en-IN" dirty="0"/>
              <a:t>	• Annotated output image </a:t>
            </a:r>
          </a:p>
        </p:txBody>
      </p:sp>
    </p:spTree>
    <p:extLst>
      <p:ext uri="{BB962C8B-B14F-4D97-AF65-F5344CB8AC3E}">
        <p14:creationId xmlns:p14="http://schemas.microsoft.com/office/powerpoint/2010/main" val="3508226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F0853-C71A-E601-B27E-E4EEDBC78B5E}"/>
              </a:ext>
            </a:extLst>
          </p:cNvPr>
          <p:cNvSpPr>
            <a:spLocks noGrp="1"/>
          </p:cNvSpPr>
          <p:nvPr>
            <p:ph type="title"/>
          </p:nvPr>
        </p:nvSpPr>
        <p:spPr/>
        <p:txBody>
          <a:bodyPr/>
          <a:lstStyle/>
          <a:p>
            <a:r>
              <a:rPr lang="en-US" dirty="0"/>
              <a:t>Conti..</a:t>
            </a:r>
            <a:endParaRPr lang="en-IN" dirty="0"/>
          </a:p>
        </p:txBody>
      </p:sp>
      <p:sp>
        <p:nvSpPr>
          <p:cNvPr id="6" name="TextBox 5">
            <a:extLst>
              <a:ext uri="{FF2B5EF4-FFF2-40B4-BE49-F238E27FC236}">
                <a16:creationId xmlns:a16="http://schemas.microsoft.com/office/drawing/2014/main" id="{7761F2AB-23B1-ACFB-7CB9-44B7923AF0F2}"/>
              </a:ext>
            </a:extLst>
          </p:cNvPr>
          <p:cNvSpPr txBox="1"/>
          <p:nvPr/>
        </p:nvSpPr>
        <p:spPr>
          <a:xfrm>
            <a:off x="5260040" y="6164665"/>
            <a:ext cx="206636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a:t>
            </a:r>
            <a:r>
              <a:rPr lang="en-US" dirty="0">
                <a:latin typeface="Times New Roman" panose="02020603050405020304" pitchFamily="18" charset="0"/>
                <a:cs typeface="Times New Roman" panose="02020603050405020304" pitchFamily="18" charset="0"/>
              </a:rPr>
              <a:t>Login Page</a:t>
            </a:r>
            <a:endParaRPr lang="en-IN"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BE5EC8E-A0E4-D530-7F59-D4A62D9DBFB0}"/>
              </a:ext>
            </a:extLst>
          </p:cNvPr>
          <p:cNvPicPr>
            <a:picLocks noChangeAspect="1"/>
          </p:cNvPicPr>
          <p:nvPr/>
        </p:nvPicPr>
        <p:blipFill>
          <a:blip r:embed="rId2"/>
          <a:stretch>
            <a:fillRect/>
          </a:stretch>
        </p:blipFill>
        <p:spPr>
          <a:xfrm>
            <a:off x="1488142" y="1019368"/>
            <a:ext cx="9610163" cy="5093035"/>
          </a:xfrm>
          <a:prstGeom prst="rect">
            <a:avLst/>
          </a:prstGeom>
        </p:spPr>
      </p:pic>
    </p:spTree>
    <p:extLst>
      <p:ext uri="{BB962C8B-B14F-4D97-AF65-F5344CB8AC3E}">
        <p14:creationId xmlns:p14="http://schemas.microsoft.com/office/powerpoint/2010/main" val="4148376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D5D41-FC3E-3F18-FEB2-2EA46DD3A2F4}"/>
              </a:ext>
            </a:extLst>
          </p:cNvPr>
          <p:cNvSpPr>
            <a:spLocks noGrp="1"/>
          </p:cNvSpPr>
          <p:nvPr>
            <p:ph type="title"/>
          </p:nvPr>
        </p:nvSpPr>
        <p:spPr/>
        <p:txBody>
          <a:bodyPr/>
          <a:lstStyle/>
          <a:p>
            <a:r>
              <a:rPr lang="en-US" dirty="0"/>
              <a:t>Conti..</a:t>
            </a:r>
            <a:endParaRPr lang="en-IN" dirty="0"/>
          </a:p>
        </p:txBody>
      </p:sp>
      <p:pic>
        <p:nvPicPr>
          <p:cNvPr id="5" name="Content Placeholder 4">
            <a:extLst>
              <a:ext uri="{FF2B5EF4-FFF2-40B4-BE49-F238E27FC236}">
                <a16:creationId xmlns:a16="http://schemas.microsoft.com/office/drawing/2014/main" id="{75E0AAD3-CC0A-3131-55B8-30035E8E6247}"/>
              </a:ext>
            </a:extLst>
          </p:cNvPr>
          <p:cNvPicPr>
            <a:picLocks noGrp="1" noChangeAspect="1"/>
          </p:cNvPicPr>
          <p:nvPr>
            <p:ph idx="1"/>
          </p:nvPr>
        </p:nvPicPr>
        <p:blipFill>
          <a:blip r:embed="rId2"/>
          <a:stretch>
            <a:fillRect/>
          </a:stretch>
        </p:blipFill>
        <p:spPr>
          <a:xfrm>
            <a:off x="1577788" y="1046263"/>
            <a:ext cx="9406797" cy="4966475"/>
          </a:xfrm>
          <a:prstGeom prst="rect">
            <a:avLst/>
          </a:prstGeom>
        </p:spPr>
      </p:pic>
      <p:sp>
        <p:nvSpPr>
          <p:cNvPr id="6" name="TextBox 5">
            <a:extLst>
              <a:ext uri="{FF2B5EF4-FFF2-40B4-BE49-F238E27FC236}">
                <a16:creationId xmlns:a16="http://schemas.microsoft.com/office/drawing/2014/main" id="{FAFC3D1D-BF03-1ECE-C35B-FE23B52A7F9B}"/>
              </a:ext>
            </a:extLst>
          </p:cNvPr>
          <p:cNvSpPr txBox="1"/>
          <p:nvPr/>
        </p:nvSpPr>
        <p:spPr>
          <a:xfrm>
            <a:off x="5266765" y="6012738"/>
            <a:ext cx="193189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a:t>
            </a:r>
            <a:r>
              <a:rPr lang="en-US" dirty="0">
                <a:latin typeface="Times New Roman" panose="02020603050405020304" pitchFamily="18" charset="0"/>
                <a:cs typeface="Times New Roman" panose="02020603050405020304" pitchFamily="18" charset="0"/>
              </a:rPr>
              <a:t>Landing Page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9065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504DE-3748-69CB-805A-7588E7119DDA}"/>
              </a:ext>
            </a:extLst>
          </p:cNvPr>
          <p:cNvSpPr>
            <a:spLocks noGrp="1"/>
          </p:cNvSpPr>
          <p:nvPr>
            <p:ph type="title"/>
          </p:nvPr>
        </p:nvSpPr>
        <p:spPr/>
        <p:txBody>
          <a:bodyPr/>
          <a:lstStyle/>
          <a:p>
            <a:r>
              <a:rPr lang="en-US" dirty="0"/>
              <a:t>Conti..</a:t>
            </a:r>
            <a:endParaRPr lang="en-IN" dirty="0"/>
          </a:p>
        </p:txBody>
      </p:sp>
      <p:pic>
        <p:nvPicPr>
          <p:cNvPr id="5" name="Picture 4">
            <a:extLst>
              <a:ext uri="{FF2B5EF4-FFF2-40B4-BE49-F238E27FC236}">
                <a16:creationId xmlns:a16="http://schemas.microsoft.com/office/drawing/2014/main" id="{CFC48517-4EA1-6B83-356A-60658406E026}"/>
              </a:ext>
            </a:extLst>
          </p:cNvPr>
          <p:cNvPicPr>
            <a:picLocks noChangeAspect="1"/>
          </p:cNvPicPr>
          <p:nvPr/>
        </p:nvPicPr>
        <p:blipFill>
          <a:blip r:embed="rId2"/>
          <a:stretch>
            <a:fillRect/>
          </a:stretch>
        </p:blipFill>
        <p:spPr>
          <a:xfrm>
            <a:off x="1459358" y="1018751"/>
            <a:ext cx="9638948" cy="5058062"/>
          </a:xfrm>
          <a:prstGeom prst="rect">
            <a:avLst/>
          </a:prstGeom>
        </p:spPr>
      </p:pic>
      <p:sp>
        <p:nvSpPr>
          <p:cNvPr id="6" name="TextBox 5">
            <a:extLst>
              <a:ext uri="{FF2B5EF4-FFF2-40B4-BE49-F238E27FC236}">
                <a16:creationId xmlns:a16="http://schemas.microsoft.com/office/drawing/2014/main" id="{A81DD240-21E4-3B51-F224-B0060DF9D38F}"/>
              </a:ext>
            </a:extLst>
          </p:cNvPr>
          <p:cNvSpPr txBox="1"/>
          <p:nvPr/>
        </p:nvSpPr>
        <p:spPr>
          <a:xfrm>
            <a:off x="5132292" y="6147913"/>
            <a:ext cx="297180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a:t>
            </a:r>
            <a:r>
              <a:rPr lang="en-US" dirty="0">
                <a:latin typeface="Times New Roman" panose="02020603050405020304" pitchFamily="18" charset="0"/>
                <a:cs typeface="Times New Roman" panose="02020603050405020304" pitchFamily="18" charset="0"/>
              </a:rPr>
              <a:t>Detection Terminal</a:t>
            </a:r>
            <a:r>
              <a:rPr lang="en-US"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1772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080C7-E115-F192-30FA-47D98BF3E43B}"/>
              </a:ext>
            </a:extLst>
          </p:cNvPr>
          <p:cNvSpPr>
            <a:spLocks noGrp="1"/>
          </p:cNvSpPr>
          <p:nvPr>
            <p:ph type="title"/>
          </p:nvPr>
        </p:nvSpPr>
        <p:spPr/>
        <p:txBody>
          <a:bodyPr/>
          <a:lstStyle/>
          <a:p>
            <a:r>
              <a:rPr lang="en-US" dirty="0"/>
              <a:t>Results &amp; Analysis</a:t>
            </a:r>
            <a:endParaRPr lang="en-IN" dirty="0"/>
          </a:p>
        </p:txBody>
      </p:sp>
      <p:pic>
        <p:nvPicPr>
          <p:cNvPr id="5" name="Picture 4">
            <a:extLst>
              <a:ext uri="{FF2B5EF4-FFF2-40B4-BE49-F238E27FC236}">
                <a16:creationId xmlns:a16="http://schemas.microsoft.com/office/drawing/2014/main" id="{C4141ADB-5E4C-F295-8938-7E50585A3EC3}"/>
              </a:ext>
            </a:extLst>
          </p:cNvPr>
          <p:cNvPicPr>
            <a:picLocks noChangeAspect="1"/>
          </p:cNvPicPr>
          <p:nvPr/>
        </p:nvPicPr>
        <p:blipFill>
          <a:blip r:embed="rId2"/>
          <a:stretch>
            <a:fillRect/>
          </a:stretch>
        </p:blipFill>
        <p:spPr>
          <a:xfrm>
            <a:off x="627529" y="1212558"/>
            <a:ext cx="11116235" cy="4679295"/>
          </a:xfrm>
          <a:prstGeom prst="rect">
            <a:avLst/>
          </a:prstGeom>
        </p:spPr>
      </p:pic>
      <p:sp>
        <p:nvSpPr>
          <p:cNvPr id="3" name="TextBox 2">
            <a:extLst>
              <a:ext uri="{FF2B5EF4-FFF2-40B4-BE49-F238E27FC236}">
                <a16:creationId xmlns:a16="http://schemas.microsoft.com/office/drawing/2014/main" id="{50C37FA8-DC81-3D47-6BB0-24C0F135CFB8}"/>
              </a:ext>
            </a:extLst>
          </p:cNvPr>
          <p:cNvSpPr txBox="1"/>
          <p:nvPr/>
        </p:nvSpPr>
        <p:spPr>
          <a:xfrm>
            <a:off x="4621304" y="5972094"/>
            <a:ext cx="349175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a:t>
            </a:r>
            <a:r>
              <a:rPr lang="en-IN" dirty="0">
                <a:latin typeface="Times New Roman" panose="02020603050405020304" pitchFamily="18" charset="0"/>
                <a:cs typeface="Times New Roman" panose="02020603050405020304" pitchFamily="18" charset="0"/>
              </a:rPr>
              <a:t>pedestrian detection results </a:t>
            </a:r>
          </a:p>
        </p:txBody>
      </p:sp>
    </p:spTree>
    <p:extLst>
      <p:ext uri="{BB962C8B-B14F-4D97-AF65-F5344CB8AC3E}">
        <p14:creationId xmlns:p14="http://schemas.microsoft.com/office/powerpoint/2010/main" val="35104391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941EC-771D-4830-E066-410EBE5BEA65}"/>
              </a:ext>
            </a:extLst>
          </p:cNvPr>
          <p:cNvSpPr>
            <a:spLocks noGrp="1"/>
          </p:cNvSpPr>
          <p:nvPr>
            <p:ph type="title"/>
          </p:nvPr>
        </p:nvSpPr>
        <p:spPr/>
        <p:txBody>
          <a:bodyPr/>
          <a:lstStyle/>
          <a:p>
            <a:r>
              <a:rPr lang="en-US" dirty="0"/>
              <a:t>Conti..</a:t>
            </a:r>
            <a:endParaRPr lang="en-IN" dirty="0"/>
          </a:p>
        </p:txBody>
      </p:sp>
      <p:pic>
        <p:nvPicPr>
          <p:cNvPr id="5" name="Content Placeholder 4">
            <a:extLst>
              <a:ext uri="{FF2B5EF4-FFF2-40B4-BE49-F238E27FC236}">
                <a16:creationId xmlns:a16="http://schemas.microsoft.com/office/drawing/2014/main" id="{14D88D73-09B6-BCDE-5688-BE7935C37EEF}"/>
              </a:ext>
            </a:extLst>
          </p:cNvPr>
          <p:cNvPicPr>
            <a:picLocks noGrp="1" noChangeAspect="1"/>
          </p:cNvPicPr>
          <p:nvPr>
            <p:ph idx="1"/>
          </p:nvPr>
        </p:nvPicPr>
        <p:blipFill>
          <a:blip r:embed="rId2"/>
          <a:stretch>
            <a:fillRect/>
          </a:stretch>
        </p:blipFill>
        <p:spPr>
          <a:xfrm>
            <a:off x="466163" y="1052334"/>
            <a:ext cx="11109699" cy="4953551"/>
          </a:xfrm>
          <a:prstGeom prst="rect">
            <a:avLst/>
          </a:prstGeom>
        </p:spPr>
      </p:pic>
      <p:sp>
        <p:nvSpPr>
          <p:cNvPr id="3" name="TextBox 2">
            <a:extLst>
              <a:ext uri="{FF2B5EF4-FFF2-40B4-BE49-F238E27FC236}">
                <a16:creationId xmlns:a16="http://schemas.microsoft.com/office/drawing/2014/main" id="{D6B8FB8A-A480-A6B0-C64E-2F2E1055ED28}"/>
              </a:ext>
            </a:extLst>
          </p:cNvPr>
          <p:cNvSpPr txBox="1"/>
          <p:nvPr/>
        </p:nvSpPr>
        <p:spPr>
          <a:xfrm>
            <a:off x="4908176" y="6110568"/>
            <a:ext cx="306144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a:t>
            </a:r>
            <a:r>
              <a:rPr lang="en-US" dirty="0">
                <a:latin typeface="Times New Roman" panose="02020603050405020304" pitchFamily="18" charset="0"/>
                <a:cs typeface="Times New Roman" panose="02020603050405020304" pitchFamily="18" charset="0"/>
              </a:rPr>
              <a:t>Performance Illustrations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0572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71C01-5208-489A-A3A6-AF3CB24A4AB4}"/>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2C39AA8B-A301-49BF-9DA8-22F614053810}"/>
              </a:ext>
            </a:extLst>
          </p:cNvPr>
          <p:cNvSpPr>
            <a:spLocks noGrp="1"/>
          </p:cNvSpPr>
          <p:nvPr>
            <p:ph idx="1"/>
          </p:nvPr>
        </p:nvSpPr>
        <p:spPr/>
        <p:txBody>
          <a:bodyPr/>
          <a:lstStyle/>
          <a:p>
            <a:pPr marL="590550" marR="5080" lvl="0" indent="-577850">
              <a:lnSpc>
                <a:spcPct val="107857"/>
              </a:lnSpc>
              <a:buFont typeface="+mj-lt"/>
              <a:buAutoNum type="arabicParenR"/>
            </a:pPr>
            <a:r>
              <a:rPr lang="en-US" dirty="0">
                <a:latin typeface="Times New Roman"/>
                <a:ea typeface="Times New Roman"/>
                <a:cs typeface="Times New Roman"/>
                <a:sym typeface="Times New Roman"/>
              </a:rPr>
              <a:t>Sukkar et al. (2024) provide a comprehensive survey of deep learning models like YOLO, SSD, and Faster R-CNN for pedestrian detection, highlighting challenges such as occlusion, scale variation, and dataset limitations.</a:t>
            </a:r>
          </a:p>
          <a:p>
            <a:pPr marL="590550" marR="5080" lvl="0" indent="-577850">
              <a:lnSpc>
                <a:spcPct val="107857"/>
              </a:lnSpc>
              <a:buFont typeface="+mj-lt"/>
              <a:buAutoNum type="arabicParenR"/>
            </a:pPr>
            <a:r>
              <a:rPr lang="en-US" dirty="0">
                <a:latin typeface="Times New Roman"/>
                <a:ea typeface="Times New Roman"/>
                <a:cs typeface="Times New Roman"/>
                <a:sym typeface="Times New Roman"/>
              </a:rPr>
              <a:t>Masmoudi et al. (2019) compare SVM, YOLO, and SSD for autonomous vehicles, showing that YOLO is fast but struggles with small objects, while SSD handles multi-scale detection better.</a:t>
            </a:r>
          </a:p>
          <a:p>
            <a:pPr marL="590550" marR="5080" lvl="0" indent="-577850">
              <a:lnSpc>
                <a:spcPct val="107857"/>
              </a:lnSpc>
              <a:buFont typeface="+mj-lt"/>
              <a:buAutoNum type="arabicParenR"/>
            </a:pPr>
            <a:r>
              <a:rPr lang="en-IN" dirty="0">
                <a:latin typeface="Times New Roman"/>
                <a:ea typeface="Times New Roman"/>
                <a:cs typeface="Times New Roman"/>
                <a:sym typeface="Times New Roman"/>
              </a:rPr>
              <a:t>Wang et al. (2019) explore one-stage pedestrian detection using </a:t>
            </a:r>
            <a:r>
              <a:rPr lang="en-IN" dirty="0" err="1">
                <a:latin typeface="Times New Roman"/>
                <a:ea typeface="Times New Roman"/>
                <a:cs typeface="Times New Roman"/>
                <a:sym typeface="Times New Roman"/>
              </a:rPr>
              <a:t>ResNet</a:t>
            </a:r>
            <a:r>
              <a:rPr lang="en-IN" dirty="0">
                <a:latin typeface="Times New Roman"/>
                <a:ea typeface="Times New Roman"/>
                <a:cs typeface="Times New Roman"/>
                <a:sym typeface="Times New Roman"/>
              </a:rPr>
              <a:t> + SSD, emphasizing the benefits of multi-scale feature maps and real-time performance for small and occluded pedestrians.</a:t>
            </a:r>
            <a:endParaRPr lang="en-US"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7887549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3C8ED-E8F7-40CD-8D41-BF01C7A7853D}"/>
              </a:ext>
            </a:extLst>
          </p:cNvPr>
          <p:cNvSpPr>
            <a:spLocks noGrp="1"/>
          </p:cNvSpPr>
          <p:nvPr>
            <p:ph type="title"/>
          </p:nvPr>
        </p:nvSpPr>
        <p:spPr/>
        <p:txBody>
          <a:bodyPr/>
          <a:lstStyle/>
          <a:p>
            <a:r>
              <a:rPr lang="en-IN" sz="4400" b="0" strike="noStrike" spc="-1" dirty="0">
                <a:solidFill>
                  <a:srgbClr val="FFFFFF"/>
                </a:solidFill>
                <a:latin typeface="Times New Roman"/>
              </a:rPr>
              <a:t>GitHub Link</a:t>
            </a:r>
            <a:endParaRPr lang="en-IN" dirty="0"/>
          </a:p>
        </p:txBody>
      </p:sp>
      <p:pic>
        <p:nvPicPr>
          <p:cNvPr id="10" name="Picture 9" descr="A screenshot of a computer&#10;&#10;AI-generated content may be incorrect.">
            <a:extLst>
              <a:ext uri="{FF2B5EF4-FFF2-40B4-BE49-F238E27FC236}">
                <a16:creationId xmlns:a16="http://schemas.microsoft.com/office/drawing/2014/main" id="{DB343686-EBE7-621D-F9EE-3F0B9814145B}"/>
              </a:ext>
            </a:extLst>
          </p:cNvPr>
          <p:cNvPicPr>
            <a:picLocks noChangeAspect="1"/>
          </p:cNvPicPr>
          <p:nvPr/>
        </p:nvPicPr>
        <p:blipFill>
          <a:blip r:embed="rId2"/>
          <a:stretch>
            <a:fillRect/>
          </a:stretch>
        </p:blipFill>
        <p:spPr>
          <a:xfrm>
            <a:off x="645459" y="1180876"/>
            <a:ext cx="10668000" cy="4764513"/>
          </a:xfrm>
          <a:prstGeom prst="rect">
            <a:avLst/>
          </a:prstGeom>
        </p:spPr>
      </p:pic>
    </p:spTree>
    <p:extLst>
      <p:ext uri="{BB962C8B-B14F-4D97-AF65-F5344CB8AC3E}">
        <p14:creationId xmlns:p14="http://schemas.microsoft.com/office/powerpoint/2010/main" val="3279406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920484"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Any Queries?</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35130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496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3964</TotalTime>
  <Words>1394</Words>
  <Application>Microsoft Office PowerPoint</Application>
  <PresentationFormat>Widescreen</PresentationFormat>
  <Paragraphs>239</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Courier New</vt:lpstr>
      <vt:lpstr>Lucida Sans</vt:lpstr>
      <vt:lpstr>Times New Roman</vt:lpstr>
      <vt:lpstr>Wingdings</vt:lpstr>
      <vt:lpstr>Custom Design</vt:lpstr>
      <vt:lpstr>PowerPoint Presentation</vt:lpstr>
      <vt:lpstr>Contents</vt:lpstr>
      <vt:lpstr>Abstract</vt:lpstr>
      <vt:lpstr>PowerPoint Presentation</vt:lpstr>
      <vt:lpstr>PowerPoint Presentation</vt:lpstr>
      <vt:lpstr>Literature survey</vt:lpstr>
      <vt:lpstr>Existing System</vt:lpstr>
      <vt:lpstr>Proposed Work</vt:lpstr>
      <vt:lpstr>Requirements (functional and non-functional)</vt:lpstr>
      <vt:lpstr>Architecture</vt:lpstr>
      <vt:lpstr>UML Diagrams</vt:lpstr>
      <vt:lpstr>Implementation </vt:lpstr>
      <vt:lpstr>Conti..</vt:lpstr>
      <vt:lpstr>Conti..</vt:lpstr>
      <vt:lpstr>Conti..</vt:lpstr>
      <vt:lpstr>Conti..</vt:lpstr>
      <vt:lpstr>Conti..</vt:lpstr>
      <vt:lpstr>Results &amp; Analysis</vt:lpstr>
      <vt:lpstr>Conti..</vt:lpstr>
      <vt:lpstr>Reference</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Chinmayee Palegar Jagadeesh</cp:lastModifiedBy>
  <cp:revision>124</cp:revision>
  <dcterms:created xsi:type="dcterms:W3CDTF">2019-06-11T05:35:51Z</dcterms:created>
  <dcterms:modified xsi:type="dcterms:W3CDTF">2026-04-08T07:36:12Z</dcterms:modified>
</cp:coreProperties>
</file>